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pic>
        <p:nvPicPr>
          <p:cNvPr id="2" name="Image 0" descr="/home/claude/benjaminbring-cloud/sabio-deck-builders-/assets/sabio-logo-yellow.png">    </p:cNvPr>
          <p:cNvPicPr>
            <a:picLocks noChangeAspect="1"/>
          </p:cNvPicPr>
          <p:nvPr/>
        </p:nvPicPr>
        <p:blipFill>
          <a:blip r:embed="rId1"/>
          <a:stretch>
            <a:fillRect/>
          </a:stretch>
        </p:blipFill>
        <p:spPr>
          <a:xfrm>
            <a:off x="457200" y="411480"/>
            <a:ext cx="1295145" cy="310896"/>
          </a:xfrm>
          <a:prstGeom prst="rect">
            <a:avLst/>
          </a:prstGeom>
        </p:spPr>
      </p:pic>
      <p:sp>
        <p:nvSpPr>
          <p:cNvPr id="3" name="Text 0"/>
          <p:cNvSpPr txBox="1"/>
          <p:nvPr/>
        </p:nvSpPr>
        <p:spPr>
          <a:xfrm>
            <a:off x="457200" y="1051560"/>
            <a:ext cx="5669280" cy="274320"/>
          </a:xfrm>
          <a:prstGeom prst="rect">
            <a:avLst/>
          </a:prstGeom>
          <a:noFill/>
          <a:ln/>
        </p:spPr>
        <p:txBody>
          <a:bodyPr wrap="square" lIns="0" tIns="0" rIns="0" bIns="0" rtlCol="0" anchor="t"/>
          <a:lstStyle/>
          <a:p>
            <a:pPr indent="0" marL="0">
              <a:buNone/>
            </a:pPr>
            <a:r>
              <a:rPr lang="en-US" sz="1050" dirty="0">
                <a:solidFill>
                  <a:srgbClr val="FFC63E"/>
                </a:solidFill>
                <a:latin typeface="Poppins SemiBold" pitchFamily="34" charset="0"/>
                <a:ea typeface="Poppins SemiBold" pitchFamily="34" charset="-122"/>
                <a:cs typeface="Poppins SemiBold" pitchFamily="34" charset="-120"/>
              </a:rPr>
              <a:t>S A B I O   ×   P A Y P A L</a:t>
            </a:r>
            <a:endParaRPr lang="en-US" sz="1050" dirty="0"/>
          </a:p>
        </p:txBody>
      </p:sp>
      <p:sp>
        <p:nvSpPr>
          <p:cNvPr id="4" name="Text 1"/>
          <p:cNvSpPr txBox="1"/>
          <p:nvPr/>
        </p:nvSpPr>
        <p:spPr>
          <a:xfrm>
            <a:off x="457200" y="1371600"/>
            <a:ext cx="5669280" cy="1417320"/>
          </a:xfrm>
          <a:prstGeom prst="rect">
            <a:avLst/>
          </a:prstGeom>
          <a:noFill/>
          <a:ln/>
        </p:spPr>
        <p:txBody>
          <a:bodyPr wrap="square" lIns="0" tIns="0" rIns="0" bIns="0" rtlCol="0" anchor="ctr"/>
          <a:lstStyle/>
          <a:p>
            <a:pPr indent="0" marL="0">
              <a:lnSpc>
                <a:spcPct val="95000"/>
              </a:lnSpc>
              <a:buNone/>
            </a:pPr>
            <a:r>
              <a:rPr lang="en-US" sz="2800" dirty="0">
                <a:solidFill>
                  <a:srgbClr val="FFFFFF"/>
                </a:solidFill>
                <a:latin typeface="Poppins ExtraBold" pitchFamily="34" charset="0"/>
                <a:ea typeface="Poppins ExtraBold" pitchFamily="34" charset="-122"/>
                <a:cs typeface="Poppins ExtraBold" pitchFamily="34" charset="-120"/>
              </a:rPr>
              <a:t>WIN THE HOLIDAY CHECKOUT, ONE HOUSEHOLD AT A TIME</a:t>
            </a:r>
            <a:endParaRPr lang="en-US" sz="2800" dirty="0"/>
          </a:p>
        </p:txBody>
      </p:sp>
      <p:sp>
        <p:nvSpPr>
          <p:cNvPr id="5" name="Text 2"/>
          <p:cNvSpPr txBox="1"/>
          <p:nvPr/>
        </p:nvSpPr>
        <p:spPr>
          <a:xfrm>
            <a:off x="457200" y="2834640"/>
            <a:ext cx="5486400" cy="685800"/>
          </a:xfrm>
          <a:prstGeom prst="rect">
            <a:avLst/>
          </a:prstGeom>
          <a:noFill/>
          <a:ln/>
        </p:spPr>
        <p:txBody>
          <a:bodyPr wrap="square" lIns="0" tIns="0" rIns="0" bIns="0" rtlCol="0" anchor="t"/>
          <a:lstStyle/>
          <a:p>
            <a:pPr indent="0" marL="0">
              <a:buNone/>
            </a:pPr>
            <a:r>
              <a:rPr lang="en-US" sz="1150" dirty="0">
                <a:solidFill>
                  <a:srgbClr val="E3E3E3"/>
                </a:solidFill>
                <a:latin typeface="Poppins" pitchFamily="34" charset="0"/>
                <a:ea typeface="Poppins" pitchFamily="34" charset="-122"/>
                <a:cs typeface="Poppins" pitchFamily="34" charset="-120"/>
              </a:rPr>
              <a:t>Venmo is growing fast and branded checkout is flat. App Science® finds the homes that pay with another wallet, split costs with friends or shop early, and reaches them on TV before the holiday.</a:t>
            </a:r>
            <a:endParaRPr lang="en-US" sz="1150" dirty="0"/>
          </a:p>
        </p:txBody>
      </p:sp>
      <p:sp>
        <p:nvSpPr>
          <p:cNvPr id="6" name="Text 3"/>
          <p:cNvSpPr txBox="1"/>
          <p:nvPr/>
        </p:nvSpPr>
        <p:spPr>
          <a:xfrm>
            <a:off x="457200" y="3657600"/>
            <a:ext cx="5669280" cy="228600"/>
          </a:xfrm>
          <a:prstGeom prst="rect">
            <a:avLst/>
          </a:prstGeom>
          <a:noFill/>
          <a:ln/>
        </p:spPr>
        <p:txBody>
          <a:bodyPr wrap="square" lIns="0" tIns="0" rIns="0" bIns="0" rtlCol="0" anchor="t"/>
          <a:lstStyle/>
          <a:p>
            <a:pPr indent="0" marL="0">
              <a:buNone/>
            </a:pPr>
            <a:r>
              <a:rPr lang="en-US" sz="900" dirty="0">
                <a:solidFill>
                  <a:srgbClr val="FFFFFF"/>
                </a:solidFill>
                <a:latin typeface="Poppins SemiBold" pitchFamily="34" charset="0"/>
                <a:ea typeface="Poppins SemiBold" pitchFamily="34" charset="-122"/>
                <a:cs typeface="Poppins SemiBold" pitchFamily="34" charset="-120"/>
              </a:rPr>
              <a:t>Proactive recommendation | Prepared for Zenith | October 2026 | US only</a:t>
            </a:r>
            <a:endParaRPr lang="en-US" sz="900" dirty="0"/>
          </a:p>
        </p:txBody>
      </p:sp>
      <p:sp>
        <p:nvSpPr>
          <p:cNvPr id="7" name="Text 4"/>
          <p:cNvSpPr txBox="1"/>
          <p:nvPr/>
        </p:nvSpPr>
        <p:spPr>
          <a:xfrm>
            <a:off x="457200" y="3931920"/>
            <a:ext cx="5669280" cy="457200"/>
          </a:xfrm>
          <a:prstGeom prst="rect">
            <a:avLst/>
          </a:prstGeom>
          <a:noFill/>
          <a:ln/>
        </p:spPr>
        <p:txBody>
          <a:bodyPr wrap="square" lIns="0" tIns="0" rIns="0" bIns="0" rtlCol="0" anchor="t"/>
          <a:lstStyle/>
          <a:p>
            <a:pPr indent="0" marL="0">
              <a:buNone/>
            </a:pPr>
            <a:r>
              <a:rPr lang="en-US" sz="850" dirty="0">
                <a:solidFill>
                  <a:srgbClr val="A7A7A7"/>
                </a:solidFill>
                <a:latin typeface="Poppins" pitchFamily="34" charset="0"/>
                <a:ea typeface="Poppins" pitchFamily="34" charset="-122"/>
                <a:cs typeface="Poppins" pitchFamily="34" charset="-120"/>
              </a:rPr>
              <a:t>Will Phung · Amanda Grond · Stamos Biliris</a:t>
            </a:r>
            <a:endParaRPr lang="en-US" sz="850" dirty="0"/>
          </a:p>
          <a:p>
            <a:pPr indent="0" marL="0">
              <a:buNone/>
            </a:pPr>
            <a:r>
              <a:rPr lang="en-US" sz="850" dirty="0">
                <a:solidFill>
                  <a:srgbClr val="A7A7A7"/>
                </a:solidFill>
                <a:latin typeface="Poppins" pitchFamily="34" charset="0"/>
                <a:ea typeface="Poppins" pitchFamily="34" charset="-122"/>
                <a:cs typeface="Poppins" pitchFamily="34" charset="-120"/>
              </a:rPr>
              <a:t>Ben Bring · Isabella Imbriano</a:t>
            </a:r>
            <a:endParaRPr lang="en-US" sz="850" dirty="0"/>
          </a:p>
        </p:txBody>
      </p:sp>
      <p:sp>
        <p:nvSpPr>
          <p:cNvPr id="8" name="Shape 5"/>
          <p:cNvSpPr/>
          <p:nvPr/>
        </p:nvSpPr>
        <p:spPr>
          <a:xfrm>
            <a:off x="6355080" y="411480"/>
            <a:ext cx="2331720" cy="4315968"/>
          </a:xfrm>
          <a:prstGeom prst="rect">
            <a:avLst/>
          </a:prstGeom>
          <a:solidFill>
            <a:srgbClr val="262626"/>
          </a:solidFill>
          <a:ln w="12700">
            <a:solidFill>
              <a:srgbClr val="262626"/>
            </a:solidFill>
            <a:prstDash val="solid"/>
          </a:ln>
        </p:spPr>
      </p:sp>
      <p:sp>
        <p:nvSpPr>
          <p:cNvPr id="9" name="Text 6"/>
          <p:cNvSpPr txBox="1"/>
          <p:nvPr/>
        </p:nvSpPr>
        <p:spPr>
          <a:xfrm>
            <a:off x="6583680" y="731520"/>
            <a:ext cx="1920240" cy="457200"/>
          </a:xfrm>
          <a:prstGeom prst="rect">
            <a:avLst/>
          </a:prstGeom>
          <a:noFill/>
          <a:ln/>
        </p:spPr>
        <p:txBody>
          <a:bodyPr wrap="square" lIns="0" tIns="0" rIns="0" bIns="0" rtlCol="0" anchor="t"/>
          <a:lstStyle/>
          <a:p>
            <a:pPr indent="0" marL="0">
              <a:buNone/>
            </a:pPr>
            <a:r>
              <a:rPr lang="en-US" sz="850" spc="100" kern="0" dirty="0">
                <a:solidFill>
                  <a:srgbClr val="FFC63E"/>
                </a:solidFill>
                <a:latin typeface="Poppins SemiBold" pitchFamily="34" charset="0"/>
                <a:ea typeface="Poppins SemiBold" pitchFamily="34" charset="-122"/>
                <a:cs typeface="Poppins SemiBold" pitchFamily="34" charset="-120"/>
              </a:rPr>
              <a:t>ONLINE BRANDED CHECKOUT, Q2</a:t>
            </a:r>
            <a:endParaRPr lang="en-US" sz="850" dirty="0"/>
          </a:p>
        </p:txBody>
      </p:sp>
      <p:sp>
        <p:nvSpPr>
          <p:cNvPr id="10" name="Text 7"/>
          <p:cNvSpPr txBox="1"/>
          <p:nvPr/>
        </p:nvSpPr>
        <p:spPr>
          <a:xfrm>
            <a:off x="6583680" y="1234440"/>
            <a:ext cx="1965960" cy="1097280"/>
          </a:xfrm>
          <a:prstGeom prst="rect">
            <a:avLst/>
          </a:prstGeom>
          <a:noFill/>
          <a:ln/>
        </p:spPr>
        <p:txBody>
          <a:bodyPr wrap="square" lIns="0" tIns="0" rIns="0" bIns="0" rtlCol="0" anchor="ctr"/>
          <a:lstStyle/>
          <a:p>
            <a:pPr indent="0" marL="0">
              <a:buNone/>
            </a:pPr>
            <a:r>
              <a:rPr lang="en-US" sz="5000" dirty="0">
                <a:solidFill>
                  <a:srgbClr val="FFC63E"/>
                </a:solidFill>
                <a:latin typeface="Poppins ExtraBold" pitchFamily="34" charset="0"/>
                <a:ea typeface="Poppins ExtraBold" pitchFamily="34" charset="-122"/>
                <a:cs typeface="Poppins ExtraBold" pitchFamily="34" charset="-120"/>
              </a:rPr>
              <a:t>+2%</a:t>
            </a:r>
            <a:endParaRPr lang="en-US" sz="5000" dirty="0"/>
          </a:p>
        </p:txBody>
      </p:sp>
      <p:sp>
        <p:nvSpPr>
          <p:cNvPr id="11" name="Text 8"/>
          <p:cNvSpPr txBox="1"/>
          <p:nvPr/>
        </p:nvSpPr>
        <p:spPr>
          <a:xfrm>
            <a:off x="6583680" y="2377440"/>
            <a:ext cx="1920240" cy="457200"/>
          </a:xfrm>
          <a:prstGeom prst="rect">
            <a:avLst/>
          </a:prstGeom>
          <a:noFill/>
          <a:ln/>
        </p:spPr>
        <p:txBody>
          <a:bodyPr wrap="square" lIns="0" tIns="0" rIns="0" bIns="0" rtlCol="0" anchor="t"/>
          <a:lstStyle/>
          <a:p>
            <a:pPr indent="0" marL="0">
              <a:buNone/>
            </a:pPr>
            <a:r>
              <a:rPr lang="en-US" sz="1200" dirty="0">
                <a:solidFill>
                  <a:srgbClr val="FFFFFF"/>
                </a:solidFill>
                <a:latin typeface="Poppins ExtraBold" pitchFamily="34" charset="0"/>
                <a:ea typeface="Poppins ExtraBold" pitchFamily="34" charset="-122"/>
                <a:cs typeface="Poppins ExtraBold" pitchFamily="34" charset="-120"/>
              </a:rPr>
              <a:t>SECOND QUARTER IN A ROW</a:t>
            </a:r>
            <a:endParaRPr lang="en-US" sz="1200" dirty="0"/>
          </a:p>
        </p:txBody>
      </p:sp>
      <p:sp>
        <p:nvSpPr>
          <p:cNvPr id="12" name="Text 9"/>
          <p:cNvSpPr txBox="1"/>
          <p:nvPr/>
        </p:nvSpPr>
        <p:spPr>
          <a:xfrm>
            <a:off x="6583680" y="2971800"/>
            <a:ext cx="1874520" cy="1600200"/>
          </a:xfrm>
          <a:prstGeom prst="rect">
            <a:avLst/>
          </a:prstGeom>
          <a:noFill/>
          <a:ln/>
        </p:spPr>
        <p:txBody>
          <a:bodyPr wrap="square" lIns="0" tIns="0" rIns="0" bIns="0" rtlCol="0" anchor="t"/>
          <a:lstStyle/>
          <a:p>
            <a:pPr indent="0" marL="0">
              <a:buNone/>
            </a:pPr>
            <a:r>
              <a:rPr lang="en-US" sz="900" dirty="0">
                <a:solidFill>
                  <a:srgbClr val="E3E3E3"/>
                </a:solidFill>
                <a:latin typeface="Poppins" pitchFamily="34" charset="0"/>
                <a:ea typeface="Poppins" pitchFamily="34" charset="-122"/>
                <a:cs typeface="Poppins" pitchFamily="34" charset="-120"/>
              </a:rPr>
              <a:t>Total payment volume grew 9% to $486B, but online branded checkout grew 2%. Venmo volume grew 14%. Holiday is where checkout habits get set. [1]</a:t>
            </a:r>
            <a:endParaRPr lang="en-US" sz="900" dirty="0"/>
          </a:p>
        </p:txBody>
      </p:sp>
      <p:sp>
        <p:nvSpPr>
          <p:cNvPr id="13" name="Text 10"/>
          <p:cNvSpPr txBox="1"/>
          <p:nvPr/>
        </p:nvSpPr>
        <p:spPr>
          <a:xfrm>
            <a:off x="457200" y="4832604"/>
            <a:ext cx="5852160" cy="182880"/>
          </a:xfrm>
          <a:prstGeom prst="rect">
            <a:avLst/>
          </a:prstGeom>
          <a:noFill/>
          <a:ln/>
        </p:spPr>
        <p:txBody>
          <a:bodyPr wrap="square" lIns="0" tIns="0" rIns="0" bIns="0" rtlCol="0" anchor="t"/>
          <a:lstStyle/>
          <a:p>
            <a:pPr indent="0" marL="0">
              <a:buNone/>
            </a:pPr>
            <a:r>
              <a:rPr lang="en-US" sz="700" dirty="0">
                <a:solidFill>
                  <a:srgbClr val="7E7E7E"/>
                </a:solidFill>
                <a:latin typeface="Poppins" pitchFamily="34" charset="0"/>
                <a:ea typeface="Poppins" pitchFamily="34" charset="-122"/>
                <a:cs typeface="Poppins" pitchFamily="34" charset="-120"/>
              </a:rPr>
              <a:t>Sabio Holdings · TSXV: SBIO | OTCQB: SABOF    Creator TV® | App Science® | Sabio</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457200"/>
          </a:xfrm>
          <a:prstGeom prst="rect">
            <a:avLst/>
          </a:prstGeom>
          <a:noFill/>
          <a:ln/>
        </p:spPr>
        <p:txBody>
          <a:bodyPr wrap="square" lIns="0" tIns="0" rIns="0" bIns="0" rtlCol="0" anchor="ctr"/>
          <a:lstStyle/>
          <a:p>
            <a:pPr indent="0" marL="0">
              <a:buNone/>
            </a:pPr>
            <a:r>
              <a:rPr lang="en-US" sz="2300" dirty="0">
                <a:solidFill>
                  <a:srgbClr val="FFFFFF"/>
                </a:solidFill>
                <a:latin typeface="Poppins ExtraBold" pitchFamily="34" charset="0"/>
                <a:ea typeface="Poppins ExtraBold" pitchFamily="34" charset="-122"/>
                <a:cs typeface="Poppins ExtraBold" pitchFamily="34" charset="-120"/>
              </a:rPr>
              <a:t>WHAT'S HAPPENING AT PAYPAL RIGHT NOW</a:t>
            </a:r>
            <a:endParaRPr lang="en-US" sz="2300" dirty="0"/>
          </a:p>
        </p:txBody>
      </p:sp>
      <p:sp>
        <p:nvSpPr>
          <p:cNvPr id="3" name="Text 1"/>
          <p:cNvSpPr txBox="1"/>
          <p:nvPr/>
        </p:nvSpPr>
        <p:spPr>
          <a:xfrm>
            <a:off x="457200" y="822960"/>
            <a:ext cx="8229600" cy="237744"/>
          </a:xfrm>
          <a:prstGeom prst="rect">
            <a:avLst/>
          </a:prstGeom>
          <a:noFill/>
          <a:ln/>
        </p:spPr>
        <p:txBody>
          <a:bodyPr wrap="square" lIns="0" tIns="0" rIns="0" bIns="0" rtlCol="0" anchor="t"/>
          <a:lstStyle/>
          <a:p>
            <a:pPr indent="0" marL="0">
              <a:buNone/>
            </a:pPr>
            <a:r>
              <a:rPr lang="en-US" sz="850" spc="100" kern="0" dirty="0">
                <a:solidFill>
                  <a:srgbClr val="FFC63E"/>
                </a:solidFill>
                <a:latin typeface="Poppins SemiBold" pitchFamily="34" charset="0"/>
                <a:ea typeface="Poppins SemiBold" pitchFamily="34" charset="-122"/>
                <a:cs typeface="Poppins SemiBold" pitchFamily="34" charset="-120"/>
              </a:rPr>
              <a:t>FOUR SIGNALS FROM THE LAST THREE MONTHS · NUMBERED SOURCES ON PAGE 10</a:t>
            </a:r>
            <a:endParaRPr lang="en-US" sz="850" dirty="0"/>
          </a:p>
        </p:txBody>
      </p:sp>
      <p:sp>
        <p:nvSpPr>
          <p:cNvPr id="4" name="Text 2"/>
          <p:cNvSpPr txBox="1"/>
          <p:nvPr/>
        </p:nvSpPr>
        <p:spPr>
          <a:xfrm>
            <a:off x="457200" y="4832604"/>
            <a:ext cx="365760" cy="182880"/>
          </a:xfrm>
          <a:prstGeom prst="rect">
            <a:avLst/>
          </a:prstGeom>
          <a:noFill/>
          <a:ln/>
        </p:spPr>
        <p:txBody>
          <a:bodyPr wrap="square" lIns="0" tIns="0" rIns="0" bIns="0" rtlCol="0" anchor="t"/>
          <a:lstStyle/>
          <a:p>
            <a:pPr indent="0" marL="0">
              <a:buNone/>
            </a:pPr>
            <a:r>
              <a:rPr lang="en-US" sz="800" dirty="0">
                <a:solidFill>
                  <a:srgbClr val="7E7E7E"/>
                </a:solidFill>
                <a:latin typeface="Poppins SemiBold" pitchFamily="34" charset="0"/>
                <a:ea typeface="Poppins SemiBold" pitchFamily="34" charset="-122"/>
                <a:cs typeface="Poppins SemiBold" pitchFamily="34" charset="-120"/>
              </a:rPr>
              <a:t>2</a:t>
            </a:r>
            <a:endParaRPr lang="en-US" sz="800" dirty="0"/>
          </a:p>
        </p:txBody>
      </p:sp>
      <p:sp>
        <p:nvSpPr>
          <p:cNvPr id="5" name="Text 3"/>
          <p:cNvSpPr txBox="1"/>
          <p:nvPr/>
        </p:nvSpPr>
        <p:spPr>
          <a:xfrm>
            <a:off x="868680" y="4832604"/>
            <a:ext cx="5486400" cy="182880"/>
          </a:xfrm>
          <a:prstGeom prst="rect">
            <a:avLst/>
          </a:prstGeom>
          <a:noFill/>
          <a:ln/>
        </p:spPr>
        <p:txBody>
          <a:bodyPr wrap="square" lIns="0" tIns="0" rIns="0" bIns="0" rtlCol="0" anchor="t"/>
          <a:lstStyle/>
          <a:p>
            <a:pPr indent="0" marL="0">
              <a:buNone/>
            </a:pPr>
            <a:r>
              <a:rPr lang="en-US" sz="700" dirty="0">
                <a:solidFill>
                  <a:srgbClr val="7E7E7E"/>
                </a:solidFill>
                <a:latin typeface="Poppins" pitchFamily="34" charset="0"/>
                <a:ea typeface="Poppins" pitchFamily="34" charset="-122"/>
                <a:cs typeface="Poppins" pitchFamily="34" charset="-120"/>
              </a:rPr>
              <a:t>Sabio × PayPal  ·  Proactive point of view for Zenith  ·  Confidential</a:t>
            </a:r>
            <a:endParaRPr lang="en-US" sz="700" dirty="0"/>
          </a:p>
        </p:txBody>
      </p:sp>
      <p:pic>
        <p:nvPicPr>
          <p:cNvPr id="6" name="Image 0" descr="/home/claude/benjaminbring-cloud/sabio-deck-builders-/assets/sabio-logo-white-sm.png">    </p:cNvPr>
          <p:cNvPicPr>
            <a:picLocks noChangeAspect="1"/>
          </p:cNvPicPr>
          <p:nvPr/>
        </p:nvPicPr>
        <p:blipFill>
          <a:blip r:embed="rId1"/>
          <a:stretch>
            <a:fillRect/>
          </a:stretch>
        </p:blipFill>
        <p:spPr>
          <a:xfrm>
            <a:off x="8028432" y="4805172"/>
            <a:ext cx="647572" cy="155448"/>
          </a:xfrm>
          <a:prstGeom prst="rect">
            <a:avLst/>
          </a:prstGeom>
        </p:spPr>
      </p:pic>
      <p:sp>
        <p:nvSpPr>
          <p:cNvPr id="7" name="Shape 4"/>
          <p:cNvSpPr/>
          <p:nvPr/>
        </p:nvSpPr>
        <p:spPr>
          <a:xfrm>
            <a:off x="457200" y="1188720"/>
            <a:ext cx="1947672" cy="3246120"/>
          </a:xfrm>
          <a:prstGeom prst="rect">
            <a:avLst/>
          </a:prstGeom>
          <a:solidFill>
            <a:srgbClr val="262626"/>
          </a:solidFill>
          <a:ln w="12700">
            <a:solidFill>
              <a:srgbClr val="262626"/>
            </a:solidFill>
            <a:prstDash val="solid"/>
          </a:ln>
        </p:spPr>
      </p:sp>
      <p:sp>
        <p:nvSpPr>
          <p:cNvPr id="8" name="Text 5"/>
          <p:cNvSpPr txBox="1"/>
          <p:nvPr/>
        </p:nvSpPr>
        <p:spPr>
          <a:xfrm>
            <a:off x="603504" y="1335024"/>
            <a:ext cx="1655064" cy="201168"/>
          </a:xfrm>
          <a:prstGeom prst="rect">
            <a:avLst/>
          </a:prstGeom>
          <a:noFill/>
          <a:ln/>
        </p:spPr>
        <p:txBody>
          <a:bodyPr wrap="square" lIns="0" tIns="0" rIns="0" bIns="0" rtlCol="0" anchor="t"/>
          <a:lstStyle/>
          <a:p>
            <a:pPr indent="0" marL="0">
              <a:buNone/>
            </a:pPr>
            <a:r>
              <a:rPr lang="en-US" sz="800" spc="100" kern="0" dirty="0">
                <a:solidFill>
                  <a:srgbClr val="FFC63E"/>
                </a:solidFill>
                <a:latin typeface="Poppins SemiBold" pitchFamily="34" charset="0"/>
                <a:ea typeface="Poppins SemiBold" pitchFamily="34" charset="-122"/>
                <a:cs typeface="Poppins SemiBold" pitchFamily="34" charset="-120"/>
              </a:rPr>
              <a:t>JUL 28, 2026</a:t>
            </a:r>
            <a:endParaRPr lang="en-US" sz="800" dirty="0"/>
          </a:p>
        </p:txBody>
      </p:sp>
      <p:sp>
        <p:nvSpPr>
          <p:cNvPr id="9" name="Text 6"/>
          <p:cNvSpPr txBox="1"/>
          <p:nvPr/>
        </p:nvSpPr>
        <p:spPr>
          <a:xfrm>
            <a:off x="603504" y="1572768"/>
            <a:ext cx="1655064" cy="658368"/>
          </a:xfrm>
          <a:prstGeom prst="rect">
            <a:avLst/>
          </a:prstGeom>
          <a:noFill/>
          <a:ln/>
        </p:spPr>
        <p:txBody>
          <a:bodyPr wrap="square" lIns="0" tIns="0" rIns="0" bIns="0" rtlCol="0" anchor="t"/>
          <a:lstStyle/>
          <a:p>
            <a:pPr indent="0" marL="0">
              <a:buNone/>
            </a:pPr>
            <a:r>
              <a:rPr lang="en-US" sz="1050" dirty="0">
                <a:solidFill>
                  <a:srgbClr val="FFFFFF"/>
                </a:solidFill>
                <a:latin typeface="Poppins SemiBold" pitchFamily="34" charset="0"/>
                <a:ea typeface="Poppins SemiBold" pitchFamily="34" charset="-122"/>
                <a:cs typeface="Poppins SemiBold" pitchFamily="34" charset="-120"/>
              </a:rPr>
              <a:t>Branded checkout grew 2% for a second quarter</a:t>
            </a:r>
            <a:endParaRPr lang="en-US" sz="1050" dirty="0"/>
          </a:p>
        </p:txBody>
      </p:sp>
      <p:sp>
        <p:nvSpPr>
          <p:cNvPr id="10" name="Text 7"/>
          <p:cNvSpPr txBox="1"/>
          <p:nvPr/>
        </p:nvSpPr>
        <p:spPr>
          <a:xfrm>
            <a:off x="603504" y="2258568"/>
            <a:ext cx="1655064" cy="1051560"/>
          </a:xfrm>
          <a:prstGeom prst="rect">
            <a:avLst/>
          </a:prstGeom>
          <a:noFill/>
          <a:ln/>
        </p:spPr>
        <p:txBody>
          <a:bodyPr wrap="square" lIns="0" tIns="0" rIns="0" bIns="0" rtlCol="0" anchor="t"/>
          <a:lstStyle/>
          <a:p>
            <a:pPr indent="0" marL="0">
              <a:buNone/>
            </a:pPr>
            <a:r>
              <a:rPr lang="en-US" sz="800" dirty="0">
                <a:solidFill>
                  <a:srgbClr val="A7A7A7"/>
                </a:solidFill>
                <a:latin typeface="Poppins" pitchFamily="34" charset="0"/>
                <a:ea typeface="Poppins" pitchFamily="34" charset="-122"/>
                <a:cs typeface="Poppins" pitchFamily="34" charset="-120"/>
              </a:rPr>
              <a:t>TPV rose 9% to $486B. PayPal plans to reinvest a large part of its savings in growth, including marketing. [1]</a:t>
            </a:r>
            <a:endParaRPr lang="en-US" sz="800" dirty="0"/>
          </a:p>
        </p:txBody>
      </p:sp>
      <p:sp>
        <p:nvSpPr>
          <p:cNvPr id="11" name="Shape 8"/>
          <p:cNvSpPr/>
          <p:nvPr/>
        </p:nvSpPr>
        <p:spPr>
          <a:xfrm>
            <a:off x="566928" y="3364992"/>
            <a:ext cx="1728216" cy="960120"/>
          </a:xfrm>
          <a:prstGeom prst="rect">
            <a:avLst/>
          </a:prstGeom>
          <a:solidFill>
            <a:srgbClr val="2F2F2F"/>
          </a:solidFill>
          <a:ln w="12700">
            <a:solidFill>
              <a:srgbClr val="2F2F2F"/>
            </a:solidFill>
            <a:prstDash val="solid"/>
          </a:ln>
        </p:spPr>
      </p:sp>
      <p:sp>
        <p:nvSpPr>
          <p:cNvPr id="12" name="Text 9"/>
          <p:cNvSpPr txBox="1"/>
          <p:nvPr/>
        </p:nvSpPr>
        <p:spPr>
          <a:xfrm>
            <a:off x="658368" y="3438144"/>
            <a:ext cx="1545336" cy="164592"/>
          </a:xfrm>
          <a:prstGeom prst="rect">
            <a:avLst/>
          </a:prstGeom>
          <a:noFill/>
          <a:ln/>
        </p:spPr>
        <p:txBody>
          <a:bodyPr wrap="square" lIns="0" tIns="0" rIns="0" bIns="0" rtlCol="0" anchor="t"/>
          <a:lstStyle/>
          <a:p>
            <a:pPr indent="0" marL="0">
              <a:buNone/>
            </a:pPr>
            <a:r>
              <a:rPr lang="en-US" sz="700" spc="100" kern="0" dirty="0">
                <a:solidFill>
                  <a:srgbClr val="FFC63E"/>
                </a:solidFill>
                <a:latin typeface="Poppins SemiBold" pitchFamily="34" charset="0"/>
                <a:ea typeface="Poppins SemiBold" pitchFamily="34" charset="-122"/>
                <a:cs typeface="Poppins SemiBold" pitchFamily="34" charset="-120"/>
              </a:rPr>
              <a:t>WHAT IT MEANS</a:t>
            </a:r>
            <a:endParaRPr lang="en-US" sz="700" dirty="0"/>
          </a:p>
        </p:txBody>
      </p:sp>
      <p:sp>
        <p:nvSpPr>
          <p:cNvPr id="13" name="Text 10"/>
          <p:cNvSpPr txBox="1"/>
          <p:nvPr/>
        </p:nvSpPr>
        <p:spPr>
          <a:xfrm>
            <a:off x="658368" y="3621024"/>
            <a:ext cx="1545336" cy="676656"/>
          </a:xfrm>
          <a:prstGeom prst="rect">
            <a:avLst/>
          </a:prstGeom>
          <a:noFill/>
          <a:ln/>
        </p:spPr>
        <p:txBody>
          <a:bodyPr wrap="square" lIns="0" tIns="0" rIns="0" bIns="0" rtlCol="0" anchor="t"/>
          <a:lstStyle/>
          <a:p>
            <a:pPr indent="0" marL="0">
              <a:buNone/>
            </a:pPr>
            <a:r>
              <a:rPr lang="en-US" sz="800" dirty="0">
                <a:solidFill>
                  <a:srgbClr val="FFFFFF"/>
                </a:solidFill>
                <a:latin typeface="Poppins" pitchFamily="34" charset="0"/>
                <a:ea typeface="Poppins" pitchFamily="34" charset="-122"/>
                <a:cs typeface="Poppins" pitchFamily="34" charset="-120"/>
              </a:rPr>
              <a:t>Checkout share is the number to move, and there is budget behind it.</a:t>
            </a:r>
            <a:endParaRPr lang="en-US" sz="800" dirty="0"/>
          </a:p>
        </p:txBody>
      </p:sp>
      <p:sp>
        <p:nvSpPr>
          <p:cNvPr id="14" name="Shape 11"/>
          <p:cNvSpPr/>
          <p:nvPr/>
        </p:nvSpPr>
        <p:spPr>
          <a:xfrm>
            <a:off x="2551176" y="1188720"/>
            <a:ext cx="1947672" cy="3246120"/>
          </a:xfrm>
          <a:prstGeom prst="rect">
            <a:avLst/>
          </a:prstGeom>
          <a:solidFill>
            <a:srgbClr val="262626"/>
          </a:solidFill>
          <a:ln w="12700">
            <a:solidFill>
              <a:srgbClr val="262626"/>
            </a:solidFill>
            <a:prstDash val="solid"/>
          </a:ln>
        </p:spPr>
      </p:sp>
      <p:sp>
        <p:nvSpPr>
          <p:cNvPr id="15" name="Text 12"/>
          <p:cNvSpPr txBox="1"/>
          <p:nvPr/>
        </p:nvSpPr>
        <p:spPr>
          <a:xfrm>
            <a:off x="2697480" y="1335024"/>
            <a:ext cx="1655064" cy="201168"/>
          </a:xfrm>
          <a:prstGeom prst="rect">
            <a:avLst/>
          </a:prstGeom>
          <a:noFill/>
          <a:ln/>
        </p:spPr>
        <p:txBody>
          <a:bodyPr wrap="square" lIns="0" tIns="0" rIns="0" bIns="0" rtlCol="0" anchor="t"/>
          <a:lstStyle/>
          <a:p>
            <a:pPr indent="0" marL="0">
              <a:buNone/>
            </a:pPr>
            <a:r>
              <a:rPr lang="en-US" sz="800" spc="100" kern="0" dirty="0">
                <a:solidFill>
                  <a:srgbClr val="FFC63E"/>
                </a:solidFill>
                <a:latin typeface="Poppins SemiBold" pitchFamily="34" charset="0"/>
                <a:ea typeface="Poppins SemiBold" pitchFamily="34" charset="-122"/>
                <a:cs typeface="Poppins SemiBold" pitchFamily="34" charset="-120"/>
              </a:rPr>
              <a:t>JUL 28, 2026</a:t>
            </a:r>
            <a:endParaRPr lang="en-US" sz="800" dirty="0"/>
          </a:p>
        </p:txBody>
      </p:sp>
      <p:sp>
        <p:nvSpPr>
          <p:cNvPr id="16" name="Text 13"/>
          <p:cNvSpPr txBox="1"/>
          <p:nvPr/>
        </p:nvSpPr>
        <p:spPr>
          <a:xfrm>
            <a:off x="2697480" y="1572768"/>
            <a:ext cx="1655064" cy="658368"/>
          </a:xfrm>
          <a:prstGeom prst="rect">
            <a:avLst/>
          </a:prstGeom>
          <a:noFill/>
          <a:ln/>
        </p:spPr>
        <p:txBody>
          <a:bodyPr wrap="square" lIns="0" tIns="0" rIns="0" bIns="0" rtlCol="0" anchor="t"/>
          <a:lstStyle/>
          <a:p>
            <a:pPr indent="0" marL="0">
              <a:buNone/>
            </a:pPr>
            <a:r>
              <a:rPr lang="en-US" sz="1050" dirty="0">
                <a:solidFill>
                  <a:srgbClr val="FFFFFF"/>
                </a:solidFill>
                <a:latin typeface="Poppins SemiBold" pitchFamily="34" charset="0"/>
                <a:ea typeface="Poppins SemiBold" pitchFamily="34" charset="-122"/>
                <a:cs typeface="Poppins SemiBold" pitchFamily="34" charset="-120"/>
              </a:rPr>
              <a:t>Venmo volume up 14%, Pay with Venmo up 44%</a:t>
            </a:r>
            <a:endParaRPr lang="en-US" sz="1050" dirty="0"/>
          </a:p>
        </p:txBody>
      </p:sp>
      <p:sp>
        <p:nvSpPr>
          <p:cNvPr id="17" name="Text 14"/>
          <p:cNvSpPr txBox="1"/>
          <p:nvPr/>
        </p:nvSpPr>
        <p:spPr>
          <a:xfrm>
            <a:off x="2697480" y="2258568"/>
            <a:ext cx="1655064" cy="1051560"/>
          </a:xfrm>
          <a:prstGeom prst="rect">
            <a:avLst/>
          </a:prstGeom>
          <a:noFill/>
          <a:ln/>
        </p:spPr>
        <p:txBody>
          <a:bodyPr wrap="square" lIns="0" tIns="0" rIns="0" bIns="0" rtlCol="0" anchor="t"/>
          <a:lstStyle/>
          <a:p>
            <a:pPr indent="0" marL="0">
              <a:buNone/>
            </a:pPr>
            <a:r>
              <a:rPr lang="en-US" sz="800" dirty="0">
                <a:solidFill>
                  <a:srgbClr val="A7A7A7"/>
                </a:solidFill>
                <a:latin typeface="Poppins" pitchFamily="34" charset="0"/>
                <a:ea typeface="Poppins" pitchFamily="34" charset="-122"/>
                <a:cs typeface="Poppins" pitchFamily="34" charset="-120"/>
              </a:rPr>
              <a:t>Venmo posted its seventh straight quarter of double-digit growth. Buy now, pay later volume grew 26%. [1]</a:t>
            </a:r>
            <a:endParaRPr lang="en-US" sz="800" dirty="0"/>
          </a:p>
        </p:txBody>
      </p:sp>
      <p:sp>
        <p:nvSpPr>
          <p:cNvPr id="18" name="Shape 15"/>
          <p:cNvSpPr/>
          <p:nvPr/>
        </p:nvSpPr>
        <p:spPr>
          <a:xfrm>
            <a:off x="2660904" y="3364992"/>
            <a:ext cx="1728216" cy="960120"/>
          </a:xfrm>
          <a:prstGeom prst="rect">
            <a:avLst/>
          </a:prstGeom>
          <a:solidFill>
            <a:srgbClr val="2F2F2F"/>
          </a:solidFill>
          <a:ln w="12700">
            <a:solidFill>
              <a:srgbClr val="2F2F2F"/>
            </a:solidFill>
            <a:prstDash val="solid"/>
          </a:ln>
        </p:spPr>
      </p:sp>
      <p:sp>
        <p:nvSpPr>
          <p:cNvPr id="19" name="Text 16"/>
          <p:cNvSpPr txBox="1"/>
          <p:nvPr/>
        </p:nvSpPr>
        <p:spPr>
          <a:xfrm>
            <a:off x="2752344" y="3438144"/>
            <a:ext cx="1545336" cy="164592"/>
          </a:xfrm>
          <a:prstGeom prst="rect">
            <a:avLst/>
          </a:prstGeom>
          <a:noFill/>
          <a:ln/>
        </p:spPr>
        <p:txBody>
          <a:bodyPr wrap="square" lIns="0" tIns="0" rIns="0" bIns="0" rtlCol="0" anchor="t"/>
          <a:lstStyle/>
          <a:p>
            <a:pPr indent="0" marL="0">
              <a:buNone/>
            </a:pPr>
            <a:r>
              <a:rPr lang="en-US" sz="700" spc="100" kern="0" dirty="0">
                <a:solidFill>
                  <a:srgbClr val="FFC63E"/>
                </a:solidFill>
                <a:latin typeface="Poppins SemiBold" pitchFamily="34" charset="0"/>
                <a:ea typeface="Poppins SemiBold" pitchFamily="34" charset="-122"/>
                <a:cs typeface="Poppins SemiBold" pitchFamily="34" charset="-120"/>
              </a:rPr>
              <a:t>WHAT IT MEANS</a:t>
            </a:r>
            <a:endParaRPr lang="en-US" sz="700" dirty="0"/>
          </a:p>
        </p:txBody>
      </p:sp>
      <p:sp>
        <p:nvSpPr>
          <p:cNvPr id="20" name="Text 17"/>
          <p:cNvSpPr txBox="1"/>
          <p:nvPr/>
        </p:nvSpPr>
        <p:spPr>
          <a:xfrm>
            <a:off x="2752344" y="3621024"/>
            <a:ext cx="1545336" cy="676656"/>
          </a:xfrm>
          <a:prstGeom prst="rect">
            <a:avLst/>
          </a:prstGeom>
          <a:noFill/>
          <a:ln/>
        </p:spPr>
        <p:txBody>
          <a:bodyPr wrap="square" lIns="0" tIns="0" rIns="0" bIns="0" rtlCol="0" anchor="t"/>
          <a:lstStyle/>
          <a:p>
            <a:pPr indent="0" marL="0">
              <a:buNone/>
            </a:pPr>
            <a:r>
              <a:rPr lang="en-US" sz="800" dirty="0">
                <a:solidFill>
                  <a:srgbClr val="FFFFFF"/>
                </a:solidFill>
                <a:latin typeface="Poppins" pitchFamily="34" charset="0"/>
                <a:ea typeface="Poppins" pitchFamily="34" charset="-122"/>
                <a:cs typeface="Poppins" pitchFamily="34" charset="-120"/>
              </a:rPr>
              <a:t>The growth products are the ones to put on TV this season.</a:t>
            </a:r>
            <a:endParaRPr lang="en-US" sz="800" dirty="0"/>
          </a:p>
        </p:txBody>
      </p:sp>
      <p:sp>
        <p:nvSpPr>
          <p:cNvPr id="21" name="Shape 18"/>
          <p:cNvSpPr/>
          <p:nvPr/>
        </p:nvSpPr>
        <p:spPr>
          <a:xfrm>
            <a:off x="4645152" y="1188720"/>
            <a:ext cx="1947672" cy="3246120"/>
          </a:xfrm>
          <a:prstGeom prst="rect">
            <a:avLst/>
          </a:prstGeom>
          <a:solidFill>
            <a:srgbClr val="262626"/>
          </a:solidFill>
          <a:ln w="12700">
            <a:solidFill>
              <a:srgbClr val="262626"/>
            </a:solidFill>
            <a:prstDash val="solid"/>
          </a:ln>
        </p:spPr>
      </p:sp>
      <p:sp>
        <p:nvSpPr>
          <p:cNvPr id="22" name="Text 19"/>
          <p:cNvSpPr txBox="1"/>
          <p:nvPr/>
        </p:nvSpPr>
        <p:spPr>
          <a:xfrm>
            <a:off x="4791456" y="1335024"/>
            <a:ext cx="1655064" cy="201168"/>
          </a:xfrm>
          <a:prstGeom prst="rect">
            <a:avLst/>
          </a:prstGeom>
          <a:noFill/>
          <a:ln/>
        </p:spPr>
        <p:txBody>
          <a:bodyPr wrap="square" lIns="0" tIns="0" rIns="0" bIns="0" rtlCol="0" anchor="t"/>
          <a:lstStyle/>
          <a:p>
            <a:pPr indent="0" marL="0">
              <a:buNone/>
            </a:pPr>
            <a:r>
              <a:rPr lang="en-US" sz="800" spc="100" kern="0" dirty="0">
                <a:solidFill>
                  <a:srgbClr val="FFC63E"/>
                </a:solidFill>
                <a:latin typeface="Poppins SemiBold" pitchFamily="34" charset="0"/>
                <a:ea typeface="Poppins SemiBold" pitchFamily="34" charset="-122"/>
                <a:cs typeface="Poppins SemiBold" pitchFamily="34" charset="-120"/>
              </a:rPr>
              <a:t>SEP 30, 2026</a:t>
            </a:r>
            <a:endParaRPr lang="en-US" sz="800" dirty="0"/>
          </a:p>
        </p:txBody>
      </p:sp>
      <p:sp>
        <p:nvSpPr>
          <p:cNvPr id="23" name="Text 20"/>
          <p:cNvSpPr txBox="1"/>
          <p:nvPr/>
        </p:nvSpPr>
        <p:spPr>
          <a:xfrm>
            <a:off x="4791456" y="1572768"/>
            <a:ext cx="1655064" cy="658368"/>
          </a:xfrm>
          <a:prstGeom prst="rect">
            <a:avLst/>
          </a:prstGeom>
          <a:noFill/>
          <a:ln/>
        </p:spPr>
        <p:txBody>
          <a:bodyPr wrap="square" lIns="0" tIns="0" rIns="0" bIns="0" rtlCol="0" anchor="t"/>
          <a:lstStyle/>
          <a:p>
            <a:pPr indent="0" marL="0">
              <a:buNone/>
            </a:pPr>
            <a:r>
              <a:rPr lang="en-US" sz="1050" dirty="0">
                <a:solidFill>
                  <a:srgbClr val="FFFFFF"/>
                </a:solidFill>
                <a:latin typeface="Poppins SemiBold" pitchFamily="34" charset="0"/>
                <a:ea typeface="Poppins SemiBold" pitchFamily="34" charset="-122"/>
                <a:cs typeface="Poppins SemiBold" pitchFamily="34" charset="-120"/>
              </a:rPr>
              <a:t>Shoppers are worried but still spending</a:t>
            </a:r>
            <a:endParaRPr lang="en-US" sz="1050" dirty="0"/>
          </a:p>
        </p:txBody>
      </p:sp>
      <p:sp>
        <p:nvSpPr>
          <p:cNvPr id="24" name="Text 21"/>
          <p:cNvSpPr txBox="1"/>
          <p:nvPr/>
        </p:nvSpPr>
        <p:spPr>
          <a:xfrm>
            <a:off x="4791456" y="2258568"/>
            <a:ext cx="1655064" cy="1051560"/>
          </a:xfrm>
          <a:prstGeom prst="rect">
            <a:avLst/>
          </a:prstGeom>
          <a:noFill/>
          <a:ln/>
        </p:spPr>
        <p:txBody>
          <a:bodyPr wrap="square" lIns="0" tIns="0" rIns="0" bIns="0" rtlCol="0" anchor="t"/>
          <a:lstStyle/>
          <a:p>
            <a:pPr indent="0" marL="0">
              <a:buNone/>
            </a:pPr>
            <a:r>
              <a:rPr lang="en-US" sz="800" dirty="0">
                <a:solidFill>
                  <a:srgbClr val="A7A7A7"/>
                </a:solidFill>
                <a:latin typeface="Poppins" pitchFamily="34" charset="0"/>
                <a:ea typeface="Poppins" pitchFamily="34" charset="-122"/>
                <a:cs typeface="Poppins" pitchFamily="34" charset="-120"/>
              </a:rPr>
              <a:t>PayPal's survey found 58% feel more financial concern, 64% expect to spend the same or more, and 67% prefer retailers with rewards. [2]</a:t>
            </a:r>
            <a:endParaRPr lang="en-US" sz="800" dirty="0"/>
          </a:p>
        </p:txBody>
      </p:sp>
      <p:sp>
        <p:nvSpPr>
          <p:cNvPr id="25" name="Shape 22"/>
          <p:cNvSpPr/>
          <p:nvPr/>
        </p:nvSpPr>
        <p:spPr>
          <a:xfrm>
            <a:off x="4754880" y="3364992"/>
            <a:ext cx="1728216" cy="960120"/>
          </a:xfrm>
          <a:prstGeom prst="rect">
            <a:avLst/>
          </a:prstGeom>
          <a:solidFill>
            <a:srgbClr val="2F2F2F"/>
          </a:solidFill>
          <a:ln w="12700">
            <a:solidFill>
              <a:srgbClr val="2F2F2F"/>
            </a:solidFill>
            <a:prstDash val="solid"/>
          </a:ln>
        </p:spPr>
      </p:sp>
      <p:sp>
        <p:nvSpPr>
          <p:cNvPr id="26" name="Text 23"/>
          <p:cNvSpPr txBox="1"/>
          <p:nvPr/>
        </p:nvSpPr>
        <p:spPr>
          <a:xfrm>
            <a:off x="4846320" y="3438144"/>
            <a:ext cx="1545336" cy="164592"/>
          </a:xfrm>
          <a:prstGeom prst="rect">
            <a:avLst/>
          </a:prstGeom>
          <a:noFill/>
          <a:ln/>
        </p:spPr>
        <p:txBody>
          <a:bodyPr wrap="square" lIns="0" tIns="0" rIns="0" bIns="0" rtlCol="0" anchor="t"/>
          <a:lstStyle/>
          <a:p>
            <a:pPr indent="0" marL="0">
              <a:buNone/>
            </a:pPr>
            <a:r>
              <a:rPr lang="en-US" sz="700" spc="100" kern="0" dirty="0">
                <a:solidFill>
                  <a:srgbClr val="FFC63E"/>
                </a:solidFill>
                <a:latin typeface="Poppins SemiBold" pitchFamily="34" charset="0"/>
                <a:ea typeface="Poppins SemiBold" pitchFamily="34" charset="-122"/>
                <a:cs typeface="Poppins SemiBold" pitchFamily="34" charset="-120"/>
              </a:rPr>
              <a:t>WHAT IT MEANS</a:t>
            </a:r>
            <a:endParaRPr lang="en-US" sz="700" dirty="0"/>
          </a:p>
        </p:txBody>
      </p:sp>
      <p:sp>
        <p:nvSpPr>
          <p:cNvPr id="27" name="Text 24"/>
          <p:cNvSpPr txBox="1"/>
          <p:nvPr/>
        </p:nvSpPr>
        <p:spPr>
          <a:xfrm>
            <a:off x="4846320" y="3621024"/>
            <a:ext cx="1545336" cy="676656"/>
          </a:xfrm>
          <a:prstGeom prst="rect">
            <a:avLst/>
          </a:prstGeom>
          <a:noFill/>
          <a:ln/>
        </p:spPr>
        <p:txBody>
          <a:bodyPr wrap="square" lIns="0" tIns="0" rIns="0" bIns="0" rtlCol="0" anchor="t"/>
          <a:lstStyle/>
          <a:p>
            <a:pPr indent="0" marL="0">
              <a:buNone/>
            </a:pPr>
            <a:r>
              <a:rPr lang="en-US" sz="800" dirty="0">
                <a:solidFill>
                  <a:srgbClr val="FFFFFF"/>
                </a:solidFill>
                <a:latin typeface="Poppins" pitchFamily="34" charset="0"/>
                <a:ea typeface="Poppins" pitchFamily="34" charset="-122"/>
                <a:cs typeface="Poppins" pitchFamily="34" charset="-120"/>
              </a:rPr>
              <a:t>Rewards and pay later are the reasons to choose PayPal at checkout.</a:t>
            </a:r>
            <a:endParaRPr lang="en-US" sz="800" dirty="0"/>
          </a:p>
        </p:txBody>
      </p:sp>
      <p:sp>
        <p:nvSpPr>
          <p:cNvPr id="28" name="Shape 25"/>
          <p:cNvSpPr/>
          <p:nvPr/>
        </p:nvSpPr>
        <p:spPr>
          <a:xfrm>
            <a:off x="6739128" y="1188720"/>
            <a:ext cx="1947672" cy="3246120"/>
          </a:xfrm>
          <a:prstGeom prst="rect">
            <a:avLst/>
          </a:prstGeom>
          <a:solidFill>
            <a:srgbClr val="262626"/>
          </a:solidFill>
          <a:ln w="12700">
            <a:solidFill>
              <a:srgbClr val="262626"/>
            </a:solidFill>
            <a:prstDash val="solid"/>
          </a:ln>
        </p:spPr>
      </p:sp>
      <p:sp>
        <p:nvSpPr>
          <p:cNvPr id="29" name="Text 26"/>
          <p:cNvSpPr txBox="1"/>
          <p:nvPr/>
        </p:nvSpPr>
        <p:spPr>
          <a:xfrm>
            <a:off x="6885432" y="1335024"/>
            <a:ext cx="1655064" cy="201168"/>
          </a:xfrm>
          <a:prstGeom prst="rect">
            <a:avLst/>
          </a:prstGeom>
          <a:noFill/>
          <a:ln/>
        </p:spPr>
        <p:txBody>
          <a:bodyPr wrap="square" lIns="0" tIns="0" rIns="0" bIns="0" rtlCol="0" anchor="t"/>
          <a:lstStyle/>
          <a:p>
            <a:pPr indent="0" marL="0">
              <a:buNone/>
            </a:pPr>
            <a:r>
              <a:rPr lang="en-US" sz="800" spc="100" kern="0" dirty="0">
                <a:solidFill>
                  <a:srgbClr val="FFC63E"/>
                </a:solidFill>
                <a:latin typeface="Poppins SemiBold" pitchFamily="34" charset="0"/>
                <a:ea typeface="Poppins SemiBold" pitchFamily="34" charset="-122"/>
                <a:cs typeface="Poppins SemiBold" pitchFamily="34" charset="-120"/>
              </a:rPr>
              <a:t>OCT 5, 2026</a:t>
            </a:r>
            <a:endParaRPr lang="en-US" sz="800" dirty="0"/>
          </a:p>
        </p:txBody>
      </p:sp>
      <p:sp>
        <p:nvSpPr>
          <p:cNvPr id="30" name="Text 27"/>
          <p:cNvSpPr txBox="1"/>
          <p:nvPr/>
        </p:nvSpPr>
        <p:spPr>
          <a:xfrm>
            <a:off x="6885432" y="1572768"/>
            <a:ext cx="1655064" cy="658368"/>
          </a:xfrm>
          <a:prstGeom prst="rect">
            <a:avLst/>
          </a:prstGeom>
          <a:noFill/>
          <a:ln/>
        </p:spPr>
        <p:txBody>
          <a:bodyPr wrap="square" lIns="0" tIns="0" rIns="0" bIns="0" rtlCol="0" anchor="t"/>
          <a:lstStyle/>
          <a:p>
            <a:pPr indent="0" marL="0">
              <a:buNone/>
            </a:pPr>
            <a:r>
              <a:rPr lang="en-US" sz="1050" dirty="0">
                <a:solidFill>
                  <a:srgbClr val="FFFFFF"/>
                </a:solidFill>
                <a:latin typeface="Poppins SemiBold" pitchFamily="34" charset="0"/>
                <a:ea typeface="Poppins SemiBold" pitchFamily="34" charset="-122"/>
                <a:cs typeface="Poppins SemiBold" pitchFamily="34" charset="-120"/>
              </a:rPr>
              <a:t>Venmo Credit Card pays up to 4% when you split</a:t>
            </a:r>
            <a:endParaRPr lang="en-US" sz="1050" dirty="0"/>
          </a:p>
        </p:txBody>
      </p:sp>
      <p:sp>
        <p:nvSpPr>
          <p:cNvPr id="31" name="Text 28"/>
          <p:cNvSpPr txBox="1"/>
          <p:nvPr/>
        </p:nvSpPr>
        <p:spPr>
          <a:xfrm>
            <a:off x="6885432" y="2258568"/>
            <a:ext cx="1655064" cy="1051560"/>
          </a:xfrm>
          <a:prstGeom prst="rect">
            <a:avLst/>
          </a:prstGeom>
          <a:noFill/>
          <a:ln/>
        </p:spPr>
        <p:txBody>
          <a:bodyPr wrap="square" lIns="0" tIns="0" rIns="0" bIns="0" rtlCol="0" anchor="t"/>
          <a:lstStyle/>
          <a:p>
            <a:pPr indent="0" marL="0">
              <a:buNone/>
            </a:pPr>
            <a:r>
              <a:rPr lang="en-US" sz="800" dirty="0">
                <a:solidFill>
                  <a:srgbClr val="A7A7A7"/>
                </a:solidFill>
                <a:latin typeface="Poppins" pitchFamily="34" charset="0"/>
                <a:ea typeface="Poppins" pitchFamily="34" charset="-122"/>
                <a:cs typeface="Poppins" pitchFamily="34" charset="-120"/>
              </a:rPr>
              <a:t>Cardholders earn up to 4% cash back on purchases they split with friends through Venmo. [3]</a:t>
            </a:r>
            <a:endParaRPr lang="en-US" sz="800" dirty="0"/>
          </a:p>
        </p:txBody>
      </p:sp>
      <p:sp>
        <p:nvSpPr>
          <p:cNvPr id="32" name="Shape 29"/>
          <p:cNvSpPr/>
          <p:nvPr/>
        </p:nvSpPr>
        <p:spPr>
          <a:xfrm>
            <a:off x="6848856" y="3364992"/>
            <a:ext cx="1728216" cy="960120"/>
          </a:xfrm>
          <a:prstGeom prst="rect">
            <a:avLst/>
          </a:prstGeom>
          <a:solidFill>
            <a:srgbClr val="2F2F2F"/>
          </a:solidFill>
          <a:ln w="12700">
            <a:solidFill>
              <a:srgbClr val="2F2F2F"/>
            </a:solidFill>
            <a:prstDash val="solid"/>
          </a:ln>
        </p:spPr>
      </p:sp>
      <p:sp>
        <p:nvSpPr>
          <p:cNvPr id="33" name="Text 30"/>
          <p:cNvSpPr txBox="1"/>
          <p:nvPr/>
        </p:nvSpPr>
        <p:spPr>
          <a:xfrm>
            <a:off x="6940296" y="3438144"/>
            <a:ext cx="1545336" cy="164592"/>
          </a:xfrm>
          <a:prstGeom prst="rect">
            <a:avLst/>
          </a:prstGeom>
          <a:noFill/>
          <a:ln/>
        </p:spPr>
        <p:txBody>
          <a:bodyPr wrap="square" lIns="0" tIns="0" rIns="0" bIns="0" rtlCol="0" anchor="t"/>
          <a:lstStyle/>
          <a:p>
            <a:pPr indent="0" marL="0">
              <a:buNone/>
            </a:pPr>
            <a:r>
              <a:rPr lang="en-US" sz="700" spc="100" kern="0" dirty="0">
                <a:solidFill>
                  <a:srgbClr val="FFC63E"/>
                </a:solidFill>
                <a:latin typeface="Poppins SemiBold" pitchFamily="34" charset="0"/>
                <a:ea typeface="Poppins SemiBold" pitchFamily="34" charset="-122"/>
                <a:cs typeface="Poppins SemiBold" pitchFamily="34" charset="-120"/>
              </a:rPr>
              <a:t>WHAT IT MEANS</a:t>
            </a:r>
            <a:endParaRPr lang="en-US" sz="700" dirty="0"/>
          </a:p>
        </p:txBody>
      </p:sp>
      <p:sp>
        <p:nvSpPr>
          <p:cNvPr id="34" name="Text 31"/>
          <p:cNvSpPr txBox="1"/>
          <p:nvPr/>
        </p:nvSpPr>
        <p:spPr>
          <a:xfrm>
            <a:off x="6940296" y="3621024"/>
            <a:ext cx="1545336" cy="676656"/>
          </a:xfrm>
          <a:prstGeom prst="rect">
            <a:avLst/>
          </a:prstGeom>
          <a:noFill/>
          <a:ln/>
        </p:spPr>
        <p:txBody>
          <a:bodyPr wrap="square" lIns="0" tIns="0" rIns="0" bIns="0" rtlCol="0" anchor="t"/>
          <a:lstStyle/>
          <a:p>
            <a:pPr indent="0" marL="0">
              <a:buNone/>
            </a:pPr>
            <a:r>
              <a:rPr lang="en-US" sz="800" dirty="0">
                <a:solidFill>
                  <a:srgbClr val="FFFFFF"/>
                </a:solidFill>
                <a:latin typeface="Poppins" pitchFamily="34" charset="0"/>
                <a:ea typeface="Poppins" pitchFamily="34" charset="-122"/>
                <a:cs typeface="Poppins" pitchFamily="34" charset="-120"/>
              </a:rPr>
              <a:t>Group holiday plans are a ready-made audience for the card.</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457200"/>
          </a:xfrm>
          <a:prstGeom prst="rect">
            <a:avLst/>
          </a:prstGeom>
          <a:noFill/>
          <a:ln/>
        </p:spPr>
        <p:txBody>
          <a:bodyPr wrap="square" lIns="0" tIns="0" rIns="0" bIns="0" rtlCol="0" anchor="ctr"/>
          <a:lstStyle/>
          <a:p>
            <a:pPr indent="0" marL="0">
              <a:buNone/>
            </a:pPr>
            <a:r>
              <a:rPr lang="en-US" sz="2000" dirty="0">
                <a:solidFill>
                  <a:srgbClr val="FFFFFF"/>
                </a:solidFill>
                <a:latin typeface="Poppins ExtraBold" pitchFamily="34" charset="0"/>
                <a:ea typeface="Poppins ExtraBold" pitchFamily="34" charset="-122"/>
                <a:cs typeface="Poppins ExtraBold" pitchFamily="34" charset="-120"/>
              </a:rPr>
              <a:t>THE OPENING: WIN THE WALLET BEFORE THE CART</a:t>
            </a:r>
            <a:endParaRPr lang="en-US" sz="2000" dirty="0"/>
          </a:p>
        </p:txBody>
      </p:sp>
      <p:sp>
        <p:nvSpPr>
          <p:cNvPr id="3" name="Text 1"/>
          <p:cNvSpPr txBox="1"/>
          <p:nvPr/>
        </p:nvSpPr>
        <p:spPr>
          <a:xfrm>
            <a:off x="457200" y="822960"/>
            <a:ext cx="8229600" cy="237744"/>
          </a:xfrm>
          <a:prstGeom prst="rect">
            <a:avLst/>
          </a:prstGeom>
          <a:noFill/>
          <a:ln/>
        </p:spPr>
        <p:txBody>
          <a:bodyPr wrap="square" lIns="0" tIns="0" rIns="0" bIns="0" rtlCol="0" anchor="t"/>
          <a:lstStyle/>
          <a:p>
            <a:pPr indent="0" marL="0">
              <a:buNone/>
            </a:pPr>
            <a:r>
              <a:rPr lang="en-US" sz="850" spc="100" kern="0" dirty="0">
                <a:solidFill>
                  <a:srgbClr val="FFC63E"/>
                </a:solidFill>
                <a:latin typeface="Poppins SemiBold" pitchFamily="34" charset="0"/>
                <a:ea typeface="Poppins SemiBold" pitchFamily="34" charset="-122"/>
                <a:cs typeface="Poppins SemiBold" pitchFamily="34" charset="-120"/>
              </a:rPr>
              <a:t>WHY HOLIDAY MEDIA SHOULD CHASE CHECKOUT SHARE, NOT AWARENESS</a:t>
            </a:r>
            <a:endParaRPr lang="en-US" sz="850" dirty="0"/>
          </a:p>
        </p:txBody>
      </p:sp>
      <p:sp>
        <p:nvSpPr>
          <p:cNvPr id="4" name="Text 2"/>
          <p:cNvSpPr txBox="1"/>
          <p:nvPr/>
        </p:nvSpPr>
        <p:spPr>
          <a:xfrm>
            <a:off x="457200" y="4832604"/>
            <a:ext cx="365760" cy="182880"/>
          </a:xfrm>
          <a:prstGeom prst="rect">
            <a:avLst/>
          </a:prstGeom>
          <a:noFill/>
          <a:ln/>
        </p:spPr>
        <p:txBody>
          <a:bodyPr wrap="square" lIns="0" tIns="0" rIns="0" bIns="0" rtlCol="0" anchor="t"/>
          <a:lstStyle/>
          <a:p>
            <a:pPr indent="0" marL="0">
              <a:buNone/>
            </a:pPr>
            <a:r>
              <a:rPr lang="en-US" sz="800" dirty="0">
                <a:solidFill>
                  <a:srgbClr val="7E7E7E"/>
                </a:solidFill>
                <a:latin typeface="Poppins SemiBold" pitchFamily="34" charset="0"/>
                <a:ea typeface="Poppins SemiBold" pitchFamily="34" charset="-122"/>
                <a:cs typeface="Poppins SemiBold" pitchFamily="34" charset="-120"/>
              </a:rPr>
              <a:t>3</a:t>
            </a:r>
            <a:endParaRPr lang="en-US" sz="800" dirty="0"/>
          </a:p>
        </p:txBody>
      </p:sp>
      <p:sp>
        <p:nvSpPr>
          <p:cNvPr id="5" name="Text 3"/>
          <p:cNvSpPr txBox="1"/>
          <p:nvPr/>
        </p:nvSpPr>
        <p:spPr>
          <a:xfrm>
            <a:off x="868680" y="4832604"/>
            <a:ext cx="5486400" cy="182880"/>
          </a:xfrm>
          <a:prstGeom prst="rect">
            <a:avLst/>
          </a:prstGeom>
          <a:noFill/>
          <a:ln/>
        </p:spPr>
        <p:txBody>
          <a:bodyPr wrap="square" lIns="0" tIns="0" rIns="0" bIns="0" rtlCol="0" anchor="t"/>
          <a:lstStyle/>
          <a:p>
            <a:pPr indent="0" marL="0">
              <a:buNone/>
            </a:pPr>
            <a:r>
              <a:rPr lang="en-US" sz="700" dirty="0">
                <a:solidFill>
                  <a:srgbClr val="7E7E7E"/>
                </a:solidFill>
                <a:latin typeface="Poppins" pitchFamily="34" charset="0"/>
                <a:ea typeface="Poppins" pitchFamily="34" charset="-122"/>
                <a:cs typeface="Poppins" pitchFamily="34" charset="-120"/>
              </a:rPr>
              <a:t>Sabio × PayPal  ·  Proactive point of view for Zenith  ·  Confidential</a:t>
            </a:r>
            <a:endParaRPr lang="en-US" sz="700" dirty="0"/>
          </a:p>
        </p:txBody>
      </p:sp>
      <p:pic>
        <p:nvPicPr>
          <p:cNvPr id="6" name="Image 0" descr="/home/claude/benjaminbring-cloud/sabio-deck-builders-/assets/sabio-logo-white-sm.png">    </p:cNvPr>
          <p:cNvPicPr>
            <a:picLocks noChangeAspect="1"/>
          </p:cNvPicPr>
          <p:nvPr/>
        </p:nvPicPr>
        <p:blipFill>
          <a:blip r:embed="rId1"/>
          <a:stretch>
            <a:fillRect/>
          </a:stretch>
        </p:blipFill>
        <p:spPr>
          <a:xfrm>
            <a:off x="8028432" y="4805172"/>
            <a:ext cx="647572" cy="155448"/>
          </a:xfrm>
          <a:prstGeom prst="rect">
            <a:avLst/>
          </a:prstGeom>
        </p:spPr>
      </p:pic>
      <p:sp>
        <p:nvSpPr>
          <p:cNvPr id="7" name="Shape 4"/>
          <p:cNvSpPr/>
          <p:nvPr/>
        </p:nvSpPr>
        <p:spPr>
          <a:xfrm>
            <a:off x="457200" y="1188720"/>
            <a:ext cx="3291840" cy="3246120"/>
          </a:xfrm>
          <a:prstGeom prst="rect">
            <a:avLst/>
          </a:prstGeom>
          <a:solidFill>
            <a:srgbClr val="262626"/>
          </a:solidFill>
          <a:ln w="12700">
            <a:solidFill>
              <a:srgbClr val="262626"/>
            </a:solidFill>
            <a:prstDash val="solid"/>
          </a:ln>
        </p:spPr>
      </p:sp>
      <p:sp>
        <p:nvSpPr>
          <p:cNvPr id="8" name="Text 5"/>
          <p:cNvSpPr txBox="1"/>
          <p:nvPr/>
        </p:nvSpPr>
        <p:spPr>
          <a:xfrm>
            <a:off x="685800" y="1371600"/>
            <a:ext cx="2926080" cy="1188720"/>
          </a:xfrm>
          <a:prstGeom prst="rect">
            <a:avLst/>
          </a:prstGeom>
          <a:noFill/>
          <a:ln/>
        </p:spPr>
        <p:txBody>
          <a:bodyPr wrap="square" lIns="0" tIns="0" rIns="0" bIns="0" rtlCol="0" anchor="ctr"/>
          <a:lstStyle/>
          <a:p>
            <a:pPr indent="0" marL="0">
              <a:buNone/>
            </a:pPr>
            <a:r>
              <a:rPr lang="en-US" sz="5400" dirty="0">
                <a:solidFill>
                  <a:srgbClr val="FFC63E"/>
                </a:solidFill>
                <a:latin typeface="Poppins ExtraBold" pitchFamily="34" charset="0"/>
                <a:ea typeface="Poppins ExtraBold" pitchFamily="34" charset="-122"/>
                <a:cs typeface="Poppins ExtraBold" pitchFamily="34" charset="-120"/>
              </a:rPr>
              <a:t>67%</a:t>
            </a:r>
            <a:endParaRPr lang="en-US" sz="5400" dirty="0"/>
          </a:p>
        </p:txBody>
      </p:sp>
      <p:sp>
        <p:nvSpPr>
          <p:cNvPr id="9" name="Text 6"/>
          <p:cNvSpPr txBox="1"/>
          <p:nvPr/>
        </p:nvSpPr>
        <p:spPr>
          <a:xfrm>
            <a:off x="685800" y="2606040"/>
            <a:ext cx="2834640" cy="914400"/>
          </a:xfrm>
          <a:prstGeom prst="rect">
            <a:avLst/>
          </a:prstGeom>
          <a:noFill/>
          <a:ln/>
        </p:spPr>
        <p:txBody>
          <a:bodyPr wrap="square" lIns="0" tIns="0" rIns="0" bIns="0" rtlCol="0" anchor="t"/>
          <a:lstStyle/>
          <a:p>
            <a:pPr indent="0" marL="0">
              <a:buNone/>
            </a:pPr>
            <a:r>
              <a:rPr lang="en-US" sz="1100" dirty="0">
                <a:solidFill>
                  <a:srgbClr val="FFFFFF"/>
                </a:solidFill>
                <a:latin typeface="Poppins SemiBold" pitchFamily="34" charset="0"/>
                <a:ea typeface="Poppins SemiBold" pitchFamily="34" charset="-122"/>
                <a:cs typeface="Poppins SemiBold" pitchFamily="34" charset="-120"/>
              </a:rPr>
              <a:t>Of Americans are more likely to shop with a retailer that offers rewards or cash back.</a:t>
            </a:r>
            <a:endParaRPr lang="en-US" sz="1100" dirty="0"/>
          </a:p>
        </p:txBody>
      </p:sp>
      <p:sp>
        <p:nvSpPr>
          <p:cNvPr id="10" name="Text 7"/>
          <p:cNvSpPr txBox="1"/>
          <p:nvPr/>
        </p:nvSpPr>
        <p:spPr>
          <a:xfrm>
            <a:off x="685800" y="3977640"/>
            <a:ext cx="2834640" cy="365760"/>
          </a:xfrm>
          <a:prstGeom prst="rect">
            <a:avLst/>
          </a:prstGeom>
          <a:noFill/>
          <a:ln/>
        </p:spPr>
        <p:txBody>
          <a:bodyPr wrap="square" lIns="0" tIns="0" rIns="0" bIns="0" rtlCol="0" anchor="b"/>
          <a:lstStyle/>
          <a:p>
            <a:pPr indent="0" marL="0">
              <a:buNone/>
            </a:pPr>
            <a:r>
              <a:rPr lang="en-US" sz="700" dirty="0">
                <a:solidFill>
                  <a:srgbClr val="7E7E7E"/>
                </a:solidFill>
                <a:latin typeface="Poppins" pitchFamily="34" charset="0"/>
                <a:ea typeface="Poppins" pitchFamily="34" charset="-122"/>
                <a:cs typeface="Poppins" pitchFamily="34" charset="-120"/>
              </a:rPr>
              <a:t>Source 2 (PayPal 2026 Holiday Shopping Survey)</a:t>
            </a:r>
            <a:endParaRPr lang="en-US" sz="700" dirty="0"/>
          </a:p>
        </p:txBody>
      </p:sp>
      <p:sp>
        <p:nvSpPr>
          <p:cNvPr id="11" name="Text 8"/>
          <p:cNvSpPr txBox="1"/>
          <p:nvPr/>
        </p:nvSpPr>
        <p:spPr>
          <a:xfrm>
            <a:off x="4023360" y="1188720"/>
            <a:ext cx="4663440" cy="822960"/>
          </a:xfrm>
          <a:prstGeom prst="rect">
            <a:avLst/>
          </a:prstGeom>
          <a:noFill/>
          <a:ln/>
        </p:spPr>
        <p:txBody>
          <a:bodyPr wrap="square" lIns="0" tIns="0" rIns="0" bIns="0" rtlCol="0" anchor="t"/>
          <a:lstStyle/>
          <a:p>
            <a:pPr indent="0" marL="0">
              <a:buNone/>
            </a:pPr>
            <a:r>
              <a:rPr lang="en-US" sz="1600" dirty="0">
                <a:solidFill>
                  <a:srgbClr val="FFFFFF"/>
                </a:solidFill>
                <a:latin typeface="Poppins ExtraBold" pitchFamily="34" charset="0"/>
                <a:ea typeface="Poppins ExtraBold" pitchFamily="34" charset="-122"/>
                <a:cs typeface="Poppins ExtraBold" pitchFamily="34" charset="-120"/>
              </a:rPr>
              <a:t>We think PayPal grows checkout share this holiday by reaching the homes that already pay with something else.</a:t>
            </a:r>
            <a:endParaRPr lang="en-US" sz="1600" dirty="0"/>
          </a:p>
        </p:txBody>
      </p:sp>
      <p:sp>
        <p:nvSpPr>
          <p:cNvPr id="12" name="Text 9"/>
          <p:cNvSpPr txBox="1"/>
          <p:nvPr/>
        </p:nvSpPr>
        <p:spPr>
          <a:xfrm>
            <a:off x="4023360" y="2103120"/>
            <a:ext cx="4663440" cy="201168"/>
          </a:xfrm>
          <a:prstGeom prst="rect">
            <a:avLst/>
          </a:prstGeom>
          <a:noFill/>
          <a:ln/>
        </p:spPr>
        <p:txBody>
          <a:bodyPr wrap="square" lIns="0" tIns="0" rIns="0" bIns="0" rtlCol="0" anchor="t"/>
          <a:lstStyle/>
          <a:p>
            <a:pPr indent="0" marL="0">
              <a:buNone/>
            </a:pPr>
            <a:r>
              <a:rPr lang="en-US" sz="850" spc="100" kern="0" dirty="0">
                <a:solidFill>
                  <a:srgbClr val="FFC63E"/>
                </a:solidFill>
                <a:latin typeface="Poppins SemiBold" pitchFamily="34" charset="0"/>
                <a:ea typeface="Poppins SemiBold" pitchFamily="34" charset="-122"/>
                <a:cs typeface="Poppins SemiBold" pitchFamily="34" charset="-120"/>
              </a:rPr>
              <a:t>THE SWING WALLETS ARE VISIBLE</a:t>
            </a:r>
            <a:endParaRPr lang="en-US" sz="850" dirty="0"/>
          </a:p>
        </p:txBody>
      </p:sp>
      <p:sp>
        <p:nvSpPr>
          <p:cNvPr id="13" name="Text 10"/>
          <p:cNvSpPr txBox="1"/>
          <p:nvPr/>
        </p:nvSpPr>
        <p:spPr>
          <a:xfrm>
            <a:off x="4023360" y="2331720"/>
            <a:ext cx="4663440" cy="502920"/>
          </a:xfrm>
          <a:prstGeom prst="rect">
            <a:avLst/>
          </a:prstGeom>
          <a:noFill/>
          <a:ln/>
        </p:spPr>
        <p:txBody>
          <a:bodyPr wrap="square" lIns="0" tIns="0" rIns="0" bIns="0" rtlCol="0" anchor="t"/>
          <a:lstStyle/>
          <a:p>
            <a:pPr indent="0" marL="0">
              <a:buNone/>
            </a:pPr>
            <a:r>
              <a:rPr lang="en-US" sz="950" dirty="0">
                <a:solidFill>
                  <a:srgbClr val="E3E3E3"/>
                </a:solidFill>
                <a:latin typeface="Poppins" pitchFamily="34" charset="0"/>
                <a:ea typeface="Poppins" pitchFamily="34" charset="-122"/>
                <a:cs typeface="Poppins" pitchFamily="34" charset="-120"/>
              </a:rPr>
              <a:t>Cash App, Klarna, Afterpay and Affirm all live on the phone. We can see which homes use them and which don't use PayPal.</a:t>
            </a:r>
            <a:endParaRPr lang="en-US" sz="950" dirty="0"/>
          </a:p>
        </p:txBody>
      </p:sp>
      <p:sp>
        <p:nvSpPr>
          <p:cNvPr id="14" name="Text 11"/>
          <p:cNvSpPr txBox="1"/>
          <p:nvPr/>
        </p:nvSpPr>
        <p:spPr>
          <a:xfrm>
            <a:off x="4023360" y="2880360"/>
            <a:ext cx="4663440" cy="201168"/>
          </a:xfrm>
          <a:prstGeom prst="rect">
            <a:avLst/>
          </a:prstGeom>
          <a:noFill/>
          <a:ln/>
        </p:spPr>
        <p:txBody>
          <a:bodyPr wrap="square" lIns="0" tIns="0" rIns="0" bIns="0" rtlCol="0" anchor="t"/>
          <a:lstStyle/>
          <a:p>
            <a:pPr indent="0" marL="0">
              <a:buNone/>
            </a:pPr>
            <a:r>
              <a:rPr lang="en-US" sz="850" spc="100" kern="0" dirty="0">
                <a:solidFill>
                  <a:srgbClr val="FFC63E"/>
                </a:solidFill>
                <a:latin typeface="Poppins SemiBold" pitchFamily="34" charset="0"/>
                <a:ea typeface="Poppins SemiBold" pitchFamily="34" charset="-122"/>
                <a:cs typeface="Poppins SemiBold" pitchFamily="34" charset="-120"/>
              </a:rPr>
              <a:t>VENMO IS THE GROWTH STORY</a:t>
            </a:r>
            <a:endParaRPr lang="en-US" sz="850" dirty="0"/>
          </a:p>
        </p:txBody>
      </p:sp>
      <p:sp>
        <p:nvSpPr>
          <p:cNvPr id="15" name="Text 12"/>
          <p:cNvSpPr txBox="1"/>
          <p:nvPr/>
        </p:nvSpPr>
        <p:spPr>
          <a:xfrm>
            <a:off x="4023360" y="3108960"/>
            <a:ext cx="4663440" cy="502920"/>
          </a:xfrm>
          <a:prstGeom prst="rect">
            <a:avLst/>
          </a:prstGeom>
          <a:noFill/>
          <a:ln/>
        </p:spPr>
        <p:txBody>
          <a:bodyPr wrap="square" lIns="0" tIns="0" rIns="0" bIns="0" rtlCol="0" anchor="t"/>
          <a:lstStyle/>
          <a:p>
            <a:pPr indent="0" marL="0">
              <a:buNone/>
            </a:pPr>
            <a:r>
              <a:rPr lang="en-US" sz="950" dirty="0">
                <a:solidFill>
                  <a:srgbClr val="E3E3E3"/>
                </a:solidFill>
                <a:latin typeface="Poppins" pitchFamily="34" charset="0"/>
                <a:ea typeface="Poppins" pitchFamily="34" charset="-122"/>
                <a:cs typeface="Poppins" pitchFamily="34" charset="-120"/>
              </a:rPr>
              <a:t>Pay with Venmo grew 44%. Group plans and gift splitting peak in December, so the card has a natural moment.</a:t>
            </a:r>
            <a:endParaRPr lang="en-US" sz="950" dirty="0"/>
          </a:p>
        </p:txBody>
      </p:sp>
      <p:sp>
        <p:nvSpPr>
          <p:cNvPr id="16" name="Text 13"/>
          <p:cNvSpPr txBox="1"/>
          <p:nvPr/>
        </p:nvSpPr>
        <p:spPr>
          <a:xfrm>
            <a:off x="4023360" y="3657600"/>
            <a:ext cx="4663440" cy="201168"/>
          </a:xfrm>
          <a:prstGeom prst="rect">
            <a:avLst/>
          </a:prstGeom>
          <a:noFill/>
          <a:ln/>
        </p:spPr>
        <p:txBody>
          <a:bodyPr wrap="square" lIns="0" tIns="0" rIns="0" bIns="0" rtlCol="0" anchor="t"/>
          <a:lstStyle/>
          <a:p>
            <a:pPr indent="0" marL="0">
              <a:buNone/>
            </a:pPr>
            <a:r>
              <a:rPr lang="en-US" sz="850" spc="100" kern="0" dirty="0">
                <a:solidFill>
                  <a:srgbClr val="FFC63E"/>
                </a:solidFill>
                <a:latin typeface="Poppins SemiBold" pitchFamily="34" charset="0"/>
                <a:ea typeface="Poppins SemiBold" pitchFamily="34" charset="-122"/>
                <a:cs typeface="Poppins SemiBold" pitchFamily="34" charset="-120"/>
              </a:rPr>
              <a:t>THE DECISION STARTS ON THE TV</a:t>
            </a:r>
            <a:endParaRPr lang="en-US" sz="850" dirty="0"/>
          </a:p>
        </p:txBody>
      </p:sp>
      <p:sp>
        <p:nvSpPr>
          <p:cNvPr id="17" name="Text 14"/>
          <p:cNvSpPr txBox="1"/>
          <p:nvPr/>
        </p:nvSpPr>
        <p:spPr>
          <a:xfrm>
            <a:off x="4023360" y="3886200"/>
            <a:ext cx="4663440" cy="502920"/>
          </a:xfrm>
          <a:prstGeom prst="rect">
            <a:avLst/>
          </a:prstGeom>
          <a:noFill/>
          <a:ln/>
        </p:spPr>
        <p:txBody>
          <a:bodyPr wrap="square" lIns="0" tIns="0" rIns="0" bIns="0" rtlCol="0" anchor="t"/>
          <a:lstStyle/>
          <a:p>
            <a:pPr indent="0" marL="0">
              <a:buNone/>
            </a:pPr>
            <a:r>
              <a:rPr lang="en-US" sz="950" dirty="0">
                <a:solidFill>
                  <a:srgbClr val="E3E3E3"/>
                </a:solidFill>
                <a:latin typeface="Poppins" pitchFamily="34" charset="0"/>
                <a:ea typeface="Poppins" pitchFamily="34" charset="-122"/>
                <a:cs typeface="Poppins" pitchFamily="34" charset="-120"/>
              </a:rPr>
              <a:t>Shoppers plan gifts early and pay later. We put the reason to choose PayPal on the TV, then follow the same home to the phone.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457200"/>
          </a:xfrm>
          <a:prstGeom prst="rect">
            <a:avLst/>
          </a:prstGeom>
          <a:noFill/>
          <a:ln/>
        </p:spPr>
        <p:txBody>
          <a:bodyPr wrap="square" lIns="0" tIns="0" rIns="0" bIns="0" rtlCol="0" anchor="ctr"/>
          <a:lstStyle/>
          <a:p>
            <a:pPr indent="0" marL="0">
              <a:buNone/>
            </a:pPr>
            <a:r>
              <a:rPr lang="en-US" sz="2300" dirty="0">
                <a:solidFill>
                  <a:srgbClr val="FFFFFF"/>
                </a:solidFill>
                <a:latin typeface="Poppins ExtraBold" pitchFamily="34" charset="0"/>
                <a:ea typeface="Poppins ExtraBold" pitchFamily="34" charset="-122"/>
                <a:cs typeface="Poppins ExtraBold" pitchFamily="34" charset="-120"/>
              </a:rPr>
              <a:t>SABIO AT A GLANCE</a:t>
            </a:r>
            <a:endParaRPr lang="en-US" sz="2300" dirty="0"/>
          </a:p>
        </p:txBody>
      </p:sp>
      <p:sp>
        <p:nvSpPr>
          <p:cNvPr id="3" name="Text 1"/>
          <p:cNvSpPr txBox="1"/>
          <p:nvPr/>
        </p:nvSpPr>
        <p:spPr>
          <a:xfrm>
            <a:off x="457200" y="822960"/>
            <a:ext cx="8229600" cy="237744"/>
          </a:xfrm>
          <a:prstGeom prst="rect">
            <a:avLst/>
          </a:prstGeom>
          <a:noFill/>
          <a:ln/>
        </p:spPr>
        <p:txBody>
          <a:bodyPr wrap="square" lIns="0" tIns="0" rIns="0" bIns="0" rtlCol="0" anchor="t"/>
          <a:lstStyle/>
          <a:p>
            <a:pPr indent="0" marL="0">
              <a:buNone/>
            </a:pPr>
            <a:r>
              <a:rPr lang="en-US" sz="850" spc="100" kern="0" dirty="0">
                <a:solidFill>
                  <a:srgbClr val="FFC63E"/>
                </a:solidFill>
                <a:latin typeface="Poppins SemiBold" pitchFamily="34" charset="0"/>
                <a:ea typeface="Poppins SemiBold" pitchFamily="34" charset="-122"/>
                <a:cs typeface="Poppins SemiBold" pitchFamily="34" charset="-120"/>
              </a:rPr>
              <a:t>OUR OWN DATA, AD TECH AND CONTENT SINCE 2014 · A PUBLICIS PARTNER FOR 9+ YEARS</a:t>
            </a:r>
            <a:endParaRPr lang="en-US" sz="850" dirty="0"/>
          </a:p>
        </p:txBody>
      </p:sp>
      <p:sp>
        <p:nvSpPr>
          <p:cNvPr id="4" name="Text 2"/>
          <p:cNvSpPr txBox="1"/>
          <p:nvPr/>
        </p:nvSpPr>
        <p:spPr>
          <a:xfrm>
            <a:off x="457200" y="4832604"/>
            <a:ext cx="365760" cy="182880"/>
          </a:xfrm>
          <a:prstGeom prst="rect">
            <a:avLst/>
          </a:prstGeom>
          <a:noFill/>
          <a:ln/>
        </p:spPr>
        <p:txBody>
          <a:bodyPr wrap="square" lIns="0" tIns="0" rIns="0" bIns="0" rtlCol="0" anchor="t"/>
          <a:lstStyle/>
          <a:p>
            <a:pPr indent="0" marL="0">
              <a:buNone/>
            </a:pPr>
            <a:r>
              <a:rPr lang="en-US" sz="800" dirty="0">
                <a:solidFill>
                  <a:srgbClr val="7E7E7E"/>
                </a:solidFill>
                <a:latin typeface="Poppins SemiBold" pitchFamily="34" charset="0"/>
                <a:ea typeface="Poppins SemiBold" pitchFamily="34" charset="-122"/>
                <a:cs typeface="Poppins SemiBold" pitchFamily="34" charset="-120"/>
              </a:rPr>
              <a:t>4</a:t>
            </a:r>
            <a:endParaRPr lang="en-US" sz="800" dirty="0"/>
          </a:p>
        </p:txBody>
      </p:sp>
      <p:sp>
        <p:nvSpPr>
          <p:cNvPr id="5" name="Text 3"/>
          <p:cNvSpPr txBox="1"/>
          <p:nvPr/>
        </p:nvSpPr>
        <p:spPr>
          <a:xfrm>
            <a:off x="868680" y="4832604"/>
            <a:ext cx="5486400" cy="182880"/>
          </a:xfrm>
          <a:prstGeom prst="rect">
            <a:avLst/>
          </a:prstGeom>
          <a:noFill/>
          <a:ln/>
        </p:spPr>
        <p:txBody>
          <a:bodyPr wrap="square" lIns="0" tIns="0" rIns="0" bIns="0" rtlCol="0" anchor="t"/>
          <a:lstStyle/>
          <a:p>
            <a:pPr indent="0" marL="0">
              <a:buNone/>
            </a:pPr>
            <a:r>
              <a:rPr lang="en-US" sz="700" dirty="0">
                <a:solidFill>
                  <a:srgbClr val="7E7E7E"/>
                </a:solidFill>
                <a:latin typeface="Poppins" pitchFamily="34" charset="0"/>
                <a:ea typeface="Poppins" pitchFamily="34" charset="-122"/>
                <a:cs typeface="Poppins" pitchFamily="34" charset="-120"/>
              </a:rPr>
              <a:t>Sabio × PayPal  ·  Proactive point of view for Zenith  ·  Confidential</a:t>
            </a:r>
            <a:endParaRPr lang="en-US" sz="700" dirty="0"/>
          </a:p>
        </p:txBody>
      </p:sp>
      <p:pic>
        <p:nvPicPr>
          <p:cNvPr id="6" name="Image 0" descr="/home/claude/benjaminbring-cloud/sabio-deck-builders-/assets/sabio-logo-white-sm.png">    </p:cNvPr>
          <p:cNvPicPr>
            <a:picLocks noChangeAspect="1"/>
          </p:cNvPicPr>
          <p:nvPr/>
        </p:nvPicPr>
        <p:blipFill>
          <a:blip r:embed="rId1"/>
          <a:stretch>
            <a:fillRect/>
          </a:stretch>
        </p:blipFill>
        <p:spPr>
          <a:xfrm>
            <a:off x="8028432" y="4805172"/>
            <a:ext cx="647572" cy="155448"/>
          </a:xfrm>
          <a:prstGeom prst="rect">
            <a:avLst/>
          </a:prstGeom>
        </p:spPr>
      </p:pic>
      <p:sp>
        <p:nvSpPr>
          <p:cNvPr id="7" name="Shape 4"/>
          <p:cNvSpPr/>
          <p:nvPr/>
        </p:nvSpPr>
        <p:spPr>
          <a:xfrm>
            <a:off x="457200" y="1170432"/>
            <a:ext cx="1558138" cy="1024128"/>
          </a:xfrm>
          <a:prstGeom prst="rect">
            <a:avLst/>
          </a:prstGeom>
          <a:solidFill>
            <a:srgbClr val="262626"/>
          </a:solidFill>
          <a:ln w="12700">
            <a:solidFill>
              <a:srgbClr val="262626"/>
            </a:solidFill>
            <a:prstDash val="solid"/>
          </a:ln>
        </p:spPr>
      </p:sp>
      <p:sp>
        <p:nvSpPr>
          <p:cNvPr id="8" name="Text 5"/>
          <p:cNvSpPr txBox="1"/>
          <p:nvPr/>
        </p:nvSpPr>
        <p:spPr>
          <a:xfrm>
            <a:off x="566928" y="1243584"/>
            <a:ext cx="1338682" cy="457200"/>
          </a:xfrm>
          <a:prstGeom prst="rect">
            <a:avLst/>
          </a:prstGeom>
          <a:noFill/>
          <a:ln/>
        </p:spPr>
        <p:txBody>
          <a:bodyPr wrap="square" lIns="0" tIns="0" rIns="0" bIns="0" rtlCol="0" anchor="ctr"/>
          <a:lstStyle/>
          <a:p>
            <a:pPr indent="0" marL="0">
              <a:buNone/>
            </a:pPr>
            <a:r>
              <a:rPr lang="en-US" sz="2200" dirty="0">
                <a:solidFill>
                  <a:srgbClr val="FFC63E"/>
                </a:solidFill>
                <a:latin typeface="Poppins ExtraBold" pitchFamily="34" charset="0"/>
                <a:ea typeface="Poppins ExtraBold" pitchFamily="34" charset="-122"/>
                <a:cs typeface="Poppins ExtraBold" pitchFamily="34" charset="-120"/>
              </a:rPr>
              <a:t>2014</a:t>
            </a:r>
            <a:endParaRPr lang="en-US" sz="2200" dirty="0"/>
          </a:p>
        </p:txBody>
      </p:sp>
      <p:sp>
        <p:nvSpPr>
          <p:cNvPr id="9" name="Text 6"/>
          <p:cNvSpPr txBox="1"/>
          <p:nvPr/>
        </p:nvSpPr>
        <p:spPr>
          <a:xfrm>
            <a:off x="566928" y="1719072"/>
            <a:ext cx="1338682" cy="438912"/>
          </a:xfrm>
          <a:prstGeom prst="rect">
            <a:avLst/>
          </a:prstGeom>
          <a:noFill/>
          <a:ln/>
        </p:spPr>
        <p:txBody>
          <a:bodyPr wrap="square" lIns="0" tIns="0" rIns="0" bIns="0" rtlCol="0" anchor="t"/>
          <a:lstStyle/>
          <a:p>
            <a:pPr indent="0" marL="0">
              <a:buNone/>
            </a:pPr>
            <a:r>
              <a:rPr lang="en-US" sz="750" dirty="0">
                <a:solidFill>
                  <a:srgbClr val="A7A7A7"/>
                </a:solidFill>
                <a:latin typeface="Poppins" pitchFamily="34" charset="0"/>
                <a:ea typeface="Poppins" pitchFamily="34" charset="-122"/>
                <a:cs typeface="Poppins" pitchFamily="34" charset="-120"/>
              </a:rPr>
              <a:t>Founded in LA by mobile &amp; TV veterans</a:t>
            </a:r>
            <a:endParaRPr lang="en-US" sz="750" dirty="0"/>
          </a:p>
        </p:txBody>
      </p:sp>
      <p:sp>
        <p:nvSpPr>
          <p:cNvPr id="10" name="Shape 7"/>
          <p:cNvSpPr/>
          <p:nvPr/>
        </p:nvSpPr>
        <p:spPr>
          <a:xfrm>
            <a:off x="2125066" y="1170432"/>
            <a:ext cx="1558138" cy="1024128"/>
          </a:xfrm>
          <a:prstGeom prst="rect">
            <a:avLst/>
          </a:prstGeom>
          <a:solidFill>
            <a:srgbClr val="262626"/>
          </a:solidFill>
          <a:ln w="12700">
            <a:solidFill>
              <a:srgbClr val="262626"/>
            </a:solidFill>
            <a:prstDash val="solid"/>
          </a:ln>
        </p:spPr>
      </p:sp>
      <p:sp>
        <p:nvSpPr>
          <p:cNvPr id="11" name="Text 8"/>
          <p:cNvSpPr txBox="1"/>
          <p:nvPr/>
        </p:nvSpPr>
        <p:spPr>
          <a:xfrm>
            <a:off x="2234794" y="1243584"/>
            <a:ext cx="1338682" cy="457200"/>
          </a:xfrm>
          <a:prstGeom prst="rect">
            <a:avLst/>
          </a:prstGeom>
          <a:noFill/>
          <a:ln/>
        </p:spPr>
        <p:txBody>
          <a:bodyPr wrap="square" lIns="0" tIns="0" rIns="0" bIns="0" rtlCol="0" anchor="ctr"/>
          <a:lstStyle/>
          <a:p>
            <a:pPr indent="0" marL="0">
              <a:buNone/>
            </a:pPr>
            <a:r>
              <a:rPr lang="en-US" sz="2200" dirty="0">
                <a:solidFill>
                  <a:srgbClr val="FFC63E"/>
                </a:solidFill>
                <a:latin typeface="Poppins ExtraBold" pitchFamily="34" charset="0"/>
                <a:ea typeface="Poppins ExtraBold" pitchFamily="34" charset="-122"/>
                <a:cs typeface="Poppins ExtraBold" pitchFamily="34" charset="-120"/>
              </a:rPr>
              <a:t>280MM</a:t>
            </a:r>
            <a:endParaRPr lang="en-US" sz="2200" dirty="0"/>
          </a:p>
        </p:txBody>
      </p:sp>
      <p:sp>
        <p:nvSpPr>
          <p:cNvPr id="12" name="Text 9"/>
          <p:cNvSpPr txBox="1"/>
          <p:nvPr/>
        </p:nvSpPr>
        <p:spPr>
          <a:xfrm>
            <a:off x="2234794" y="1719072"/>
            <a:ext cx="1338682" cy="438912"/>
          </a:xfrm>
          <a:prstGeom prst="rect">
            <a:avLst/>
          </a:prstGeom>
          <a:noFill/>
          <a:ln/>
        </p:spPr>
        <p:txBody>
          <a:bodyPr wrap="square" lIns="0" tIns="0" rIns="0" bIns="0" rtlCol="0" anchor="t"/>
          <a:lstStyle/>
          <a:p>
            <a:pPr indent="0" marL="0">
              <a:buNone/>
            </a:pPr>
            <a:r>
              <a:rPr lang="en-US" sz="750" dirty="0">
                <a:solidFill>
                  <a:srgbClr val="A7A7A7"/>
                </a:solidFill>
                <a:latin typeface="Poppins" pitchFamily="34" charset="0"/>
                <a:ea typeface="Poppins" pitchFamily="34" charset="-122"/>
                <a:cs typeface="Poppins" pitchFamily="34" charset="-120"/>
              </a:rPr>
              <a:t>Mobile devices observed by App Science®</a:t>
            </a:r>
            <a:endParaRPr lang="en-US" sz="750" dirty="0"/>
          </a:p>
        </p:txBody>
      </p:sp>
      <p:sp>
        <p:nvSpPr>
          <p:cNvPr id="13" name="Shape 10"/>
          <p:cNvSpPr/>
          <p:nvPr/>
        </p:nvSpPr>
        <p:spPr>
          <a:xfrm>
            <a:off x="3792931" y="1170432"/>
            <a:ext cx="1558138" cy="1024128"/>
          </a:xfrm>
          <a:prstGeom prst="rect">
            <a:avLst/>
          </a:prstGeom>
          <a:solidFill>
            <a:srgbClr val="262626"/>
          </a:solidFill>
          <a:ln w="12700">
            <a:solidFill>
              <a:srgbClr val="262626"/>
            </a:solidFill>
            <a:prstDash val="solid"/>
          </a:ln>
        </p:spPr>
      </p:sp>
      <p:sp>
        <p:nvSpPr>
          <p:cNvPr id="14" name="Text 11"/>
          <p:cNvSpPr txBox="1"/>
          <p:nvPr/>
        </p:nvSpPr>
        <p:spPr>
          <a:xfrm>
            <a:off x="3902659" y="1243584"/>
            <a:ext cx="1338682" cy="457200"/>
          </a:xfrm>
          <a:prstGeom prst="rect">
            <a:avLst/>
          </a:prstGeom>
          <a:noFill/>
          <a:ln/>
        </p:spPr>
        <p:txBody>
          <a:bodyPr wrap="square" lIns="0" tIns="0" rIns="0" bIns="0" rtlCol="0" anchor="ctr"/>
          <a:lstStyle/>
          <a:p>
            <a:pPr indent="0" marL="0">
              <a:buNone/>
            </a:pPr>
            <a:r>
              <a:rPr lang="en-US" sz="2200" dirty="0">
                <a:solidFill>
                  <a:srgbClr val="FFC63E"/>
                </a:solidFill>
                <a:latin typeface="Poppins ExtraBold" pitchFamily="34" charset="0"/>
                <a:ea typeface="Poppins ExtraBold" pitchFamily="34" charset="-122"/>
                <a:cs typeface="Poppins ExtraBold" pitchFamily="34" charset="-120"/>
              </a:rPr>
              <a:t>115MM</a:t>
            </a:r>
            <a:endParaRPr lang="en-US" sz="2200" dirty="0"/>
          </a:p>
        </p:txBody>
      </p:sp>
      <p:sp>
        <p:nvSpPr>
          <p:cNvPr id="15" name="Text 12"/>
          <p:cNvSpPr txBox="1"/>
          <p:nvPr/>
        </p:nvSpPr>
        <p:spPr>
          <a:xfrm>
            <a:off x="3902659" y="1719072"/>
            <a:ext cx="1338682" cy="438912"/>
          </a:xfrm>
          <a:prstGeom prst="rect">
            <a:avLst/>
          </a:prstGeom>
          <a:noFill/>
          <a:ln/>
        </p:spPr>
        <p:txBody>
          <a:bodyPr wrap="square" lIns="0" tIns="0" rIns="0" bIns="0" rtlCol="0" anchor="t"/>
          <a:lstStyle/>
          <a:p>
            <a:pPr indent="0" marL="0">
              <a:buNone/>
            </a:pPr>
            <a:r>
              <a:rPr lang="en-US" sz="750" dirty="0">
                <a:solidFill>
                  <a:srgbClr val="A7A7A7"/>
                </a:solidFill>
                <a:latin typeface="Poppins" pitchFamily="34" charset="0"/>
                <a:ea typeface="Poppins" pitchFamily="34" charset="-122"/>
                <a:cs typeface="Poppins" pitchFamily="34" charset="-120"/>
              </a:rPr>
              <a:t>CTV devices across 80MM validated households</a:t>
            </a:r>
            <a:endParaRPr lang="en-US" sz="750" dirty="0"/>
          </a:p>
        </p:txBody>
      </p:sp>
      <p:sp>
        <p:nvSpPr>
          <p:cNvPr id="16" name="Shape 13"/>
          <p:cNvSpPr/>
          <p:nvPr/>
        </p:nvSpPr>
        <p:spPr>
          <a:xfrm>
            <a:off x="5460797" y="1170432"/>
            <a:ext cx="1558138" cy="1024128"/>
          </a:xfrm>
          <a:prstGeom prst="rect">
            <a:avLst/>
          </a:prstGeom>
          <a:solidFill>
            <a:srgbClr val="262626"/>
          </a:solidFill>
          <a:ln w="12700">
            <a:solidFill>
              <a:srgbClr val="262626"/>
            </a:solidFill>
            <a:prstDash val="solid"/>
          </a:ln>
        </p:spPr>
      </p:sp>
      <p:sp>
        <p:nvSpPr>
          <p:cNvPr id="17" name="Text 14"/>
          <p:cNvSpPr txBox="1"/>
          <p:nvPr/>
        </p:nvSpPr>
        <p:spPr>
          <a:xfrm>
            <a:off x="5570525" y="1243584"/>
            <a:ext cx="1338682" cy="457200"/>
          </a:xfrm>
          <a:prstGeom prst="rect">
            <a:avLst/>
          </a:prstGeom>
          <a:noFill/>
          <a:ln/>
        </p:spPr>
        <p:txBody>
          <a:bodyPr wrap="square" lIns="0" tIns="0" rIns="0" bIns="0" rtlCol="0" anchor="ctr"/>
          <a:lstStyle/>
          <a:p>
            <a:pPr indent="0" marL="0">
              <a:buNone/>
            </a:pPr>
            <a:r>
              <a:rPr lang="en-US" sz="2200" dirty="0">
                <a:solidFill>
                  <a:srgbClr val="FFC63E"/>
                </a:solidFill>
                <a:latin typeface="Poppins ExtraBold" pitchFamily="34" charset="0"/>
                <a:ea typeface="Poppins ExtraBold" pitchFamily="34" charset="-122"/>
                <a:cs typeface="Poppins ExtraBold" pitchFamily="34" charset="-120"/>
              </a:rPr>
              <a:t>~70%</a:t>
            </a:r>
            <a:endParaRPr lang="en-US" sz="2200" dirty="0"/>
          </a:p>
        </p:txBody>
      </p:sp>
      <p:sp>
        <p:nvSpPr>
          <p:cNvPr id="18" name="Text 15"/>
          <p:cNvSpPr txBox="1"/>
          <p:nvPr/>
        </p:nvSpPr>
        <p:spPr>
          <a:xfrm>
            <a:off x="5570525" y="1719072"/>
            <a:ext cx="1338682" cy="438912"/>
          </a:xfrm>
          <a:prstGeom prst="rect">
            <a:avLst/>
          </a:prstGeom>
          <a:noFill/>
          <a:ln/>
        </p:spPr>
        <p:txBody>
          <a:bodyPr wrap="square" lIns="0" tIns="0" rIns="0" bIns="0" rtlCol="0" anchor="t"/>
          <a:lstStyle/>
          <a:p>
            <a:pPr indent="0" marL="0">
              <a:buNone/>
            </a:pPr>
            <a:r>
              <a:rPr lang="en-US" sz="750" dirty="0">
                <a:solidFill>
                  <a:srgbClr val="A7A7A7"/>
                </a:solidFill>
                <a:latin typeface="Poppins" pitchFamily="34" charset="0"/>
                <a:ea typeface="Poppins" pitchFamily="34" charset="-122"/>
                <a:cs typeface="Poppins" pitchFamily="34" charset="-120"/>
              </a:rPr>
              <a:t>Of US streaming households</a:t>
            </a:r>
            <a:endParaRPr lang="en-US" sz="750" dirty="0"/>
          </a:p>
        </p:txBody>
      </p:sp>
      <p:sp>
        <p:nvSpPr>
          <p:cNvPr id="19" name="Shape 16"/>
          <p:cNvSpPr/>
          <p:nvPr/>
        </p:nvSpPr>
        <p:spPr>
          <a:xfrm>
            <a:off x="7128662" y="1170432"/>
            <a:ext cx="1558138" cy="1024128"/>
          </a:xfrm>
          <a:prstGeom prst="rect">
            <a:avLst/>
          </a:prstGeom>
          <a:solidFill>
            <a:srgbClr val="262626"/>
          </a:solidFill>
          <a:ln w="12700">
            <a:solidFill>
              <a:srgbClr val="262626"/>
            </a:solidFill>
            <a:prstDash val="solid"/>
          </a:ln>
        </p:spPr>
      </p:sp>
      <p:sp>
        <p:nvSpPr>
          <p:cNvPr id="20" name="Text 17"/>
          <p:cNvSpPr txBox="1"/>
          <p:nvPr/>
        </p:nvSpPr>
        <p:spPr>
          <a:xfrm>
            <a:off x="7238390" y="1243584"/>
            <a:ext cx="1338682" cy="457200"/>
          </a:xfrm>
          <a:prstGeom prst="rect">
            <a:avLst/>
          </a:prstGeom>
          <a:noFill/>
          <a:ln/>
        </p:spPr>
        <p:txBody>
          <a:bodyPr wrap="square" lIns="0" tIns="0" rIns="0" bIns="0" rtlCol="0" anchor="ctr"/>
          <a:lstStyle/>
          <a:p>
            <a:pPr indent="0" marL="0">
              <a:buNone/>
            </a:pPr>
            <a:r>
              <a:rPr lang="en-US" sz="2200" dirty="0">
                <a:solidFill>
                  <a:srgbClr val="FFC63E"/>
                </a:solidFill>
                <a:latin typeface="Poppins ExtraBold" pitchFamily="34" charset="0"/>
                <a:ea typeface="Poppins ExtraBold" pitchFamily="34" charset="-122"/>
                <a:cs typeface="Poppins ExtraBold" pitchFamily="34" charset="-120"/>
              </a:rPr>
              <a:t>SBIO</a:t>
            </a:r>
            <a:endParaRPr lang="en-US" sz="2200" dirty="0"/>
          </a:p>
        </p:txBody>
      </p:sp>
      <p:sp>
        <p:nvSpPr>
          <p:cNvPr id="21" name="Text 18"/>
          <p:cNvSpPr txBox="1"/>
          <p:nvPr/>
        </p:nvSpPr>
        <p:spPr>
          <a:xfrm>
            <a:off x="7238390" y="1719072"/>
            <a:ext cx="1338682" cy="438912"/>
          </a:xfrm>
          <a:prstGeom prst="rect">
            <a:avLst/>
          </a:prstGeom>
          <a:noFill/>
          <a:ln/>
        </p:spPr>
        <p:txBody>
          <a:bodyPr wrap="square" lIns="0" tIns="0" rIns="0" bIns="0" rtlCol="0" anchor="t"/>
          <a:lstStyle/>
          <a:p>
            <a:pPr indent="0" marL="0">
              <a:buNone/>
            </a:pPr>
            <a:r>
              <a:rPr lang="en-US" sz="750" dirty="0">
                <a:solidFill>
                  <a:srgbClr val="A7A7A7"/>
                </a:solidFill>
                <a:latin typeface="Poppins" pitchFamily="34" charset="0"/>
                <a:ea typeface="Poppins" pitchFamily="34" charset="-122"/>
                <a:cs typeface="Poppins" pitchFamily="34" charset="-120"/>
              </a:rPr>
              <a:t>TSXV listed · NMSDC-certified MBE</a:t>
            </a:r>
            <a:endParaRPr lang="en-US" sz="750" dirty="0"/>
          </a:p>
        </p:txBody>
      </p:sp>
      <p:sp>
        <p:nvSpPr>
          <p:cNvPr id="22" name="Text 19"/>
          <p:cNvSpPr txBox="1"/>
          <p:nvPr/>
        </p:nvSpPr>
        <p:spPr>
          <a:xfrm>
            <a:off x="457200" y="2377440"/>
            <a:ext cx="2645664" cy="219456"/>
          </a:xfrm>
          <a:prstGeom prst="rect">
            <a:avLst/>
          </a:prstGeom>
          <a:noFill/>
          <a:ln/>
        </p:spPr>
        <p:txBody>
          <a:bodyPr wrap="square" lIns="0" tIns="0" rIns="0" bIns="0" rtlCol="0" anchor="t"/>
          <a:lstStyle/>
          <a:p>
            <a:pPr indent="0" marL="0">
              <a:buNone/>
            </a:pPr>
            <a:r>
              <a:rPr lang="en-US" sz="900" spc="100" kern="0" dirty="0">
                <a:solidFill>
                  <a:srgbClr val="FFC63E"/>
                </a:solidFill>
                <a:latin typeface="Poppins SemiBold" pitchFamily="34" charset="0"/>
                <a:ea typeface="Poppins SemiBold" pitchFamily="34" charset="-122"/>
                <a:cs typeface="Poppins SemiBold" pitchFamily="34" charset="-120"/>
              </a:rPr>
              <a:t>OUR OWN DATA</a:t>
            </a:r>
            <a:endParaRPr lang="en-US" sz="900" dirty="0"/>
          </a:p>
        </p:txBody>
      </p:sp>
      <p:sp>
        <p:nvSpPr>
          <p:cNvPr id="23" name="Text 20"/>
          <p:cNvSpPr txBox="1"/>
          <p:nvPr/>
        </p:nvSpPr>
        <p:spPr>
          <a:xfrm>
            <a:off x="457200" y="2633472"/>
            <a:ext cx="2645664" cy="868680"/>
          </a:xfrm>
          <a:prstGeom prst="rect">
            <a:avLst/>
          </a:prstGeom>
          <a:noFill/>
          <a:ln/>
        </p:spPr>
        <p:txBody>
          <a:bodyPr wrap="square" lIns="0" tIns="0" rIns="0" bIns="0" rtlCol="0" anchor="t"/>
          <a:lstStyle/>
          <a:p>
            <a:pPr indent="0" marL="0">
              <a:buNone/>
            </a:pPr>
            <a:r>
              <a:rPr lang="en-US" sz="850" dirty="0">
                <a:solidFill>
                  <a:srgbClr val="E3E3E3"/>
                </a:solidFill>
                <a:latin typeface="Poppins" pitchFamily="34" charset="0"/>
                <a:ea typeface="Poppins" pitchFamily="34" charset="-122"/>
                <a:cs typeface="Poppins" pitchFamily="34" charset="-120"/>
              </a:rPr>
              <a:t>App Science® reads real on-device app ownership and use, opened in the last 30 days. First-party signal, not licensed third-party segments or panel inference.</a:t>
            </a:r>
            <a:endParaRPr lang="en-US" sz="850" dirty="0"/>
          </a:p>
        </p:txBody>
      </p:sp>
      <p:sp>
        <p:nvSpPr>
          <p:cNvPr id="24" name="Text 21"/>
          <p:cNvSpPr txBox="1"/>
          <p:nvPr/>
        </p:nvSpPr>
        <p:spPr>
          <a:xfrm>
            <a:off x="3249168" y="2377440"/>
            <a:ext cx="2645664" cy="219456"/>
          </a:xfrm>
          <a:prstGeom prst="rect">
            <a:avLst/>
          </a:prstGeom>
          <a:noFill/>
          <a:ln/>
        </p:spPr>
        <p:txBody>
          <a:bodyPr wrap="square" lIns="0" tIns="0" rIns="0" bIns="0" rtlCol="0" anchor="t"/>
          <a:lstStyle/>
          <a:p>
            <a:pPr indent="0" marL="0">
              <a:buNone/>
            </a:pPr>
            <a:r>
              <a:rPr lang="en-US" sz="900" spc="100" kern="0" dirty="0">
                <a:solidFill>
                  <a:srgbClr val="FFC63E"/>
                </a:solidFill>
                <a:latin typeface="Poppins SemiBold" pitchFamily="34" charset="0"/>
                <a:ea typeface="Poppins SemiBold" pitchFamily="34" charset="-122"/>
                <a:cs typeface="Poppins SemiBold" pitchFamily="34" charset="-120"/>
              </a:rPr>
              <a:t>OUR OWN TECH</a:t>
            </a:r>
            <a:endParaRPr lang="en-US" sz="900" dirty="0"/>
          </a:p>
        </p:txBody>
      </p:sp>
      <p:sp>
        <p:nvSpPr>
          <p:cNvPr id="25" name="Text 22"/>
          <p:cNvSpPr txBox="1"/>
          <p:nvPr/>
        </p:nvSpPr>
        <p:spPr>
          <a:xfrm>
            <a:off x="3249168" y="2633472"/>
            <a:ext cx="2645664" cy="868680"/>
          </a:xfrm>
          <a:prstGeom prst="rect">
            <a:avLst/>
          </a:prstGeom>
          <a:noFill/>
          <a:ln/>
        </p:spPr>
        <p:txBody>
          <a:bodyPr wrap="square" lIns="0" tIns="0" rIns="0" bIns="0" rtlCol="0" anchor="t"/>
          <a:lstStyle/>
          <a:p>
            <a:pPr indent="0" marL="0">
              <a:buNone/>
            </a:pPr>
            <a:r>
              <a:rPr lang="en-US" sz="850" dirty="0">
                <a:solidFill>
                  <a:srgbClr val="E3E3E3"/>
                </a:solidFill>
                <a:latin typeface="Poppins" pitchFamily="34" charset="0"/>
                <a:ea typeface="Poppins" pitchFamily="34" charset="-122"/>
                <a:cs typeface="Poppins" pitchFamily="34" charset="-120"/>
              </a:rPr>
              <a:t>Sabio DSP, SSP and ad server built for CTV. The same stack powers always-on PMP Deal IDs and managed IO, so we can commit supply, not resell it.</a:t>
            </a:r>
            <a:endParaRPr lang="en-US" sz="850" dirty="0"/>
          </a:p>
        </p:txBody>
      </p:sp>
      <p:sp>
        <p:nvSpPr>
          <p:cNvPr id="26" name="Text 23"/>
          <p:cNvSpPr txBox="1"/>
          <p:nvPr/>
        </p:nvSpPr>
        <p:spPr>
          <a:xfrm>
            <a:off x="6041136" y="2377440"/>
            <a:ext cx="2645664" cy="219456"/>
          </a:xfrm>
          <a:prstGeom prst="rect">
            <a:avLst/>
          </a:prstGeom>
          <a:noFill/>
          <a:ln/>
        </p:spPr>
        <p:txBody>
          <a:bodyPr wrap="square" lIns="0" tIns="0" rIns="0" bIns="0" rtlCol="0" anchor="t"/>
          <a:lstStyle/>
          <a:p>
            <a:pPr indent="0" marL="0">
              <a:buNone/>
            </a:pPr>
            <a:r>
              <a:rPr lang="en-US" sz="900" spc="100" kern="0" dirty="0">
                <a:solidFill>
                  <a:srgbClr val="FFC63E"/>
                </a:solidFill>
                <a:latin typeface="Poppins SemiBold" pitchFamily="34" charset="0"/>
                <a:ea typeface="Poppins SemiBold" pitchFamily="34" charset="-122"/>
                <a:cs typeface="Poppins SemiBold" pitchFamily="34" charset="-120"/>
              </a:rPr>
              <a:t>OUR OWN CONTENT</a:t>
            </a:r>
            <a:endParaRPr lang="en-US" sz="900" dirty="0"/>
          </a:p>
        </p:txBody>
      </p:sp>
      <p:sp>
        <p:nvSpPr>
          <p:cNvPr id="27" name="Text 24"/>
          <p:cNvSpPr txBox="1"/>
          <p:nvPr/>
        </p:nvSpPr>
        <p:spPr>
          <a:xfrm>
            <a:off x="6041136" y="2633472"/>
            <a:ext cx="2645664" cy="868680"/>
          </a:xfrm>
          <a:prstGeom prst="rect">
            <a:avLst/>
          </a:prstGeom>
          <a:noFill/>
          <a:ln/>
        </p:spPr>
        <p:txBody>
          <a:bodyPr wrap="square" lIns="0" tIns="0" rIns="0" bIns="0" rtlCol="0" anchor="t"/>
          <a:lstStyle/>
          <a:p>
            <a:pPr indent="0" marL="0">
              <a:buNone/>
            </a:pPr>
            <a:r>
              <a:rPr lang="en-US" sz="850" dirty="0">
                <a:solidFill>
                  <a:srgbClr val="E3E3E3"/>
                </a:solidFill>
                <a:latin typeface="Poppins" pitchFamily="34" charset="0"/>
                <a:ea typeface="Poppins" pitchFamily="34" charset="-122"/>
                <a:cs typeface="Poppins" pitchFamily="34" charset="-120"/>
              </a:rPr>
              <a:t>Creator TV®, our owned-and-operated streaming channel, puts creator-led spots and integrations next to the audience buy.</a:t>
            </a:r>
            <a:endParaRPr lang="en-US" sz="850" dirty="0"/>
          </a:p>
        </p:txBody>
      </p:sp>
      <p:sp>
        <p:nvSpPr>
          <p:cNvPr id="28" name="Shape 25"/>
          <p:cNvSpPr/>
          <p:nvPr/>
        </p:nvSpPr>
        <p:spPr>
          <a:xfrm>
            <a:off x="457200" y="3611880"/>
            <a:ext cx="8229600" cy="566928"/>
          </a:xfrm>
          <a:prstGeom prst="rect">
            <a:avLst/>
          </a:prstGeom>
          <a:solidFill>
            <a:srgbClr val="FFC63E"/>
          </a:solidFill>
          <a:ln w="12700">
            <a:solidFill>
              <a:srgbClr val="FFC63E"/>
            </a:solidFill>
            <a:prstDash val="solid"/>
          </a:ln>
        </p:spPr>
      </p:sp>
      <p:sp>
        <p:nvSpPr>
          <p:cNvPr id="29" name="Text 26"/>
          <p:cNvSpPr txBox="1"/>
          <p:nvPr/>
        </p:nvSpPr>
        <p:spPr>
          <a:xfrm>
            <a:off x="640080" y="3611880"/>
            <a:ext cx="7863840" cy="566928"/>
          </a:xfrm>
          <a:prstGeom prst="rect">
            <a:avLst/>
          </a:prstGeom>
          <a:noFill/>
          <a:ln/>
        </p:spPr>
        <p:txBody>
          <a:bodyPr wrap="square" lIns="0" tIns="0" rIns="0" bIns="0" rtlCol="0" anchor="ctr"/>
          <a:lstStyle/>
          <a:p>
            <a:pPr indent="0" marL="0">
              <a:buNone/>
            </a:pPr>
            <a:r>
              <a:rPr lang="en-US" sz="950" dirty="0">
                <a:solidFill>
                  <a:srgbClr val="1A1A1A"/>
                </a:solidFill>
                <a:latin typeface="Poppins ExtraBold" pitchFamily="34" charset="0"/>
                <a:ea typeface="Poppins ExtraBold" pitchFamily="34" charset="-122"/>
                <a:cs typeface="Poppins ExtraBold" pitchFamily="34" charset="-120"/>
              </a:rPr>
              <a:t>WHAT IT MEANS FOR PAYPAL:  </a:t>
            </a:r>
            <a:pPr indent="0" marL="0">
              <a:buNone/>
            </a:pPr>
            <a:r>
              <a:rPr lang="en-US" sz="950" dirty="0">
                <a:solidFill>
                  <a:srgbClr val="1A1A1A"/>
                </a:solidFill>
                <a:latin typeface="Poppins" pitchFamily="34" charset="0"/>
                <a:ea typeface="Poppins" pitchFamily="34" charset="-122"/>
                <a:cs typeface="Poppins" pitchFamily="34" charset="-120"/>
              </a:rPr>
              <a:t>the homes paying with other wallets, splitting with friends or shopping early, found by the apps they use and reached on 115MM CTV households.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457200"/>
          </a:xfrm>
          <a:prstGeom prst="rect">
            <a:avLst/>
          </a:prstGeom>
          <a:noFill/>
          <a:ln/>
        </p:spPr>
        <p:txBody>
          <a:bodyPr wrap="square" lIns="0" tIns="0" rIns="0" bIns="0" rtlCol="0" anchor="ctr"/>
          <a:lstStyle/>
          <a:p>
            <a:pPr indent="0" marL="0">
              <a:buNone/>
            </a:pPr>
            <a:r>
              <a:rPr lang="en-US" sz="2000" dirty="0">
                <a:solidFill>
                  <a:srgbClr val="FFFFFF"/>
                </a:solidFill>
                <a:latin typeface="Poppins ExtraBold" pitchFamily="34" charset="0"/>
                <a:ea typeface="Poppins ExtraBold" pitchFamily="34" charset="-122"/>
                <a:cs typeface="Poppins ExtraBold" pitchFamily="34" charset="-120"/>
              </a:rPr>
              <a:t>THREE AUDIENCES FOR THE HOLIDAY CHECKOUT</a:t>
            </a:r>
            <a:endParaRPr lang="en-US" sz="2000" dirty="0"/>
          </a:p>
        </p:txBody>
      </p:sp>
      <p:sp>
        <p:nvSpPr>
          <p:cNvPr id="3" name="Text 1"/>
          <p:cNvSpPr txBox="1"/>
          <p:nvPr/>
        </p:nvSpPr>
        <p:spPr>
          <a:xfrm>
            <a:off x="457200" y="822960"/>
            <a:ext cx="8229600" cy="237744"/>
          </a:xfrm>
          <a:prstGeom prst="rect">
            <a:avLst/>
          </a:prstGeom>
          <a:noFill/>
          <a:ln/>
        </p:spPr>
        <p:txBody>
          <a:bodyPr wrap="square" lIns="0" tIns="0" rIns="0" bIns="0" rtlCol="0" anchor="t"/>
          <a:lstStyle/>
          <a:p>
            <a:pPr indent="0" marL="0">
              <a:buNone/>
            </a:pPr>
            <a:r>
              <a:rPr lang="en-US" sz="850" spc="100" kern="0" dirty="0">
                <a:solidFill>
                  <a:srgbClr val="FFC63E"/>
                </a:solidFill>
                <a:latin typeface="Poppins SemiBold" pitchFamily="34" charset="0"/>
                <a:ea typeface="Poppins SemiBold" pitchFamily="34" charset="-122"/>
                <a:cs typeface="Poppins SemiBold" pitchFamily="34" charset="-120"/>
              </a:rPr>
              <a:t>EACH ONE IS AN APP ECOSYSTEM, NOT A DEMOGRAPHIC · SIZED ON THE FINAL BUILD</a:t>
            </a:r>
            <a:endParaRPr lang="en-US" sz="850" dirty="0"/>
          </a:p>
        </p:txBody>
      </p:sp>
      <p:sp>
        <p:nvSpPr>
          <p:cNvPr id="4" name="Text 2"/>
          <p:cNvSpPr txBox="1"/>
          <p:nvPr/>
        </p:nvSpPr>
        <p:spPr>
          <a:xfrm>
            <a:off x="457200" y="4539996"/>
            <a:ext cx="7040880" cy="237744"/>
          </a:xfrm>
          <a:prstGeom prst="rect">
            <a:avLst/>
          </a:prstGeom>
          <a:noFill/>
          <a:ln/>
        </p:spPr>
        <p:txBody>
          <a:bodyPr wrap="square" lIns="0" tIns="0" rIns="0" bIns="0" rtlCol="0" anchor="b"/>
          <a:lstStyle/>
          <a:p>
            <a:pPr indent="0" marL="0">
              <a:buNone/>
            </a:pPr>
            <a:r>
              <a:rPr lang="en-US" sz="650" dirty="0">
                <a:solidFill>
                  <a:srgbClr val="7E7E7E"/>
                </a:solidFill>
                <a:latin typeface="Poppins" pitchFamily="34" charset="0"/>
                <a:ea typeface="Poppins" pitchFamily="34" charset="-122"/>
                <a:cs typeface="Poppins" pitchFamily="34" charset="-120"/>
              </a:rPr>
              <a:t>We see which apps are on a device and when they were used, never balances, transactions or anything typed inside an app. PayPal and Venmo users can be suppressed for reach or reinforced. App lists finalized with PayPal and Zenith.</a:t>
            </a:r>
            <a:endParaRPr lang="en-US" sz="650" dirty="0"/>
          </a:p>
        </p:txBody>
      </p:sp>
      <p:sp>
        <p:nvSpPr>
          <p:cNvPr id="5" name="Text 3"/>
          <p:cNvSpPr txBox="1"/>
          <p:nvPr/>
        </p:nvSpPr>
        <p:spPr>
          <a:xfrm>
            <a:off x="457200" y="4832604"/>
            <a:ext cx="365760" cy="182880"/>
          </a:xfrm>
          <a:prstGeom prst="rect">
            <a:avLst/>
          </a:prstGeom>
          <a:noFill/>
          <a:ln/>
        </p:spPr>
        <p:txBody>
          <a:bodyPr wrap="square" lIns="0" tIns="0" rIns="0" bIns="0" rtlCol="0" anchor="t"/>
          <a:lstStyle/>
          <a:p>
            <a:pPr indent="0" marL="0">
              <a:buNone/>
            </a:pPr>
            <a:r>
              <a:rPr lang="en-US" sz="800" dirty="0">
                <a:solidFill>
                  <a:srgbClr val="7E7E7E"/>
                </a:solidFill>
                <a:latin typeface="Poppins SemiBold" pitchFamily="34" charset="0"/>
                <a:ea typeface="Poppins SemiBold" pitchFamily="34" charset="-122"/>
                <a:cs typeface="Poppins SemiBold" pitchFamily="34" charset="-120"/>
              </a:rPr>
              <a:t>5</a:t>
            </a:r>
            <a:endParaRPr lang="en-US" sz="800" dirty="0"/>
          </a:p>
        </p:txBody>
      </p:sp>
      <p:sp>
        <p:nvSpPr>
          <p:cNvPr id="6" name="Text 4"/>
          <p:cNvSpPr txBox="1"/>
          <p:nvPr/>
        </p:nvSpPr>
        <p:spPr>
          <a:xfrm>
            <a:off x="868680" y="4832604"/>
            <a:ext cx="5486400" cy="182880"/>
          </a:xfrm>
          <a:prstGeom prst="rect">
            <a:avLst/>
          </a:prstGeom>
          <a:noFill/>
          <a:ln/>
        </p:spPr>
        <p:txBody>
          <a:bodyPr wrap="square" lIns="0" tIns="0" rIns="0" bIns="0" rtlCol="0" anchor="t"/>
          <a:lstStyle/>
          <a:p>
            <a:pPr indent="0" marL="0">
              <a:buNone/>
            </a:pPr>
            <a:r>
              <a:rPr lang="en-US" sz="700" dirty="0">
                <a:solidFill>
                  <a:srgbClr val="7E7E7E"/>
                </a:solidFill>
                <a:latin typeface="Poppins" pitchFamily="34" charset="0"/>
                <a:ea typeface="Poppins" pitchFamily="34" charset="-122"/>
                <a:cs typeface="Poppins" pitchFamily="34" charset="-120"/>
              </a:rPr>
              <a:t>Sabio × PayPal  ·  Proactive point of view for Zenith  ·  Confidential</a:t>
            </a:r>
            <a:endParaRPr lang="en-US" sz="700" dirty="0"/>
          </a:p>
        </p:txBody>
      </p:sp>
      <p:pic>
        <p:nvPicPr>
          <p:cNvPr id="7" name="Image 0" descr="/home/claude/benjaminbring-cloud/sabio-deck-builders-/assets/sabio-logo-white-sm.png">    </p:cNvPr>
          <p:cNvPicPr>
            <a:picLocks noChangeAspect="1"/>
          </p:cNvPicPr>
          <p:nvPr/>
        </p:nvPicPr>
        <p:blipFill>
          <a:blip r:embed="rId1"/>
          <a:stretch>
            <a:fillRect/>
          </a:stretch>
        </p:blipFill>
        <p:spPr>
          <a:xfrm>
            <a:off x="8028432" y="4805172"/>
            <a:ext cx="647572" cy="155448"/>
          </a:xfrm>
          <a:prstGeom prst="rect">
            <a:avLst/>
          </a:prstGeom>
        </p:spPr>
      </p:pic>
      <p:sp>
        <p:nvSpPr>
          <p:cNvPr id="8" name="Shape 5"/>
          <p:cNvSpPr/>
          <p:nvPr/>
        </p:nvSpPr>
        <p:spPr>
          <a:xfrm>
            <a:off x="457200" y="1188720"/>
            <a:ext cx="2645664" cy="3246120"/>
          </a:xfrm>
          <a:prstGeom prst="rect">
            <a:avLst/>
          </a:prstGeom>
          <a:solidFill>
            <a:srgbClr val="262626"/>
          </a:solidFill>
          <a:ln w="12700">
            <a:solidFill>
              <a:srgbClr val="262626"/>
            </a:solidFill>
            <a:prstDash val="solid"/>
          </a:ln>
        </p:spPr>
      </p:sp>
      <p:sp>
        <p:nvSpPr>
          <p:cNvPr id="9" name="Text 6"/>
          <p:cNvSpPr txBox="1"/>
          <p:nvPr/>
        </p:nvSpPr>
        <p:spPr>
          <a:xfrm>
            <a:off x="621792" y="1335024"/>
            <a:ext cx="2316480" cy="182880"/>
          </a:xfrm>
          <a:prstGeom prst="rect">
            <a:avLst/>
          </a:prstGeom>
          <a:noFill/>
          <a:ln/>
        </p:spPr>
        <p:txBody>
          <a:bodyPr wrap="square" lIns="0" tIns="0" rIns="0" bIns="0" rtlCol="0" anchor="t"/>
          <a:lstStyle/>
          <a:p>
            <a:pPr indent="0" marL="0">
              <a:buNone/>
            </a:pPr>
            <a:r>
              <a:rPr lang="en-US" sz="750" spc="100" kern="0" dirty="0">
                <a:solidFill>
                  <a:srgbClr val="FFC63E"/>
                </a:solidFill>
                <a:latin typeface="Poppins SemiBold" pitchFamily="34" charset="0"/>
                <a:ea typeface="Poppins SemiBold" pitchFamily="34" charset="-122"/>
                <a:cs typeface="Poppins SemiBold" pitchFamily="34" charset="-120"/>
              </a:rPr>
              <a:t>CONQUEST</a:t>
            </a:r>
            <a:endParaRPr lang="en-US" sz="750" dirty="0"/>
          </a:p>
        </p:txBody>
      </p:sp>
      <p:sp>
        <p:nvSpPr>
          <p:cNvPr id="10" name="Text 7"/>
          <p:cNvSpPr txBox="1"/>
          <p:nvPr/>
        </p:nvSpPr>
        <p:spPr>
          <a:xfrm>
            <a:off x="621792" y="1554480"/>
            <a:ext cx="2316480" cy="411480"/>
          </a:xfrm>
          <a:prstGeom prst="rect">
            <a:avLst/>
          </a:prstGeom>
          <a:noFill/>
          <a:ln/>
        </p:spPr>
        <p:txBody>
          <a:bodyPr wrap="square" lIns="0" tIns="0" rIns="0" bIns="0" rtlCol="0" anchor="ctr"/>
          <a:lstStyle/>
          <a:p>
            <a:pPr indent="0" marL="0">
              <a:buNone/>
            </a:pPr>
            <a:r>
              <a:rPr lang="en-US" sz="1200" dirty="0">
                <a:solidFill>
                  <a:srgbClr val="FFFFFF"/>
                </a:solidFill>
                <a:latin typeface="Poppins ExtraBold" pitchFamily="34" charset="0"/>
                <a:ea typeface="Poppins ExtraBold" pitchFamily="34" charset="-122"/>
                <a:cs typeface="Poppins ExtraBold" pitchFamily="34" charset="-120"/>
              </a:rPr>
              <a:t>THE OTHER WALLET</a:t>
            </a:r>
            <a:endParaRPr lang="en-US" sz="1200" dirty="0"/>
          </a:p>
        </p:txBody>
      </p:sp>
      <p:sp>
        <p:nvSpPr>
          <p:cNvPr id="11" name="Text 8"/>
          <p:cNvSpPr txBox="1"/>
          <p:nvPr/>
        </p:nvSpPr>
        <p:spPr>
          <a:xfrm>
            <a:off x="621792" y="2011680"/>
            <a:ext cx="2316480" cy="548640"/>
          </a:xfrm>
          <a:prstGeom prst="rect">
            <a:avLst/>
          </a:prstGeom>
          <a:noFill/>
          <a:ln/>
        </p:spPr>
        <p:txBody>
          <a:bodyPr wrap="square" lIns="0" tIns="0" rIns="0" bIns="0" rtlCol="0" anchor="t"/>
          <a:lstStyle/>
          <a:p>
            <a:pPr indent="0" marL="0">
              <a:buNone/>
            </a:pPr>
            <a:r>
              <a:rPr lang="en-US" sz="850" dirty="0">
                <a:solidFill>
                  <a:srgbClr val="E3E3E3"/>
                </a:solidFill>
                <a:latin typeface="Poppins" pitchFamily="34" charset="0"/>
                <a:ea typeface="Poppins" pitchFamily="34" charset="-122"/>
                <a:cs typeface="Poppins" pitchFamily="34" charset="-120"/>
              </a:rPr>
              <a:t>Pays with Cash App or a pay-later app, and no PayPal app in the home.</a:t>
            </a:r>
            <a:endParaRPr lang="en-US" sz="850" dirty="0"/>
          </a:p>
        </p:txBody>
      </p:sp>
      <p:sp>
        <p:nvSpPr>
          <p:cNvPr id="12" name="Text 9"/>
          <p:cNvSpPr txBox="1"/>
          <p:nvPr/>
        </p:nvSpPr>
        <p:spPr>
          <a:xfrm>
            <a:off x="621792" y="2606040"/>
            <a:ext cx="2316480" cy="164592"/>
          </a:xfrm>
          <a:prstGeom prst="rect">
            <a:avLst/>
          </a:prstGeom>
          <a:noFill/>
          <a:ln/>
        </p:spPr>
        <p:txBody>
          <a:bodyPr wrap="square" lIns="0" tIns="0" rIns="0" bIns="0" rtlCol="0" anchor="t"/>
          <a:lstStyle/>
          <a:p>
            <a:pPr indent="0" marL="0">
              <a:buNone/>
            </a:pPr>
            <a:r>
              <a:rPr lang="en-US" sz="700" spc="100" kern="0" dirty="0">
                <a:solidFill>
                  <a:srgbClr val="7E7E7E"/>
                </a:solidFill>
                <a:latin typeface="Poppins SemiBold" pitchFamily="34" charset="0"/>
                <a:ea typeface="Poppins SemiBold" pitchFamily="34" charset="-122"/>
                <a:cs typeface="Poppins SemiBold" pitchFamily="34" charset="-120"/>
              </a:rPr>
              <a:t>APP ECOSYSTEM</a:t>
            </a:r>
            <a:endParaRPr lang="en-US" sz="700" dirty="0"/>
          </a:p>
        </p:txBody>
      </p:sp>
      <p:sp>
        <p:nvSpPr>
          <p:cNvPr id="13" name="Text 10"/>
          <p:cNvSpPr txBox="1"/>
          <p:nvPr/>
        </p:nvSpPr>
        <p:spPr>
          <a:xfrm>
            <a:off x="621792" y="2788920"/>
            <a:ext cx="2316480" cy="502920"/>
          </a:xfrm>
          <a:prstGeom prst="rect">
            <a:avLst/>
          </a:prstGeom>
          <a:noFill/>
          <a:ln/>
        </p:spPr>
        <p:txBody>
          <a:bodyPr wrap="square" lIns="0" tIns="0" rIns="0" bIns="0" rtlCol="0" anchor="t"/>
          <a:lstStyle/>
          <a:p>
            <a:pPr indent="0" marL="0">
              <a:buNone/>
            </a:pPr>
            <a:r>
              <a:rPr lang="en-US" sz="850" dirty="0">
                <a:solidFill>
                  <a:srgbClr val="FFFFFF"/>
                </a:solidFill>
                <a:latin typeface="Poppins SemiBold" pitchFamily="34" charset="0"/>
                <a:ea typeface="Poppins SemiBold" pitchFamily="34" charset="-122"/>
                <a:cs typeface="Poppins SemiBold" pitchFamily="34" charset="-120"/>
              </a:rPr>
              <a:t>Cash App · Klarna · Afterpay · Affirm · Zelle</a:t>
            </a:r>
            <a:endParaRPr lang="en-US" sz="850" dirty="0"/>
          </a:p>
        </p:txBody>
      </p:sp>
      <p:sp>
        <p:nvSpPr>
          <p:cNvPr id="14" name="Text 11"/>
          <p:cNvSpPr txBox="1"/>
          <p:nvPr/>
        </p:nvSpPr>
        <p:spPr>
          <a:xfrm>
            <a:off x="621792" y="3337560"/>
            <a:ext cx="2316480" cy="365760"/>
          </a:xfrm>
          <a:prstGeom prst="rect">
            <a:avLst/>
          </a:prstGeom>
          <a:noFill/>
          <a:ln/>
        </p:spPr>
        <p:txBody>
          <a:bodyPr wrap="square" lIns="0" tIns="0" rIns="0" bIns="0" rtlCol="0" anchor="t"/>
          <a:lstStyle/>
          <a:p>
            <a:pPr indent="0" marL="0">
              <a:buNone/>
            </a:pPr>
            <a:r>
              <a:rPr lang="en-US" sz="850" i="1" dirty="0">
                <a:solidFill>
                  <a:srgbClr val="FFE7B5"/>
                </a:solidFill>
                <a:latin typeface="Poppins" pitchFamily="34" charset="0"/>
                <a:ea typeface="Poppins" pitchFamily="34" charset="-122"/>
                <a:cs typeface="Poppins" pitchFamily="34" charset="-120"/>
              </a:rPr>
              <a:t>Make PayPal and Pay Later the holiday default</a:t>
            </a:r>
            <a:endParaRPr lang="en-US" sz="850" dirty="0"/>
          </a:p>
        </p:txBody>
      </p:sp>
      <p:sp>
        <p:nvSpPr>
          <p:cNvPr id="15" name="Shape 12"/>
          <p:cNvSpPr/>
          <p:nvPr/>
        </p:nvSpPr>
        <p:spPr>
          <a:xfrm>
            <a:off x="621792" y="3767328"/>
            <a:ext cx="2316480" cy="512064"/>
          </a:xfrm>
          <a:prstGeom prst="rect">
            <a:avLst/>
          </a:prstGeom>
          <a:solidFill>
            <a:srgbClr val="2F2F2F"/>
          </a:solidFill>
          <a:ln w="12700">
            <a:solidFill>
              <a:srgbClr val="2F2F2F"/>
            </a:solidFill>
            <a:prstDash val="solid"/>
          </a:ln>
        </p:spPr>
      </p:sp>
      <p:sp>
        <p:nvSpPr>
          <p:cNvPr id="16" name="Text 13"/>
          <p:cNvSpPr txBox="1"/>
          <p:nvPr/>
        </p:nvSpPr>
        <p:spPr>
          <a:xfrm>
            <a:off x="713232" y="3813048"/>
            <a:ext cx="2133600" cy="164592"/>
          </a:xfrm>
          <a:prstGeom prst="rect">
            <a:avLst/>
          </a:prstGeom>
          <a:noFill/>
          <a:ln/>
        </p:spPr>
        <p:txBody>
          <a:bodyPr wrap="square" lIns="0" tIns="0" rIns="0" bIns="0" rtlCol="0" anchor="t"/>
          <a:lstStyle/>
          <a:p>
            <a:pPr indent="0" marL="0">
              <a:buNone/>
            </a:pPr>
            <a:r>
              <a:rPr lang="en-US" sz="650" spc="100" kern="0" dirty="0">
                <a:solidFill>
                  <a:srgbClr val="FFC63E"/>
                </a:solidFill>
                <a:latin typeface="Poppins SemiBold" pitchFamily="34" charset="0"/>
                <a:ea typeface="Poppins SemiBold" pitchFamily="34" charset="-122"/>
                <a:cs typeface="Poppins SemiBold" pitchFamily="34" charset="-120"/>
              </a:rPr>
              <a:t>UNIQUE MONTHLY REACH  [CONFIRM]</a:t>
            </a:r>
            <a:endParaRPr lang="en-US" sz="650" dirty="0"/>
          </a:p>
        </p:txBody>
      </p:sp>
      <p:sp>
        <p:nvSpPr>
          <p:cNvPr id="17" name="Text 14"/>
          <p:cNvSpPr txBox="1"/>
          <p:nvPr/>
        </p:nvSpPr>
        <p:spPr>
          <a:xfrm>
            <a:off x="713232" y="3995928"/>
            <a:ext cx="2133600" cy="237744"/>
          </a:xfrm>
          <a:prstGeom prst="rect">
            <a:avLst/>
          </a:prstGeom>
          <a:noFill/>
          <a:ln/>
        </p:spPr>
        <p:txBody>
          <a:bodyPr wrap="square" lIns="0" tIns="0" rIns="0" bIns="0" rtlCol="0" anchor="t"/>
          <a:lstStyle/>
          <a:p>
            <a:pPr indent="0" marL="0">
              <a:buNone/>
            </a:pPr>
            <a:r>
              <a:rPr lang="en-US" sz="800" dirty="0">
                <a:solidFill>
                  <a:srgbClr val="FFFFFF"/>
                </a:solidFill>
                <a:latin typeface="Poppins SemiBold" pitchFamily="34" charset="0"/>
                <a:ea typeface="Poppins SemiBold" pitchFamily="34" charset="-122"/>
                <a:cs typeface="Poppins SemiBold" pitchFamily="34" charset="-120"/>
              </a:rPr>
              <a:t>Sized at build [CONFIRM]</a:t>
            </a:r>
            <a:endParaRPr lang="en-US" sz="800" dirty="0"/>
          </a:p>
        </p:txBody>
      </p:sp>
      <p:sp>
        <p:nvSpPr>
          <p:cNvPr id="18" name="Shape 15"/>
          <p:cNvSpPr/>
          <p:nvPr/>
        </p:nvSpPr>
        <p:spPr>
          <a:xfrm>
            <a:off x="3249168" y="1188720"/>
            <a:ext cx="2645664" cy="3246120"/>
          </a:xfrm>
          <a:prstGeom prst="rect">
            <a:avLst/>
          </a:prstGeom>
          <a:solidFill>
            <a:srgbClr val="262626"/>
          </a:solidFill>
          <a:ln w="12700">
            <a:solidFill>
              <a:srgbClr val="262626"/>
            </a:solidFill>
            <a:prstDash val="solid"/>
          </a:ln>
        </p:spPr>
      </p:sp>
      <p:sp>
        <p:nvSpPr>
          <p:cNvPr id="19" name="Text 16"/>
          <p:cNvSpPr txBox="1"/>
          <p:nvPr/>
        </p:nvSpPr>
        <p:spPr>
          <a:xfrm>
            <a:off x="3413760" y="1335024"/>
            <a:ext cx="2316480" cy="182880"/>
          </a:xfrm>
          <a:prstGeom prst="rect">
            <a:avLst/>
          </a:prstGeom>
          <a:noFill/>
          <a:ln/>
        </p:spPr>
        <p:txBody>
          <a:bodyPr wrap="square" lIns="0" tIns="0" rIns="0" bIns="0" rtlCol="0" anchor="t"/>
          <a:lstStyle/>
          <a:p>
            <a:pPr indent="0" marL="0">
              <a:buNone/>
            </a:pPr>
            <a:r>
              <a:rPr lang="en-US" sz="750" spc="100" kern="0" dirty="0">
                <a:solidFill>
                  <a:srgbClr val="FFC63E"/>
                </a:solidFill>
                <a:latin typeface="Poppins SemiBold" pitchFamily="34" charset="0"/>
                <a:ea typeface="Poppins SemiBold" pitchFamily="34" charset="-122"/>
                <a:cs typeface="Poppins SemiBold" pitchFamily="34" charset="-120"/>
              </a:rPr>
              <a:t>PRIME</a:t>
            </a:r>
            <a:endParaRPr lang="en-US" sz="750" dirty="0"/>
          </a:p>
        </p:txBody>
      </p:sp>
      <p:sp>
        <p:nvSpPr>
          <p:cNvPr id="20" name="Text 17"/>
          <p:cNvSpPr txBox="1"/>
          <p:nvPr/>
        </p:nvSpPr>
        <p:spPr>
          <a:xfrm>
            <a:off x="3413760" y="1554480"/>
            <a:ext cx="2316480" cy="411480"/>
          </a:xfrm>
          <a:prstGeom prst="rect">
            <a:avLst/>
          </a:prstGeom>
          <a:noFill/>
          <a:ln/>
        </p:spPr>
        <p:txBody>
          <a:bodyPr wrap="square" lIns="0" tIns="0" rIns="0" bIns="0" rtlCol="0" anchor="ctr"/>
          <a:lstStyle/>
          <a:p>
            <a:pPr indent="0" marL="0">
              <a:buNone/>
            </a:pPr>
            <a:r>
              <a:rPr lang="en-US" sz="1200" dirty="0">
                <a:solidFill>
                  <a:srgbClr val="FFFFFF"/>
                </a:solidFill>
                <a:latin typeface="Poppins ExtraBold" pitchFamily="34" charset="0"/>
                <a:ea typeface="Poppins ExtraBold" pitchFamily="34" charset="-122"/>
                <a:cs typeface="Poppins ExtraBold" pitchFamily="34" charset="-120"/>
              </a:rPr>
              <a:t>THE GROUP PLAN SPLITTER</a:t>
            </a:r>
            <a:endParaRPr lang="en-US" sz="1200" dirty="0"/>
          </a:p>
        </p:txBody>
      </p:sp>
      <p:sp>
        <p:nvSpPr>
          <p:cNvPr id="21" name="Text 18"/>
          <p:cNvSpPr txBox="1"/>
          <p:nvPr/>
        </p:nvSpPr>
        <p:spPr>
          <a:xfrm>
            <a:off x="3413760" y="2011680"/>
            <a:ext cx="2316480" cy="548640"/>
          </a:xfrm>
          <a:prstGeom prst="rect">
            <a:avLst/>
          </a:prstGeom>
          <a:noFill/>
          <a:ln/>
        </p:spPr>
        <p:txBody>
          <a:bodyPr wrap="square" lIns="0" tIns="0" rIns="0" bIns="0" rtlCol="0" anchor="t"/>
          <a:lstStyle/>
          <a:p>
            <a:pPr indent="0" marL="0">
              <a:buNone/>
            </a:pPr>
            <a:r>
              <a:rPr lang="en-US" sz="850" dirty="0">
                <a:solidFill>
                  <a:srgbClr val="E3E3E3"/>
                </a:solidFill>
                <a:latin typeface="Poppins" pitchFamily="34" charset="0"/>
                <a:ea typeface="Poppins" pitchFamily="34" charset="-122"/>
                <a:cs typeface="Poppins" pitchFamily="34" charset="-120"/>
              </a:rPr>
              <a:t>Uses Venmo and plans shared trips, dinners and tickets with friends.</a:t>
            </a:r>
            <a:endParaRPr lang="en-US" sz="850" dirty="0"/>
          </a:p>
        </p:txBody>
      </p:sp>
      <p:sp>
        <p:nvSpPr>
          <p:cNvPr id="22" name="Text 19"/>
          <p:cNvSpPr txBox="1"/>
          <p:nvPr/>
        </p:nvSpPr>
        <p:spPr>
          <a:xfrm>
            <a:off x="3413760" y="2606040"/>
            <a:ext cx="2316480" cy="164592"/>
          </a:xfrm>
          <a:prstGeom prst="rect">
            <a:avLst/>
          </a:prstGeom>
          <a:noFill/>
          <a:ln/>
        </p:spPr>
        <p:txBody>
          <a:bodyPr wrap="square" lIns="0" tIns="0" rIns="0" bIns="0" rtlCol="0" anchor="t"/>
          <a:lstStyle/>
          <a:p>
            <a:pPr indent="0" marL="0">
              <a:buNone/>
            </a:pPr>
            <a:r>
              <a:rPr lang="en-US" sz="700" spc="100" kern="0" dirty="0">
                <a:solidFill>
                  <a:srgbClr val="7E7E7E"/>
                </a:solidFill>
                <a:latin typeface="Poppins SemiBold" pitchFamily="34" charset="0"/>
                <a:ea typeface="Poppins SemiBold" pitchFamily="34" charset="-122"/>
                <a:cs typeface="Poppins SemiBold" pitchFamily="34" charset="-120"/>
              </a:rPr>
              <a:t>APP ECOSYSTEM</a:t>
            </a:r>
            <a:endParaRPr lang="en-US" sz="700" dirty="0"/>
          </a:p>
        </p:txBody>
      </p:sp>
      <p:sp>
        <p:nvSpPr>
          <p:cNvPr id="23" name="Text 20"/>
          <p:cNvSpPr txBox="1"/>
          <p:nvPr/>
        </p:nvSpPr>
        <p:spPr>
          <a:xfrm>
            <a:off x="3413760" y="2788920"/>
            <a:ext cx="2316480" cy="502920"/>
          </a:xfrm>
          <a:prstGeom prst="rect">
            <a:avLst/>
          </a:prstGeom>
          <a:noFill/>
          <a:ln/>
        </p:spPr>
        <p:txBody>
          <a:bodyPr wrap="square" lIns="0" tIns="0" rIns="0" bIns="0" rtlCol="0" anchor="t"/>
          <a:lstStyle/>
          <a:p>
            <a:pPr indent="0" marL="0">
              <a:buNone/>
            </a:pPr>
            <a:r>
              <a:rPr lang="en-US" sz="850" dirty="0">
                <a:solidFill>
                  <a:srgbClr val="FFFFFF"/>
                </a:solidFill>
                <a:latin typeface="Poppins SemiBold" pitchFamily="34" charset="0"/>
                <a:ea typeface="Poppins SemiBold" pitchFamily="34" charset="-122"/>
                <a:cs typeface="Poppins SemiBold" pitchFamily="34" charset="-120"/>
              </a:rPr>
              <a:t>Venmo · Splitwise · OpenTable · Ticketmaster · Airbnb</a:t>
            </a:r>
            <a:endParaRPr lang="en-US" sz="850" dirty="0"/>
          </a:p>
        </p:txBody>
      </p:sp>
      <p:sp>
        <p:nvSpPr>
          <p:cNvPr id="24" name="Text 21"/>
          <p:cNvSpPr txBox="1"/>
          <p:nvPr/>
        </p:nvSpPr>
        <p:spPr>
          <a:xfrm>
            <a:off x="3413760" y="3337560"/>
            <a:ext cx="2316480" cy="365760"/>
          </a:xfrm>
          <a:prstGeom prst="rect">
            <a:avLst/>
          </a:prstGeom>
          <a:noFill/>
          <a:ln/>
        </p:spPr>
        <p:txBody>
          <a:bodyPr wrap="square" lIns="0" tIns="0" rIns="0" bIns="0" rtlCol="0" anchor="t"/>
          <a:lstStyle/>
          <a:p>
            <a:pPr indent="0" marL="0">
              <a:buNone/>
            </a:pPr>
            <a:r>
              <a:rPr lang="en-US" sz="850" i="1" dirty="0">
                <a:solidFill>
                  <a:srgbClr val="FFE7B5"/>
                </a:solidFill>
                <a:latin typeface="Poppins" pitchFamily="34" charset="0"/>
                <a:ea typeface="Poppins" pitchFamily="34" charset="-122"/>
                <a:cs typeface="Poppins" pitchFamily="34" charset="-120"/>
              </a:rPr>
              <a:t>Put the Venmo Credit Card's 4% split reward in front of them</a:t>
            </a:r>
            <a:endParaRPr lang="en-US" sz="850" dirty="0"/>
          </a:p>
        </p:txBody>
      </p:sp>
      <p:sp>
        <p:nvSpPr>
          <p:cNvPr id="25" name="Shape 22"/>
          <p:cNvSpPr/>
          <p:nvPr/>
        </p:nvSpPr>
        <p:spPr>
          <a:xfrm>
            <a:off x="3413760" y="3767328"/>
            <a:ext cx="2316480" cy="512064"/>
          </a:xfrm>
          <a:prstGeom prst="rect">
            <a:avLst/>
          </a:prstGeom>
          <a:solidFill>
            <a:srgbClr val="2F2F2F"/>
          </a:solidFill>
          <a:ln w="12700">
            <a:solidFill>
              <a:srgbClr val="2F2F2F"/>
            </a:solidFill>
            <a:prstDash val="solid"/>
          </a:ln>
        </p:spPr>
      </p:sp>
      <p:sp>
        <p:nvSpPr>
          <p:cNvPr id="26" name="Text 23"/>
          <p:cNvSpPr txBox="1"/>
          <p:nvPr/>
        </p:nvSpPr>
        <p:spPr>
          <a:xfrm>
            <a:off x="3505200" y="3813048"/>
            <a:ext cx="2133600" cy="164592"/>
          </a:xfrm>
          <a:prstGeom prst="rect">
            <a:avLst/>
          </a:prstGeom>
          <a:noFill/>
          <a:ln/>
        </p:spPr>
        <p:txBody>
          <a:bodyPr wrap="square" lIns="0" tIns="0" rIns="0" bIns="0" rtlCol="0" anchor="t"/>
          <a:lstStyle/>
          <a:p>
            <a:pPr indent="0" marL="0">
              <a:buNone/>
            </a:pPr>
            <a:r>
              <a:rPr lang="en-US" sz="650" spc="100" kern="0" dirty="0">
                <a:solidFill>
                  <a:srgbClr val="FFC63E"/>
                </a:solidFill>
                <a:latin typeface="Poppins SemiBold" pitchFamily="34" charset="0"/>
                <a:ea typeface="Poppins SemiBold" pitchFamily="34" charset="-122"/>
                <a:cs typeface="Poppins SemiBold" pitchFamily="34" charset="-120"/>
              </a:rPr>
              <a:t>UNIQUE MONTHLY REACH  [CONFIRM]</a:t>
            </a:r>
            <a:endParaRPr lang="en-US" sz="650" dirty="0"/>
          </a:p>
        </p:txBody>
      </p:sp>
      <p:sp>
        <p:nvSpPr>
          <p:cNvPr id="27" name="Text 24"/>
          <p:cNvSpPr txBox="1"/>
          <p:nvPr/>
        </p:nvSpPr>
        <p:spPr>
          <a:xfrm>
            <a:off x="3505200" y="3995928"/>
            <a:ext cx="2133600" cy="237744"/>
          </a:xfrm>
          <a:prstGeom prst="rect">
            <a:avLst/>
          </a:prstGeom>
          <a:noFill/>
          <a:ln/>
        </p:spPr>
        <p:txBody>
          <a:bodyPr wrap="square" lIns="0" tIns="0" rIns="0" bIns="0" rtlCol="0" anchor="t"/>
          <a:lstStyle/>
          <a:p>
            <a:pPr indent="0" marL="0">
              <a:buNone/>
            </a:pPr>
            <a:r>
              <a:rPr lang="en-US" sz="800" dirty="0">
                <a:solidFill>
                  <a:srgbClr val="FFFFFF"/>
                </a:solidFill>
                <a:latin typeface="Poppins SemiBold" pitchFamily="34" charset="0"/>
                <a:ea typeface="Poppins SemiBold" pitchFamily="34" charset="-122"/>
                <a:cs typeface="Poppins SemiBold" pitchFamily="34" charset="-120"/>
              </a:rPr>
              <a:t>Sized at build [CONFIRM]</a:t>
            </a:r>
            <a:endParaRPr lang="en-US" sz="800" dirty="0"/>
          </a:p>
        </p:txBody>
      </p:sp>
      <p:sp>
        <p:nvSpPr>
          <p:cNvPr id="28" name="Shape 25"/>
          <p:cNvSpPr/>
          <p:nvPr/>
        </p:nvSpPr>
        <p:spPr>
          <a:xfrm>
            <a:off x="6041136" y="1188720"/>
            <a:ext cx="2645664" cy="3246120"/>
          </a:xfrm>
          <a:prstGeom prst="rect">
            <a:avLst/>
          </a:prstGeom>
          <a:solidFill>
            <a:srgbClr val="262626"/>
          </a:solidFill>
          <a:ln w="12700">
            <a:solidFill>
              <a:srgbClr val="262626"/>
            </a:solidFill>
            <a:prstDash val="solid"/>
          </a:ln>
        </p:spPr>
      </p:sp>
      <p:sp>
        <p:nvSpPr>
          <p:cNvPr id="29" name="Text 26"/>
          <p:cNvSpPr txBox="1"/>
          <p:nvPr/>
        </p:nvSpPr>
        <p:spPr>
          <a:xfrm>
            <a:off x="6205728" y="1335024"/>
            <a:ext cx="2316480" cy="182880"/>
          </a:xfrm>
          <a:prstGeom prst="rect">
            <a:avLst/>
          </a:prstGeom>
          <a:noFill/>
          <a:ln/>
        </p:spPr>
        <p:txBody>
          <a:bodyPr wrap="square" lIns="0" tIns="0" rIns="0" bIns="0" rtlCol="0" anchor="t"/>
          <a:lstStyle/>
          <a:p>
            <a:pPr indent="0" marL="0">
              <a:buNone/>
            </a:pPr>
            <a:r>
              <a:rPr lang="en-US" sz="750" spc="100" kern="0" dirty="0">
                <a:solidFill>
                  <a:srgbClr val="FFC63E"/>
                </a:solidFill>
                <a:latin typeface="Poppins SemiBold" pitchFamily="34" charset="0"/>
                <a:ea typeface="Poppins SemiBold" pitchFamily="34" charset="-122"/>
                <a:cs typeface="Poppins SemiBold" pitchFamily="34" charset="-120"/>
              </a:rPr>
              <a:t>PROVE</a:t>
            </a:r>
            <a:endParaRPr lang="en-US" sz="750" dirty="0"/>
          </a:p>
        </p:txBody>
      </p:sp>
      <p:sp>
        <p:nvSpPr>
          <p:cNvPr id="30" name="Text 27"/>
          <p:cNvSpPr txBox="1"/>
          <p:nvPr/>
        </p:nvSpPr>
        <p:spPr>
          <a:xfrm>
            <a:off x="6205728" y="1554480"/>
            <a:ext cx="2316480" cy="411480"/>
          </a:xfrm>
          <a:prstGeom prst="rect">
            <a:avLst/>
          </a:prstGeom>
          <a:noFill/>
          <a:ln/>
        </p:spPr>
        <p:txBody>
          <a:bodyPr wrap="square" lIns="0" tIns="0" rIns="0" bIns="0" rtlCol="0" anchor="ctr"/>
          <a:lstStyle/>
          <a:p>
            <a:pPr indent="0" marL="0">
              <a:buNone/>
            </a:pPr>
            <a:r>
              <a:rPr lang="en-US" sz="1200" dirty="0">
                <a:solidFill>
                  <a:srgbClr val="FFFFFF"/>
                </a:solidFill>
                <a:latin typeface="Poppins ExtraBold" pitchFamily="34" charset="0"/>
                <a:ea typeface="Poppins ExtraBold" pitchFamily="34" charset="-122"/>
                <a:cs typeface="Poppins ExtraBold" pitchFamily="34" charset="-120"/>
              </a:rPr>
              <a:t>THE EARLY HOLIDAY SHOPPER</a:t>
            </a:r>
            <a:endParaRPr lang="en-US" sz="1200" dirty="0"/>
          </a:p>
        </p:txBody>
      </p:sp>
      <p:sp>
        <p:nvSpPr>
          <p:cNvPr id="31" name="Text 28"/>
          <p:cNvSpPr txBox="1"/>
          <p:nvPr/>
        </p:nvSpPr>
        <p:spPr>
          <a:xfrm>
            <a:off x="6205728" y="2011680"/>
            <a:ext cx="2316480" cy="548640"/>
          </a:xfrm>
          <a:prstGeom prst="rect">
            <a:avLst/>
          </a:prstGeom>
          <a:noFill/>
          <a:ln/>
        </p:spPr>
        <p:txBody>
          <a:bodyPr wrap="square" lIns="0" tIns="0" rIns="0" bIns="0" rtlCol="0" anchor="t"/>
          <a:lstStyle/>
          <a:p>
            <a:pPr indent="0" marL="0">
              <a:buNone/>
            </a:pPr>
            <a:r>
              <a:rPr lang="en-US" sz="850" dirty="0">
                <a:solidFill>
                  <a:srgbClr val="E3E3E3"/>
                </a:solidFill>
                <a:latin typeface="Poppins" pitchFamily="34" charset="0"/>
                <a:ea typeface="Poppins" pitchFamily="34" charset="-122"/>
                <a:cs typeface="Poppins" pitchFamily="34" charset="-120"/>
              </a:rPr>
              <a:t>Shops big-box retail apps weekly and compares deals before Thanksgiving.</a:t>
            </a:r>
            <a:endParaRPr lang="en-US" sz="850" dirty="0"/>
          </a:p>
        </p:txBody>
      </p:sp>
      <p:sp>
        <p:nvSpPr>
          <p:cNvPr id="32" name="Text 29"/>
          <p:cNvSpPr txBox="1"/>
          <p:nvPr/>
        </p:nvSpPr>
        <p:spPr>
          <a:xfrm>
            <a:off x="6205728" y="2606040"/>
            <a:ext cx="2316480" cy="164592"/>
          </a:xfrm>
          <a:prstGeom prst="rect">
            <a:avLst/>
          </a:prstGeom>
          <a:noFill/>
          <a:ln/>
        </p:spPr>
        <p:txBody>
          <a:bodyPr wrap="square" lIns="0" tIns="0" rIns="0" bIns="0" rtlCol="0" anchor="t"/>
          <a:lstStyle/>
          <a:p>
            <a:pPr indent="0" marL="0">
              <a:buNone/>
            </a:pPr>
            <a:r>
              <a:rPr lang="en-US" sz="700" spc="100" kern="0" dirty="0">
                <a:solidFill>
                  <a:srgbClr val="7E7E7E"/>
                </a:solidFill>
                <a:latin typeface="Poppins SemiBold" pitchFamily="34" charset="0"/>
                <a:ea typeface="Poppins SemiBold" pitchFamily="34" charset="-122"/>
                <a:cs typeface="Poppins SemiBold" pitchFamily="34" charset="-120"/>
              </a:rPr>
              <a:t>APP ECOSYSTEM</a:t>
            </a:r>
            <a:endParaRPr lang="en-US" sz="700" dirty="0"/>
          </a:p>
        </p:txBody>
      </p:sp>
      <p:sp>
        <p:nvSpPr>
          <p:cNvPr id="33" name="Text 30"/>
          <p:cNvSpPr txBox="1"/>
          <p:nvPr/>
        </p:nvSpPr>
        <p:spPr>
          <a:xfrm>
            <a:off x="6205728" y="2788920"/>
            <a:ext cx="2316480" cy="502920"/>
          </a:xfrm>
          <a:prstGeom prst="rect">
            <a:avLst/>
          </a:prstGeom>
          <a:noFill/>
          <a:ln/>
        </p:spPr>
        <p:txBody>
          <a:bodyPr wrap="square" lIns="0" tIns="0" rIns="0" bIns="0" rtlCol="0" anchor="t"/>
          <a:lstStyle/>
          <a:p>
            <a:pPr indent="0" marL="0">
              <a:buNone/>
            </a:pPr>
            <a:r>
              <a:rPr lang="en-US" sz="850" dirty="0">
                <a:solidFill>
                  <a:srgbClr val="FFFFFF"/>
                </a:solidFill>
                <a:latin typeface="Poppins SemiBold" pitchFamily="34" charset="0"/>
                <a:ea typeface="Poppins SemiBold" pitchFamily="34" charset="-122"/>
                <a:cs typeface="Poppins SemiBold" pitchFamily="34" charset="-120"/>
              </a:rPr>
              <a:t>Target · Walmart · Amazon Shopping · Best Buy · Honey</a:t>
            </a:r>
            <a:endParaRPr lang="en-US" sz="850" dirty="0"/>
          </a:p>
        </p:txBody>
      </p:sp>
      <p:sp>
        <p:nvSpPr>
          <p:cNvPr id="34" name="Text 31"/>
          <p:cNvSpPr txBox="1"/>
          <p:nvPr/>
        </p:nvSpPr>
        <p:spPr>
          <a:xfrm>
            <a:off x="6205728" y="3337560"/>
            <a:ext cx="2316480" cy="365760"/>
          </a:xfrm>
          <a:prstGeom prst="rect">
            <a:avLst/>
          </a:prstGeom>
          <a:noFill/>
          <a:ln/>
        </p:spPr>
        <p:txBody>
          <a:bodyPr wrap="square" lIns="0" tIns="0" rIns="0" bIns="0" rtlCol="0" anchor="t"/>
          <a:lstStyle/>
          <a:p>
            <a:pPr indent="0" marL="0">
              <a:buNone/>
            </a:pPr>
            <a:r>
              <a:rPr lang="en-US" sz="850" i="1" dirty="0">
                <a:solidFill>
                  <a:srgbClr val="FFE7B5"/>
                </a:solidFill>
                <a:latin typeface="Poppins" pitchFamily="34" charset="0"/>
                <a:ea typeface="Poppins" pitchFamily="34" charset="-122"/>
                <a:cs typeface="Poppins" pitchFamily="34" charset="-120"/>
              </a:rPr>
              <a:t>Choose PayPal at checkout for rewards and pay later</a:t>
            </a:r>
            <a:endParaRPr lang="en-US" sz="850" dirty="0"/>
          </a:p>
        </p:txBody>
      </p:sp>
      <p:sp>
        <p:nvSpPr>
          <p:cNvPr id="35" name="Shape 32"/>
          <p:cNvSpPr/>
          <p:nvPr/>
        </p:nvSpPr>
        <p:spPr>
          <a:xfrm>
            <a:off x="6205728" y="3767328"/>
            <a:ext cx="2316480" cy="512064"/>
          </a:xfrm>
          <a:prstGeom prst="rect">
            <a:avLst/>
          </a:prstGeom>
          <a:solidFill>
            <a:srgbClr val="2F2F2F"/>
          </a:solidFill>
          <a:ln w="12700">
            <a:solidFill>
              <a:srgbClr val="2F2F2F"/>
            </a:solidFill>
            <a:prstDash val="solid"/>
          </a:ln>
        </p:spPr>
      </p:sp>
      <p:sp>
        <p:nvSpPr>
          <p:cNvPr id="36" name="Text 33"/>
          <p:cNvSpPr txBox="1"/>
          <p:nvPr/>
        </p:nvSpPr>
        <p:spPr>
          <a:xfrm>
            <a:off x="6297168" y="3813048"/>
            <a:ext cx="2133600" cy="164592"/>
          </a:xfrm>
          <a:prstGeom prst="rect">
            <a:avLst/>
          </a:prstGeom>
          <a:noFill/>
          <a:ln/>
        </p:spPr>
        <p:txBody>
          <a:bodyPr wrap="square" lIns="0" tIns="0" rIns="0" bIns="0" rtlCol="0" anchor="t"/>
          <a:lstStyle/>
          <a:p>
            <a:pPr indent="0" marL="0">
              <a:buNone/>
            </a:pPr>
            <a:r>
              <a:rPr lang="en-US" sz="650" spc="100" kern="0" dirty="0">
                <a:solidFill>
                  <a:srgbClr val="FFC63E"/>
                </a:solidFill>
                <a:latin typeface="Poppins SemiBold" pitchFamily="34" charset="0"/>
                <a:ea typeface="Poppins SemiBold" pitchFamily="34" charset="-122"/>
                <a:cs typeface="Poppins SemiBold" pitchFamily="34" charset="-120"/>
              </a:rPr>
              <a:t>UNIQUE MONTHLY REACH  [CONFIRM]</a:t>
            </a:r>
            <a:endParaRPr lang="en-US" sz="650" dirty="0"/>
          </a:p>
        </p:txBody>
      </p:sp>
      <p:sp>
        <p:nvSpPr>
          <p:cNvPr id="37" name="Text 34"/>
          <p:cNvSpPr txBox="1"/>
          <p:nvPr/>
        </p:nvSpPr>
        <p:spPr>
          <a:xfrm>
            <a:off x="6297168" y="3995928"/>
            <a:ext cx="2133600" cy="237744"/>
          </a:xfrm>
          <a:prstGeom prst="rect">
            <a:avLst/>
          </a:prstGeom>
          <a:noFill/>
          <a:ln/>
        </p:spPr>
        <p:txBody>
          <a:bodyPr wrap="square" lIns="0" tIns="0" rIns="0" bIns="0" rtlCol="0" anchor="t"/>
          <a:lstStyle/>
          <a:p>
            <a:pPr indent="0" marL="0">
              <a:buNone/>
            </a:pPr>
            <a:r>
              <a:rPr lang="en-US" sz="800" dirty="0">
                <a:solidFill>
                  <a:srgbClr val="FFFFFF"/>
                </a:solidFill>
                <a:latin typeface="Poppins SemiBold" pitchFamily="34" charset="0"/>
                <a:ea typeface="Poppins SemiBold" pitchFamily="34" charset="-122"/>
                <a:cs typeface="Poppins SemiBold" pitchFamily="34" charset="-120"/>
              </a:rPr>
              <a:t>Sized at build [CONFIRM]</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457200"/>
          </a:xfrm>
          <a:prstGeom prst="rect">
            <a:avLst/>
          </a:prstGeom>
          <a:noFill/>
          <a:ln/>
        </p:spPr>
        <p:txBody>
          <a:bodyPr wrap="square" lIns="0" tIns="0" rIns="0" bIns="0" rtlCol="0" anchor="ctr"/>
          <a:lstStyle/>
          <a:p>
            <a:pPr indent="0" marL="0">
              <a:buNone/>
            </a:pPr>
            <a:r>
              <a:rPr lang="en-US" sz="2300" dirty="0">
                <a:solidFill>
                  <a:srgbClr val="FFFFFF"/>
                </a:solidFill>
                <a:latin typeface="Poppins ExtraBold" pitchFamily="34" charset="0"/>
                <a:ea typeface="Poppins ExtraBold" pitchFamily="34" charset="-122"/>
                <a:cs typeface="Poppins ExtraBold" pitchFamily="34" charset="-120"/>
              </a:rPr>
              <a:t>HOW IT RUNS, AND HOW ZENITH BUYS IT</a:t>
            </a:r>
            <a:endParaRPr lang="en-US" sz="2300" dirty="0"/>
          </a:p>
        </p:txBody>
      </p:sp>
      <p:sp>
        <p:nvSpPr>
          <p:cNvPr id="3" name="Text 1"/>
          <p:cNvSpPr txBox="1"/>
          <p:nvPr/>
        </p:nvSpPr>
        <p:spPr>
          <a:xfrm>
            <a:off x="457200" y="822960"/>
            <a:ext cx="8229600" cy="237744"/>
          </a:xfrm>
          <a:prstGeom prst="rect">
            <a:avLst/>
          </a:prstGeom>
          <a:noFill/>
          <a:ln/>
        </p:spPr>
        <p:txBody>
          <a:bodyPr wrap="square" lIns="0" tIns="0" rIns="0" bIns="0" rtlCol="0" anchor="t"/>
          <a:lstStyle/>
          <a:p>
            <a:pPr indent="0" marL="0">
              <a:buNone/>
            </a:pPr>
            <a:r>
              <a:rPr lang="en-US" sz="850" spc="100" kern="0" dirty="0">
                <a:solidFill>
                  <a:srgbClr val="FFC63E"/>
                </a:solidFill>
                <a:latin typeface="Poppins SemiBold" pitchFamily="34" charset="0"/>
                <a:ea typeface="Poppins SemiBold" pitchFamily="34" charset="-122"/>
                <a:cs typeface="Poppins SemiBold" pitchFamily="34" charset="-120"/>
              </a:rPr>
              <a:t>ONE AUDIENCE ACROSS CTV, MOBILE AND CREATOR TV · PLUGS INTO PUBLICIS COREAI AND EPSILON</a:t>
            </a:r>
            <a:endParaRPr lang="en-US" sz="850" dirty="0"/>
          </a:p>
        </p:txBody>
      </p:sp>
      <p:sp>
        <p:nvSpPr>
          <p:cNvPr id="4" name="Text 2"/>
          <p:cNvSpPr txBox="1"/>
          <p:nvPr/>
        </p:nvSpPr>
        <p:spPr>
          <a:xfrm>
            <a:off x="457200" y="4539996"/>
            <a:ext cx="7040880" cy="237744"/>
          </a:xfrm>
          <a:prstGeom prst="rect">
            <a:avLst/>
          </a:prstGeom>
          <a:noFill/>
          <a:ln/>
        </p:spPr>
        <p:txBody>
          <a:bodyPr wrap="square" lIns="0" tIns="0" rIns="0" bIns="0" rtlCol="0" anchor="b"/>
          <a:lstStyle/>
          <a:p>
            <a:pPr indent="0" marL="0">
              <a:buNone/>
            </a:pPr>
            <a:r>
              <a:rPr lang="en-US" sz="650" dirty="0">
                <a:solidFill>
                  <a:srgbClr val="7E7E7E"/>
                </a:solidFill>
                <a:latin typeface="Poppins" pitchFamily="34" charset="0"/>
                <a:ea typeface="Poppins" pitchFamily="34" charset="-122"/>
                <a:cs typeface="Poppins" pitchFamily="34" charset="-120"/>
              </a:rPr>
              <a:t>Publicis route: App Science® segments onboarded to the Epsilon identity spine or packaged as a curated deal ID for the trading desk [CONFIRM with Zenith investment].</a:t>
            </a:r>
            <a:endParaRPr lang="en-US" sz="650" dirty="0"/>
          </a:p>
        </p:txBody>
      </p:sp>
      <p:sp>
        <p:nvSpPr>
          <p:cNvPr id="5" name="Text 3"/>
          <p:cNvSpPr txBox="1"/>
          <p:nvPr/>
        </p:nvSpPr>
        <p:spPr>
          <a:xfrm>
            <a:off x="457200" y="4832604"/>
            <a:ext cx="365760" cy="182880"/>
          </a:xfrm>
          <a:prstGeom prst="rect">
            <a:avLst/>
          </a:prstGeom>
          <a:noFill/>
          <a:ln/>
        </p:spPr>
        <p:txBody>
          <a:bodyPr wrap="square" lIns="0" tIns="0" rIns="0" bIns="0" rtlCol="0" anchor="t"/>
          <a:lstStyle/>
          <a:p>
            <a:pPr indent="0" marL="0">
              <a:buNone/>
            </a:pPr>
            <a:r>
              <a:rPr lang="en-US" sz="800" dirty="0">
                <a:solidFill>
                  <a:srgbClr val="7E7E7E"/>
                </a:solidFill>
                <a:latin typeface="Poppins SemiBold" pitchFamily="34" charset="0"/>
                <a:ea typeface="Poppins SemiBold" pitchFamily="34" charset="-122"/>
                <a:cs typeface="Poppins SemiBold" pitchFamily="34" charset="-120"/>
              </a:rPr>
              <a:t>6</a:t>
            </a:r>
            <a:endParaRPr lang="en-US" sz="800" dirty="0"/>
          </a:p>
        </p:txBody>
      </p:sp>
      <p:sp>
        <p:nvSpPr>
          <p:cNvPr id="6" name="Text 4"/>
          <p:cNvSpPr txBox="1"/>
          <p:nvPr/>
        </p:nvSpPr>
        <p:spPr>
          <a:xfrm>
            <a:off x="868680" y="4832604"/>
            <a:ext cx="5486400" cy="182880"/>
          </a:xfrm>
          <a:prstGeom prst="rect">
            <a:avLst/>
          </a:prstGeom>
          <a:noFill/>
          <a:ln/>
        </p:spPr>
        <p:txBody>
          <a:bodyPr wrap="square" lIns="0" tIns="0" rIns="0" bIns="0" rtlCol="0" anchor="t"/>
          <a:lstStyle/>
          <a:p>
            <a:pPr indent="0" marL="0">
              <a:buNone/>
            </a:pPr>
            <a:r>
              <a:rPr lang="en-US" sz="700" dirty="0">
                <a:solidFill>
                  <a:srgbClr val="7E7E7E"/>
                </a:solidFill>
                <a:latin typeface="Poppins" pitchFamily="34" charset="0"/>
                <a:ea typeface="Poppins" pitchFamily="34" charset="-122"/>
                <a:cs typeface="Poppins" pitchFamily="34" charset="-120"/>
              </a:rPr>
              <a:t>Sabio × PayPal  ·  Proactive point of view for Zenith  ·  Confidential</a:t>
            </a:r>
            <a:endParaRPr lang="en-US" sz="700" dirty="0"/>
          </a:p>
        </p:txBody>
      </p:sp>
      <p:pic>
        <p:nvPicPr>
          <p:cNvPr id="7" name="Image 0" descr="/home/claude/benjaminbring-cloud/sabio-deck-builders-/assets/sabio-logo-white-sm.png">    </p:cNvPr>
          <p:cNvPicPr>
            <a:picLocks noChangeAspect="1"/>
          </p:cNvPicPr>
          <p:nvPr/>
        </p:nvPicPr>
        <p:blipFill>
          <a:blip r:embed="rId1"/>
          <a:stretch>
            <a:fillRect/>
          </a:stretch>
        </p:blipFill>
        <p:spPr>
          <a:xfrm>
            <a:off x="8028432" y="4805172"/>
            <a:ext cx="647572" cy="155448"/>
          </a:xfrm>
          <a:prstGeom prst="rect">
            <a:avLst/>
          </a:prstGeom>
        </p:spPr>
      </p:pic>
      <p:sp>
        <p:nvSpPr>
          <p:cNvPr id="8" name="Shape 5"/>
          <p:cNvSpPr/>
          <p:nvPr/>
        </p:nvSpPr>
        <p:spPr>
          <a:xfrm>
            <a:off x="457200" y="1188720"/>
            <a:ext cx="2377440" cy="1536192"/>
          </a:xfrm>
          <a:prstGeom prst="rect">
            <a:avLst/>
          </a:prstGeom>
          <a:solidFill>
            <a:srgbClr val="262626"/>
          </a:solidFill>
          <a:ln w="12700">
            <a:solidFill>
              <a:srgbClr val="262626"/>
            </a:solidFill>
            <a:prstDash val="solid"/>
          </a:ln>
        </p:spPr>
      </p:sp>
      <p:sp>
        <p:nvSpPr>
          <p:cNvPr id="9" name="Text 6"/>
          <p:cNvSpPr txBox="1"/>
          <p:nvPr/>
        </p:nvSpPr>
        <p:spPr>
          <a:xfrm>
            <a:off x="621792" y="1353312"/>
            <a:ext cx="2048256" cy="228600"/>
          </a:xfrm>
          <a:prstGeom prst="rect">
            <a:avLst/>
          </a:prstGeom>
          <a:noFill/>
          <a:ln/>
        </p:spPr>
        <p:txBody>
          <a:bodyPr wrap="square" lIns="0" tIns="0" rIns="0" bIns="0" rtlCol="0" anchor="t"/>
          <a:lstStyle/>
          <a:p>
            <a:pPr indent="0" marL="0">
              <a:buNone/>
            </a:pPr>
            <a:r>
              <a:rPr lang="en-US" sz="1100" dirty="0">
                <a:solidFill>
                  <a:srgbClr val="FFC63E"/>
                </a:solidFill>
                <a:latin typeface="Poppins ExtraBold" pitchFamily="34" charset="0"/>
                <a:ea typeface="Poppins ExtraBold" pitchFamily="34" charset="-122"/>
                <a:cs typeface="Poppins ExtraBold" pitchFamily="34" charset="-120"/>
              </a:rPr>
              <a:t>CTV · 60%</a:t>
            </a:r>
            <a:endParaRPr lang="en-US" sz="1100" dirty="0"/>
          </a:p>
        </p:txBody>
      </p:sp>
      <p:sp>
        <p:nvSpPr>
          <p:cNvPr id="10" name="Text 7"/>
          <p:cNvSpPr txBox="1"/>
          <p:nvPr/>
        </p:nvSpPr>
        <p:spPr>
          <a:xfrm>
            <a:off x="621792" y="1664208"/>
            <a:ext cx="2048256" cy="960120"/>
          </a:xfrm>
          <a:prstGeom prst="rect">
            <a:avLst/>
          </a:prstGeom>
          <a:noFill/>
          <a:ln/>
        </p:spPr>
        <p:txBody>
          <a:bodyPr wrap="square" lIns="0" tIns="0" rIns="0" bIns="0" rtlCol="0" anchor="t"/>
          <a:lstStyle/>
          <a:p>
            <a:pPr indent="0" marL="0">
              <a:buNone/>
            </a:pPr>
            <a:r>
              <a:rPr lang="en-US" sz="850" dirty="0">
                <a:solidFill>
                  <a:srgbClr val="E3E3E3"/>
                </a:solidFill>
                <a:latin typeface="Poppins" pitchFamily="34" charset="0"/>
                <a:ea typeface="Poppins" pitchFamily="34" charset="-122"/>
                <a:cs typeface="Poppins" pitchFamily="34" charset="-120"/>
              </a:rPr>
              <a:t>$180K. Holiday spots for checkout rewards, Pay Later and the Venmo card, with a QR to download or sign up.</a:t>
            </a:r>
            <a:endParaRPr lang="en-US" sz="850" dirty="0"/>
          </a:p>
        </p:txBody>
      </p:sp>
      <p:sp>
        <p:nvSpPr>
          <p:cNvPr id="11" name="Shape 8"/>
          <p:cNvSpPr/>
          <p:nvPr/>
        </p:nvSpPr>
        <p:spPr>
          <a:xfrm>
            <a:off x="2962656" y="1188720"/>
            <a:ext cx="2377440" cy="1536192"/>
          </a:xfrm>
          <a:prstGeom prst="rect">
            <a:avLst/>
          </a:prstGeom>
          <a:solidFill>
            <a:srgbClr val="262626"/>
          </a:solidFill>
          <a:ln w="12700">
            <a:solidFill>
              <a:srgbClr val="262626"/>
            </a:solidFill>
            <a:prstDash val="solid"/>
          </a:ln>
        </p:spPr>
      </p:sp>
      <p:sp>
        <p:nvSpPr>
          <p:cNvPr id="12" name="Text 9"/>
          <p:cNvSpPr txBox="1"/>
          <p:nvPr/>
        </p:nvSpPr>
        <p:spPr>
          <a:xfrm>
            <a:off x="3127248" y="1353312"/>
            <a:ext cx="2048256" cy="228600"/>
          </a:xfrm>
          <a:prstGeom prst="rect">
            <a:avLst/>
          </a:prstGeom>
          <a:noFill/>
          <a:ln/>
        </p:spPr>
        <p:txBody>
          <a:bodyPr wrap="square" lIns="0" tIns="0" rIns="0" bIns="0" rtlCol="0" anchor="t"/>
          <a:lstStyle/>
          <a:p>
            <a:pPr indent="0" marL="0">
              <a:buNone/>
            </a:pPr>
            <a:r>
              <a:rPr lang="en-US" sz="1100" dirty="0">
                <a:solidFill>
                  <a:srgbClr val="FFC63E"/>
                </a:solidFill>
                <a:latin typeface="Poppins ExtraBold" pitchFamily="34" charset="0"/>
                <a:ea typeface="Poppins ExtraBold" pitchFamily="34" charset="-122"/>
                <a:cs typeface="Poppins ExtraBold" pitchFamily="34" charset="-120"/>
              </a:rPr>
              <a:t>MOBILE VIDEO · 30%</a:t>
            </a:r>
            <a:endParaRPr lang="en-US" sz="1100" dirty="0"/>
          </a:p>
        </p:txBody>
      </p:sp>
      <p:sp>
        <p:nvSpPr>
          <p:cNvPr id="13" name="Text 10"/>
          <p:cNvSpPr txBox="1"/>
          <p:nvPr/>
        </p:nvSpPr>
        <p:spPr>
          <a:xfrm>
            <a:off x="3127248" y="1664208"/>
            <a:ext cx="2048256" cy="960120"/>
          </a:xfrm>
          <a:prstGeom prst="rect">
            <a:avLst/>
          </a:prstGeom>
          <a:noFill/>
          <a:ln/>
        </p:spPr>
        <p:txBody>
          <a:bodyPr wrap="square" lIns="0" tIns="0" rIns="0" bIns="0" rtlCol="0" anchor="t"/>
          <a:lstStyle/>
          <a:p>
            <a:pPr indent="0" marL="0">
              <a:buNone/>
            </a:pPr>
            <a:r>
              <a:rPr lang="en-US" sz="850" dirty="0">
                <a:solidFill>
                  <a:srgbClr val="E3E3E3"/>
                </a:solidFill>
                <a:latin typeface="Poppins" pitchFamily="34" charset="0"/>
                <a:ea typeface="Poppins" pitchFamily="34" charset="-122"/>
                <a:cs typeface="Poppins" pitchFamily="34" charset="-120"/>
              </a:rPr>
              <a:t>$90K. The same CTV-exposed homes on their phones, pointing to the app and the card offer.</a:t>
            </a:r>
            <a:endParaRPr lang="en-US" sz="850" dirty="0"/>
          </a:p>
        </p:txBody>
      </p:sp>
      <p:sp>
        <p:nvSpPr>
          <p:cNvPr id="14" name="Shape 11"/>
          <p:cNvSpPr/>
          <p:nvPr/>
        </p:nvSpPr>
        <p:spPr>
          <a:xfrm>
            <a:off x="457200" y="2834640"/>
            <a:ext cx="2377440" cy="1536192"/>
          </a:xfrm>
          <a:prstGeom prst="rect">
            <a:avLst/>
          </a:prstGeom>
          <a:solidFill>
            <a:srgbClr val="262626"/>
          </a:solidFill>
          <a:ln w="12700">
            <a:solidFill>
              <a:srgbClr val="262626"/>
            </a:solidFill>
            <a:prstDash val="solid"/>
          </a:ln>
        </p:spPr>
      </p:sp>
      <p:sp>
        <p:nvSpPr>
          <p:cNvPr id="15" name="Text 12"/>
          <p:cNvSpPr txBox="1"/>
          <p:nvPr/>
        </p:nvSpPr>
        <p:spPr>
          <a:xfrm>
            <a:off x="621792" y="2999232"/>
            <a:ext cx="2048256" cy="228600"/>
          </a:xfrm>
          <a:prstGeom prst="rect">
            <a:avLst/>
          </a:prstGeom>
          <a:noFill/>
          <a:ln/>
        </p:spPr>
        <p:txBody>
          <a:bodyPr wrap="square" lIns="0" tIns="0" rIns="0" bIns="0" rtlCol="0" anchor="t"/>
          <a:lstStyle/>
          <a:p>
            <a:pPr indent="0" marL="0">
              <a:buNone/>
            </a:pPr>
            <a:r>
              <a:rPr lang="en-US" sz="1100" dirty="0">
                <a:solidFill>
                  <a:srgbClr val="FFC63E"/>
                </a:solidFill>
                <a:latin typeface="Poppins ExtraBold" pitchFamily="34" charset="0"/>
                <a:ea typeface="Poppins ExtraBold" pitchFamily="34" charset="-122"/>
                <a:cs typeface="Poppins ExtraBold" pitchFamily="34" charset="-120"/>
              </a:rPr>
              <a:t>CREATOR TV® · 10%</a:t>
            </a:r>
            <a:endParaRPr lang="en-US" sz="1100" dirty="0"/>
          </a:p>
        </p:txBody>
      </p:sp>
      <p:sp>
        <p:nvSpPr>
          <p:cNvPr id="16" name="Text 13"/>
          <p:cNvSpPr txBox="1"/>
          <p:nvPr/>
        </p:nvSpPr>
        <p:spPr>
          <a:xfrm>
            <a:off x="621792" y="3310128"/>
            <a:ext cx="2048256" cy="960120"/>
          </a:xfrm>
          <a:prstGeom prst="rect">
            <a:avLst/>
          </a:prstGeom>
          <a:noFill/>
          <a:ln/>
        </p:spPr>
        <p:txBody>
          <a:bodyPr wrap="square" lIns="0" tIns="0" rIns="0" bIns="0" rtlCol="0" anchor="t"/>
          <a:lstStyle/>
          <a:p>
            <a:pPr indent="0" marL="0">
              <a:buNone/>
            </a:pPr>
            <a:r>
              <a:rPr lang="en-US" sz="850" dirty="0">
                <a:solidFill>
                  <a:srgbClr val="E3E3E3"/>
                </a:solidFill>
                <a:latin typeface="Poppins" pitchFamily="34" charset="0"/>
                <a:ea typeface="Poppins" pitchFamily="34" charset="-122"/>
                <a:cs typeface="Poppins" pitchFamily="34" charset="-120"/>
              </a:rPr>
              <a:t>$30K. Creator-led gift and group trip segments inside comedy and lifestyle shows on Sabio's own channel.</a:t>
            </a:r>
            <a:endParaRPr lang="en-US" sz="850" dirty="0"/>
          </a:p>
        </p:txBody>
      </p:sp>
      <p:sp>
        <p:nvSpPr>
          <p:cNvPr id="17" name="Shape 14"/>
          <p:cNvSpPr/>
          <p:nvPr/>
        </p:nvSpPr>
        <p:spPr>
          <a:xfrm>
            <a:off x="2962656" y="2834640"/>
            <a:ext cx="2377440" cy="1536192"/>
          </a:xfrm>
          <a:prstGeom prst="rect">
            <a:avLst/>
          </a:prstGeom>
          <a:solidFill>
            <a:srgbClr val="262626"/>
          </a:solidFill>
          <a:ln w="12700">
            <a:solidFill>
              <a:srgbClr val="262626"/>
            </a:solidFill>
            <a:prstDash val="solid"/>
          </a:ln>
        </p:spPr>
      </p:sp>
      <p:sp>
        <p:nvSpPr>
          <p:cNvPr id="18" name="Text 15"/>
          <p:cNvSpPr txBox="1"/>
          <p:nvPr/>
        </p:nvSpPr>
        <p:spPr>
          <a:xfrm>
            <a:off x="3127248" y="2999232"/>
            <a:ext cx="2048256" cy="228600"/>
          </a:xfrm>
          <a:prstGeom prst="rect">
            <a:avLst/>
          </a:prstGeom>
          <a:noFill/>
          <a:ln/>
        </p:spPr>
        <p:txBody>
          <a:bodyPr wrap="square" lIns="0" tIns="0" rIns="0" bIns="0" rtlCol="0" anchor="t"/>
          <a:lstStyle/>
          <a:p>
            <a:pPr indent="0" marL="0">
              <a:buNone/>
            </a:pPr>
            <a:r>
              <a:rPr lang="en-US" sz="1100" dirty="0">
                <a:solidFill>
                  <a:srgbClr val="FFC63E"/>
                </a:solidFill>
                <a:latin typeface="Poppins ExtraBold" pitchFamily="34" charset="0"/>
                <a:ea typeface="Poppins ExtraBold" pitchFamily="34" charset="-122"/>
                <a:cs typeface="Poppins ExtraBold" pitchFamily="34" charset="-120"/>
              </a:rPr>
              <a:t>WAYS TO BUY</a:t>
            </a:r>
            <a:endParaRPr lang="en-US" sz="1100" dirty="0"/>
          </a:p>
        </p:txBody>
      </p:sp>
      <p:sp>
        <p:nvSpPr>
          <p:cNvPr id="19" name="Text 16"/>
          <p:cNvSpPr txBox="1"/>
          <p:nvPr/>
        </p:nvSpPr>
        <p:spPr>
          <a:xfrm>
            <a:off x="3127248" y="3310128"/>
            <a:ext cx="2048256" cy="960120"/>
          </a:xfrm>
          <a:prstGeom prst="rect">
            <a:avLst/>
          </a:prstGeom>
          <a:noFill/>
          <a:ln/>
        </p:spPr>
        <p:txBody>
          <a:bodyPr wrap="square" lIns="0" tIns="0" rIns="0" bIns="0" rtlCol="0" anchor="t"/>
          <a:lstStyle/>
          <a:p>
            <a:pPr indent="0" marL="0">
              <a:buNone/>
            </a:pPr>
            <a:r>
              <a:rPr lang="en-US" sz="850" dirty="0">
                <a:solidFill>
                  <a:srgbClr val="E3E3E3"/>
                </a:solidFill>
                <a:latin typeface="Poppins" pitchFamily="34" charset="0"/>
                <a:ea typeface="Poppins" pitchFamily="34" charset="-122"/>
                <a:cs typeface="Poppins" pitchFamily="34" charset="-120"/>
              </a:rPr>
              <a:t>Direct IO managed by Sabio, or a curated PMP deal ID on Zenith's DSP. One rate covers data and media.</a:t>
            </a:r>
            <a:endParaRPr lang="en-US" sz="850" dirty="0"/>
          </a:p>
        </p:txBody>
      </p:sp>
      <p:sp>
        <p:nvSpPr>
          <p:cNvPr id="20" name="Shape 17"/>
          <p:cNvSpPr/>
          <p:nvPr/>
        </p:nvSpPr>
        <p:spPr>
          <a:xfrm>
            <a:off x="5486400" y="1188720"/>
            <a:ext cx="3200400" cy="3182112"/>
          </a:xfrm>
          <a:prstGeom prst="rect">
            <a:avLst/>
          </a:prstGeom>
          <a:solidFill>
            <a:srgbClr val="FFC63E"/>
          </a:solidFill>
          <a:ln w="12700">
            <a:solidFill>
              <a:srgbClr val="FFC63E"/>
            </a:solidFill>
            <a:prstDash val="solid"/>
          </a:ln>
        </p:spPr>
      </p:sp>
      <p:sp>
        <p:nvSpPr>
          <p:cNvPr id="21" name="Text 18"/>
          <p:cNvSpPr txBox="1"/>
          <p:nvPr/>
        </p:nvSpPr>
        <p:spPr>
          <a:xfrm>
            <a:off x="5687568" y="1371600"/>
            <a:ext cx="2798064" cy="274320"/>
          </a:xfrm>
          <a:prstGeom prst="rect">
            <a:avLst/>
          </a:prstGeom>
          <a:noFill/>
          <a:ln/>
        </p:spPr>
        <p:txBody>
          <a:bodyPr wrap="square" lIns="0" tIns="0" rIns="0" bIns="0" rtlCol="0" anchor="t"/>
          <a:lstStyle/>
          <a:p>
            <a:pPr indent="0" marL="0">
              <a:buNone/>
            </a:pPr>
            <a:r>
              <a:rPr lang="en-US" sz="1200" dirty="0">
                <a:solidFill>
                  <a:srgbClr val="1A1A1A"/>
                </a:solidFill>
                <a:latin typeface="Poppins ExtraBold" pitchFamily="34" charset="0"/>
                <a:ea typeface="Poppins ExtraBold" pitchFamily="34" charset="-122"/>
                <a:cs typeface="Poppins ExtraBold" pitchFamily="34" charset="-120"/>
              </a:rPr>
              <a:t>WHAT ZENITH GETS</a:t>
            </a:r>
            <a:endParaRPr lang="en-US" sz="1200" dirty="0"/>
          </a:p>
        </p:txBody>
      </p:sp>
      <p:sp>
        <p:nvSpPr>
          <p:cNvPr id="22" name="Text 19"/>
          <p:cNvSpPr txBox="1"/>
          <p:nvPr/>
        </p:nvSpPr>
        <p:spPr>
          <a:xfrm>
            <a:off x="5687568" y="1755648"/>
            <a:ext cx="2798064" cy="2468880"/>
          </a:xfrm>
          <a:prstGeom prst="rect">
            <a:avLst/>
          </a:prstGeom>
          <a:noFill/>
          <a:ln/>
        </p:spPr>
        <p:txBody>
          <a:bodyPr wrap="square" lIns="0" tIns="0" rIns="0" bIns="0" rtlCol="0" anchor="t"/>
          <a:lstStyle/>
          <a:p>
            <a:pPr marL="152400" indent="-152400">
              <a:spcAft>
                <a:spcPts val="700"/>
              </a:spcAft>
              <a:buSzPct val="100000"/>
              <a:buChar char="•"/>
            </a:pPr>
            <a:r>
              <a:rPr lang="en-US" sz="950" dirty="0">
                <a:solidFill>
                  <a:srgbClr val="1A1A1A"/>
                </a:solidFill>
                <a:latin typeface="Poppins" pitchFamily="34" charset="0"/>
                <a:ea typeface="Poppins" pitchFamily="34" charset="-122"/>
                <a:cs typeface="Poppins" pitchFamily="34" charset="-120"/>
              </a:rPr>
              <a:t>A net-new app signal for CoreAI audiences</a:t>
            </a:r>
            <a:endParaRPr lang="en-US" sz="950" dirty="0"/>
          </a:p>
          <a:p>
            <a:pPr marL="152400" indent="-152400">
              <a:spcAft>
                <a:spcPts val="700"/>
              </a:spcAft>
              <a:buSzPct val="100000"/>
              <a:buChar char="•"/>
            </a:pPr>
            <a:r>
              <a:rPr lang="en-US" sz="950" dirty="0">
                <a:solidFill>
                  <a:srgbClr val="1A1A1A"/>
                </a:solidFill>
                <a:latin typeface="Poppins" pitchFamily="34" charset="0"/>
                <a:ea typeface="Poppins" pitchFamily="34" charset="-122"/>
                <a:cs typeface="Poppins" pitchFamily="34" charset="-120"/>
              </a:rPr>
              <a:t>Competitive wallet audiences Epsilon can't see</a:t>
            </a:r>
            <a:endParaRPr lang="en-US" sz="950" dirty="0"/>
          </a:p>
          <a:p>
            <a:pPr marL="152400" indent="-152400">
              <a:spcAft>
                <a:spcPts val="700"/>
              </a:spcAft>
              <a:buSzPct val="100000"/>
              <a:buChar char="•"/>
            </a:pPr>
            <a:r>
              <a:rPr lang="en-US" sz="950" dirty="0">
                <a:solidFill>
                  <a:srgbClr val="1A1A1A"/>
                </a:solidFill>
                <a:latin typeface="Poppins" pitchFamily="34" charset="0"/>
                <a:ea typeface="Poppins" pitchFamily="34" charset="-122"/>
                <a:cs typeface="Poppins" pitchFamily="34" charset="-120"/>
              </a:rPr>
              <a:t>DoubleVerify on every impression</a:t>
            </a:r>
            <a:endParaRPr lang="en-US" sz="950" dirty="0"/>
          </a:p>
          <a:p>
            <a:pPr marL="152400" indent="-152400">
              <a:spcAft>
                <a:spcPts val="700"/>
              </a:spcAft>
              <a:buSzPct val="100000"/>
              <a:buChar char="•"/>
            </a:pPr>
            <a:r>
              <a:rPr lang="en-US" sz="950" dirty="0">
                <a:solidFill>
                  <a:srgbClr val="1A1A1A"/>
                </a:solidFill>
                <a:latin typeface="Poppins" pitchFamily="34" charset="0"/>
                <a:ea typeface="Poppins" pitchFamily="34" charset="-122"/>
                <a:cs typeface="Poppins" pitchFamily="34" charset="-120"/>
              </a:rPr>
              <a:t>70% viewability guarantee</a:t>
            </a:r>
            <a:endParaRPr lang="en-US" sz="950" dirty="0"/>
          </a:p>
          <a:p>
            <a:pPr marL="152400" indent="-152400">
              <a:spcAft>
                <a:spcPts val="700"/>
              </a:spcAft>
              <a:buSzPct val="100000"/>
              <a:buChar char="•"/>
            </a:pPr>
            <a:r>
              <a:rPr lang="en-US" sz="950" dirty="0">
                <a:solidFill>
                  <a:srgbClr val="1A1A1A"/>
                </a:solidFill>
                <a:latin typeface="Poppins" pitchFamily="34" charset="0"/>
                <a:ea typeface="Poppins" pitchFamily="34" charset="-122"/>
                <a:cs typeface="Poppins" pitchFamily="34" charset="-120"/>
              </a:rPr>
              <a:t>Lift read on the same graph we target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457200"/>
          </a:xfrm>
          <a:prstGeom prst="rect">
            <a:avLst/>
          </a:prstGeom>
          <a:noFill/>
          <a:ln/>
        </p:spPr>
        <p:txBody>
          <a:bodyPr wrap="square" lIns="0" tIns="0" rIns="0" bIns="0" rtlCol="0" anchor="ctr"/>
          <a:lstStyle/>
          <a:p>
            <a:pPr indent="0" marL="0">
              <a:buNone/>
            </a:pPr>
            <a:r>
              <a:rPr lang="en-US" sz="2300" dirty="0">
                <a:solidFill>
                  <a:srgbClr val="FFFFFF"/>
                </a:solidFill>
                <a:latin typeface="Poppins ExtraBold" pitchFamily="34" charset="0"/>
                <a:ea typeface="Poppins ExtraBold" pitchFamily="34" charset="-122"/>
                <a:cs typeface="Poppins ExtraBold" pitchFamily="34" charset="-120"/>
              </a:rPr>
              <a:t>THE TEST PLAN AND PARTNER CHECKS</a:t>
            </a:r>
            <a:endParaRPr lang="en-US" sz="2300" dirty="0"/>
          </a:p>
        </p:txBody>
      </p:sp>
      <p:sp>
        <p:nvSpPr>
          <p:cNvPr id="3" name="Text 1"/>
          <p:cNvSpPr txBox="1"/>
          <p:nvPr/>
        </p:nvSpPr>
        <p:spPr>
          <a:xfrm>
            <a:off x="457200" y="822960"/>
            <a:ext cx="8229600" cy="237744"/>
          </a:xfrm>
          <a:prstGeom prst="rect">
            <a:avLst/>
          </a:prstGeom>
          <a:noFill/>
          <a:ln/>
        </p:spPr>
        <p:txBody>
          <a:bodyPr wrap="square" lIns="0" tIns="0" rIns="0" bIns="0" rtlCol="0" anchor="t"/>
          <a:lstStyle/>
          <a:p>
            <a:pPr indent="0" marL="0">
              <a:buNone/>
            </a:pPr>
            <a:r>
              <a:rPr lang="en-US" sz="850" spc="100" kern="0" dirty="0">
                <a:solidFill>
                  <a:srgbClr val="FFC63E"/>
                </a:solidFill>
                <a:latin typeface="Poppins SemiBold" pitchFamily="34" charset="0"/>
                <a:ea typeface="Poppins SemiBold" pitchFamily="34" charset="-122"/>
                <a:cs typeface="Poppins SemiBold" pitchFamily="34" charset="-120"/>
              </a:rPr>
              <a:t>$300K OVER EIGHT WEEKS · EVERYTHING ZENITH INVESTMENT ASKS BEFORE A BUY</a:t>
            </a:r>
            <a:endParaRPr lang="en-US" sz="850" dirty="0"/>
          </a:p>
        </p:txBody>
      </p:sp>
      <p:sp>
        <p:nvSpPr>
          <p:cNvPr id="4" name="Text 2"/>
          <p:cNvSpPr txBox="1"/>
          <p:nvPr/>
        </p:nvSpPr>
        <p:spPr>
          <a:xfrm>
            <a:off x="457200" y="4539996"/>
            <a:ext cx="7040880" cy="237744"/>
          </a:xfrm>
          <a:prstGeom prst="rect">
            <a:avLst/>
          </a:prstGeom>
          <a:noFill/>
          <a:ln/>
        </p:spPr>
        <p:txBody>
          <a:bodyPr wrap="square" lIns="0" tIns="0" rIns="0" bIns="0" rtlCol="0" anchor="b"/>
          <a:lstStyle/>
          <a:p>
            <a:pPr indent="0" marL="0">
              <a:buNone/>
            </a:pPr>
            <a:r>
              <a:rPr lang="en-US" sz="650" dirty="0">
                <a:solidFill>
                  <a:srgbClr val="7E7E7E"/>
                </a:solidFill>
                <a:latin typeface="Poppins" pitchFamily="34" charset="0"/>
                <a:ea typeface="Poppins" pitchFamily="34" charset="-122"/>
                <a:cs typeface="Poppins" pitchFamily="34" charset="-120"/>
              </a:rPr>
              <a:t>Rate from the Sabio rate card (Prime, standard video); CTV rate and added value tier to be confirmed before send.</a:t>
            </a:r>
            <a:endParaRPr lang="en-US" sz="650" dirty="0"/>
          </a:p>
        </p:txBody>
      </p:sp>
      <p:sp>
        <p:nvSpPr>
          <p:cNvPr id="5" name="Text 3"/>
          <p:cNvSpPr txBox="1"/>
          <p:nvPr/>
        </p:nvSpPr>
        <p:spPr>
          <a:xfrm>
            <a:off x="457200" y="4832604"/>
            <a:ext cx="365760" cy="182880"/>
          </a:xfrm>
          <a:prstGeom prst="rect">
            <a:avLst/>
          </a:prstGeom>
          <a:noFill/>
          <a:ln/>
        </p:spPr>
        <p:txBody>
          <a:bodyPr wrap="square" lIns="0" tIns="0" rIns="0" bIns="0" rtlCol="0" anchor="t"/>
          <a:lstStyle/>
          <a:p>
            <a:pPr indent="0" marL="0">
              <a:buNone/>
            </a:pPr>
            <a:r>
              <a:rPr lang="en-US" sz="800" dirty="0">
                <a:solidFill>
                  <a:srgbClr val="7E7E7E"/>
                </a:solidFill>
                <a:latin typeface="Poppins SemiBold" pitchFamily="34" charset="0"/>
                <a:ea typeface="Poppins SemiBold" pitchFamily="34" charset="-122"/>
                <a:cs typeface="Poppins SemiBold" pitchFamily="34" charset="-120"/>
              </a:rPr>
              <a:t>7</a:t>
            </a:r>
            <a:endParaRPr lang="en-US" sz="800" dirty="0"/>
          </a:p>
        </p:txBody>
      </p:sp>
      <p:sp>
        <p:nvSpPr>
          <p:cNvPr id="6" name="Text 4"/>
          <p:cNvSpPr txBox="1"/>
          <p:nvPr/>
        </p:nvSpPr>
        <p:spPr>
          <a:xfrm>
            <a:off x="868680" y="4832604"/>
            <a:ext cx="5486400" cy="182880"/>
          </a:xfrm>
          <a:prstGeom prst="rect">
            <a:avLst/>
          </a:prstGeom>
          <a:noFill/>
          <a:ln/>
        </p:spPr>
        <p:txBody>
          <a:bodyPr wrap="square" lIns="0" tIns="0" rIns="0" bIns="0" rtlCol="0" anchor="t"/>
          <a:lstStyle/>
          <a:p>
            <a:pPr indent="0" marL="0">
              <a:buNone/>
            </a:pPr>
            <a:r>
              <a:rPr lang="en-US" sz="700" dirty="0">
                <a:solidFill>
                  <a:srgbClr val="7E7E7E"/>
                </a:solidFill>
                <a:latin typeface="Poppins" pitchFamily="34" charset="0"/>
                <a:ea typeface="Poppins" pitchFamily="34" charset="-122"/>
                <a:cs typeface="Poppins" pitchFamily="34" charset="-120"/>
              </a:rPr>
              <a:t>Sabio × PayPal  ·  Proactive point of view for Zenith  ·  Confidential</a:t>
            </a:r>
            <a:endParaRPr lang="en-US" sz="700" dirty="0"/>
          </a:p>
        </p:txBody>
      </p:sp>
      <p:pic>
        <p:nvPicPr>
          <p:cNvPr id="7" name="Image 0" descr="/home/claude/benjaminbring-cloud/sabio-deck-builders-/assets/sabio-logo-white-sm.png">    </p:cNvPr>
          <p:cNvPicPr>
            <a:picLocks noChangeAspect="1"/>
          </p:cNvPicPr>
          <p:nvPr/>
        </p:nvPicPr>
        <p:blipFill>
          <a:blip r:embed="rId1"/>
          <a:stretch>
            <a:fillRect/>
          </a:stretch>
        </p:blipFill>
        <p:spPr>
          <a:xfrm>
            <a:off x="8028432" y="4805172"/>
            <a:ext cx="647572" cy="155448"/>
          </a:xfrm>
          <a:prstGeom prst="rect">
            <a:avLst/>
          </a:prstGeom>
        </p:spPr>
      </p:pic>
      <p:sp>
        <p:nvSpPr>
          <p:cNvPr id="8" name="Shape 5"/>
          <p:cNvSpPr/>
          <p:nvPr/>
        </p:nvSpPr>
        <p:spPr>
          <a:xfrm>
            <a:off x="457200" y="1188720"/>
            <a:ext cx="2657856" cy="1536192"/>
          </a:xfrm>
          <a:prstGeom prst="rect">
            <a:avLst/>
          </a:prstGeom>
          <a:solidFill>
            <a:srgbClr val="262626"/>
          </a:solidFill>
          <a:ln w="12700">
            <a:solidFill>
              <a:srgbClr val="262626"/>
            </a:solidFill>
            <a:prstDash val="solid"/>
          </a:ln>
        </p:spPr>
      </p:sp>
      <p:sp>
        <p:nvSpPr>
          <p:cNvPr id="9" name="Text 6"/>
          <p:cNvSpPr txBox="1"/>
          <p:nvPr/>
        </p:nvSpPr>
        <p:spPr>
          <a:xfrm>
            <a:off x="621792" y="1335024"/>
            <a:ext cx="2328672" cy="201168"/>
          </a:xfrm>
          <a:prstGeom prst="rect">
            <a:avLst/>
          </a:prstGeom>
          <a:noFill/>
          <a:ln/>
        </p:spPr>
        <p:txBody>
          <a:bodyPr wrap="square" lIns="0" tIns="0" rIns="0" bIns="0" rtlCol="0" anchor="t"/>
          <a:lstStyle/>
          <a:p>
            <a:pPr indent="0" marL="0">
              <a:buNone/>
            </a:pPr>
            <a:r>
              <a:rPr lang="en-US" sz="850" spc="100" kern="0" dirty="0">
                <a:solidFill>
                  <a:srgbClr val="FFC63E"/>
                </a:solidFill>
                <a:latin typeface="Poppins SemiBold" pitchFamily="34" charset="0"/>
                <a:ea typeface="Poppins SemiBold" pitchFamily="34" charset="-122"/>
                <a:cs typeface="Poppins SemiBold" pitchFamily="34" charset="-120"/>
              </a:rPr>
              <a:t>BUDGET AND FLIGHT</a:t>
            </a:r>
            <a:endParaRPr lang="en-US" sz="850" dirty="0"/>
          </a:p>
        </p:txBody>
      </p:sp>
      <p:sp>
        <p:nvSpPr>
          <p:cNvPr id="10" name="Text 7"/>
          <p:cNvSpPr txBox="1"/>
          <p:nvPr/>
        </p:nvSpPr>
        <p:spPr>
          <a:xfrm>
            <a:off x="621792" y="1591056"/>
            <a:ext cx="2328672" cy="1033272"/>
          </a:xfrm>
          <a:prstGeom prst="rect">
            <a:avLst/>
          </a:prstGeom>
          <a:noFill/>
          <a:ln/>
        </p:spPr>
        <p:txBody>
          <a:bodyPr wrap="square" lIns="0" tIns="0" rIns="0" bIns="0" rtlCol="0" anchor="t"/>
          <a:lstStyle/>
          <a:p>
            <a:pPr indent="0" marL="0">
              <a:buNone/>
            </a:pPr>
            <a:r>
              <a:rPr lang="en-US" sz="850" dirty="0">
                <a:solidFill>
                  <a:srgbClr val="E3E3E3"/>
                </a:solidFill>
                <a:latin typeface="Poppins" pitchFamily="34" charset="0"/>
                <a:ea typeface="Poppins" pitchFamily="34" charset="-122"/>
                <a:cs typeface="Poppins" pitchFamily="34" charset="-120"/>
              </a:rPr>
              <a:t>$300K, Nov 2 to Dec 27, 2026. Spend shifts to the best audience after week 3.</a:t>
            </a:r>
            <a:endParaRPr lang="en-US" sz="850" dirty="0"/>
          </a:p>
        </p:txBody>
      </p:sp>
      <p:sp>
        <p:nvSpPr>
          <p:cNvPr id="11" name="Shape 8"/>
          <p:cNvSpPr/>
          <p:nvPr/>
        </p:nvSpPr>
        <p:spPr>
          <a:xfrm>
            <a:off x="3243072" y="1188720"/>
            <a:ext cx="2657856" cy="1536192"/>
          </a:xfrm>
          <a:prstGeom prst="rect">
            <a:avLst/>
          </a:prstGeom>
          <a:solidFill>
            <a:srgbClr val="262626"/>
          </a:solidFill>
          <a:ln w="12700">
            <a:solidFill>
              <a:srgbClr val="262626"/>
            </a:solidFill>
            <a:prstDash val="solid"/>
          </a:ln>
        </p:spPr>
      </p:sp>
      <p:sp>
        <p:nvSpPr>
          <p:cNvPr id="12" name="Text 9"/>
          <p:cNvSpPr txBox="1"/>
          <p:nvPr/>
        </p:nvSpPr>
        <p:spPr>
          <a:xfrm>
            <a:off x="3407664" y="1335024"/>
            <a:ext cx="2328672" cy="201168"/>
          </a:xfrm>
          <a:prstGeom prst="rect">
            <a:avLst/>
          </a:prstGeom>
          <a:noFill/>
          <a:ln/>
        </p:spPr>
        <p:txBody>
          <a:bodyPr wrap="square" lIns="0" tIns="0" rIns="0" bIns="0" rtlCol="0" anchor="t"/>
          <a:lstStyle/>
          <a:p>
            <a:pPr indent="0" marL="0">
              <a:buNone/>
            </a:pPr>
            <a:r>
              <a:rPr lang="en-US" sz="850" spc="100" kern="0" dirty="0">
                <a:solidFill>
                  <a:srgbClr val="FFC63E"/>
                </a:solidFill>
                <a:latin typeface="Poppins SemiBold" pitchFamily="34" charset="0"/>
                <a:ea typeface="Poppins SemiBold" pitchFamily="34" charset="-122"/>
                <a:cs typeface="Poppins SemiBold" pitchFamily="34" charset="-120"/>
              </a:rPr>
              <a:t>RATE AND DELIVERY</a:t>
            </a:r>
            <a:endParaRPr lang="en-US" sz="850" dirty="0"/>
          </a:p>
        </p:txBody>
      </p:sp>
      <p:sp>
        <p:nvSpPr>
          <p:cNvPr id="13" name="Text 10"/>
          <p:cNvSpPr txBox="1"/>
          <p:nvPr/>
        </p:nvSpPr>
        <p:spPr>
          <a:xfrm>
            <a:off x="3407664" y="1591056"/>
            <a:ext cx="2328672" cy="1033272"/>
          </a:xfrm>
          <a:prstGeom prst="rect">
            <a:avLst/>
          </a:prstGeom>
          <a:noFill/>
          <a:ln/>
        </p:spPr>
        <p:txBody>
          <a:bodyPr wrap="square" lIns="0" tIns="0" rIns="0" bIns="0" rtlCol="0" anchor="t"/>
          <a:lstStyle/>
          <a:p>
            <a:pPr indent="0" marL="0">
              <a:buNone/>
            </a:pPr>
            <a:r>
              <a:rPr lang="en-US" sz="850" dirty="0">
                <a:solidFill>
                  <a:srgbClr val="E3E3E3"/>
                </a:solidFill>
                <a:latin typeface="Poppins" pitchFamily="34" charset="0"/>
                <a:ea typeface="Poppins" pitchFamily="34" charset="-122"/>
                <a:cs typeface="Poppins" pitchFamily="34" charset="-120"/>
              </a:rPr>
              <a:t>$17.48 CPM, data and media in one rate [CONFIRM CTV rate]. About 17.2MM impressions.</a:t>
            </a:r>
            <a:endParaRPr lang="en-US" sz="850" dirty="0"/>
          </a:p>
        </p:txBody>
      </p:sp>
      <p:sp>
        <p:nvSpPr>
          <p:cNvPr id="14" name="Shape 11"/>
          <p:cNvSpPr/>
          <p:nvPr/>
        </p:nvSpPr>
        <p:spPr>
          <a:xfrm>
            <a:off x="6028944" y="1188720"/>
            <a:ext cx="2657856" cy="1536192"/>
          </a:xfrm>
          <a:prstGeom prst="rect">
            <a:avLst/>
          </a:prstGeom>
          <a:solidFill>
            <a:srgbClr val="262626"/>
          </a:solidFill>
          <a:ln w="12700">
            <a:solidFill>
              <a:srgbClr val="262626"/>
            </a:solidFill>
            <a:prstDash val="solid"/>
          </a:ln>
        </p:spPr>
      </p:sp>
      <p:sp>
        <p:nvSpPr>
          <p:cNvPr id="15" name="Text 12"/>
          <p:cNvSpPr txBox="1"/>
          <p:nvPr/>
        </p:nvSpPr>
        <p:spPr>
          <a:xfrm>
            <a:off x="6193536" y="1335024"/>
            <a:ext cx="2328672" cy="201168"/>
          </a:xfrm>
          <a:prstGeom prst="rect">
            <a:avLst/>
          </a:prstGeom>
          <a:noFill/>
          <a:ln/>
        </p:spPr>
        <p:txBody>
          <a:bodyPr wrap="square" lIns="0" tIns="0" rIns="0" bIns="0" rtlCol="0" anchor="t"/>
          <a:lstStyle/>
          <a:p>
            <a:pPr indent="0" marL="0">
              <a:buNone/>
            </a:pPr>
            <a:r>
              <a:rPr lang="en-US" sz="850" spc="100" kern="0" dirty="0">
                <a:solidFill>
                  <a:srgbClr val="FFC63E"/>
                </a:solidFill>
                <a:latin typeface="Poppins SemiBold" pitchFamily="34" charset="0"/>
                <a:ea typeface="Poppins SemiBold" pitchFamily="34" charset="-122"/>
                <a:cs typeface="Poppins SemiBold" pitchFamily="34" charset="-120"/>
              </a:rPr>
              <a:t>ADDED VALUE</a:t>
            </a:r>
            <a:endParaRPr lang="en-US" sz="850" dirty="0"/>
          </a:p>
        </p:txBody>
      </p:sp>
      <p:sp>
        <p:nvSpPr>
          <p:cNvPr id="16" name="Text 13"/>
          <p:cNvSpPr txBox="1"/>
          <p:nvPr/>
        </p:nvSpPr>
        <p:spPr>
          <a:xfrm>
            <a:off x="6193536" y="1591056"/>
            <a:ext cx="2328672" cy="1033272"/>
          </a:xfrm>
          <a:prstGeom prst="rect">
            <a:avLst/>
          </a:prstGeom>
          <a:noFill/>
          <a:ln/>
        </p:spPr>
        <p:txBody>
          <a:bodyPr wrap="square" lIns="0" tIns="0" rIns="0" bIns="0" rtlCol="0" anchor="t"/>
          <a:lstStyle/>
          <a:p>
            <a:pPr indent="0" marL="0">
              <a:buNone/>
            </a:pPr>
            <a:r>
              <a:rPr lang="en-US" sz="850" dirty="0">
                <a:solidFill>
                  <a:srgbClr val="E3E3E3"/>
                </a:solidFill>
                <a:latin typeface="Poppins" pitchFamily="34" charset="0"/>
                <a:ea typeface="Poppins" pitchFamily="34" charset="-122"/>
                <a:cs typeface="Poppins" pitchFamily="34" charset="-120"/>
              </a:rPr>
              <a:t>Advanced App Science® insights at $275K+: reach and frequency, app, TV and place affinities, audience verification.</a:t>
            </a:r>
            <a:endParaRPr lang="en-US" sz="850" dirty="0"/>
          </a:p>
        </p:txBody>
      </p:sp>
      <p:sp>
        <p:nvSpPr>
          <p:cNvPr id="17" name="Shape 14"/>
          <p:cNvSpPr/>
          <p:nvPr/>
        </p:nvSpPr>
        <p:spPr>
          <a:xfrm>
            <a:off x="457200" y="2852928"/>
            <a:ext cx="2657856" cy="1536192"/>
          </a:xfrm>
          <a:prstGeom prst="rect">
            <a:avLst/>
          </a:prstGeom>
          <a:solidFill>
            <a:srgbClr val="262626"/>
          </a:solidFill>
          <a:ln w="12700">
            <a:solidFill>
              <a:srgbClr val="262626"/>
            </a:solidFill>
            <a:prstDash val="solid"/>
          </a:ln>
        </p:spPr>
      </p:sp>
      <p:sp>
        <p:nvSpPr>
          <p:cNvPr id="18" name="Text 15"/>
          <p:cNvSpPr txBox="1"/>
          <p:nvPr/>
        </p:nvSpPr>
        <p:spPr>
          <a:xfrm>
            <a:off x="621792" y="2999232"/>
            <a:ext cx="2328672" cy="201168"/>
          </a:xfrm>
          <a:prstGeom prst="rect">
            <a:avLst/>
          </a:prstGeom>
          <a:noFill/>
          <a:ln/>
        </p:spPr>
        <p:txBody>
          <a:bodyPr wrap="square" lIns="0" tIns="0" rIns="0" bIns="0" rtlCol="0" anchor="t"/>
          <a:lstStyle/>
          <a:p>
            <a:pPr indent="0" marL="0">
              <a:buNone/>
            </a:pPr>
            <a:r>
              <a:rPr lang="en-US" sz="850" spc="100" kern="0" dirty="0">
                <a:solidFill>
                  <a:srgbClr val="FFC63E"/>
                </a:solidFill>
                <a:latin typeface="Poppins SemiBold" pitchFamily="34" charset="0"/>
                <a:ea typeface="Poppins SemiBold" pitchFamily="34" charset="-122"/>
                <a:cs typeface="Poppins SemiBold" pitchFamily="34" charset="-120"/>
              </a:rPr>
              <a:t>MEASUREMENT</a:t>
            </a:r>
            <a:endParaRPr lang="en-US" sz="850" dirty="0"/>
          </a:p>
        </p:txBody>
      </p:sp>
      <p:sp>
        <p:nvSpPr>
          <p:cNvPr id="19" name="Text 16"/>
          <p:cNvSpPr txBox="1"/>
          <p:nvPr/>
        </p:nvSpPr>
        <p:spPr>
          <a:xfrm>
            <a:off x="621792" y="3255264"/>
            <a:ext cx="2328672" cy="1033272"/>
          </a:xfrm>
          <a:prstGeom prst="rect">
            <a:avLst/>
          </a:prstGeom>
          <a:noFill/>
          <a:ln/>
        </p:spPr>
        <p:txBody>
          <a:bodyPr wrap="square" lIns="0" tIns="0" rIns="0" bIns="0" rtlCol="0" anchor="t"/>
          <a:lstStyle/>
          <a:p>
            <a:pPr indent="0" marL="0">
              <a:buNone/>
            </a:pPr>
            <a:r>
              <a:rPr lang="en-US" sz="850" dirty="0">
                <a:solidFill>
                  <a:srgbClr val="E3E3E3"/>
                </a:solidFill>
                <a:latin typeface="Poppins" pitchFamily="34" charset="0"/>
                <a:ea typeface="Poppins" pitchFamily="34" charset="-122"/>
                <a:cs typeface="Poppins" pitchFamily="34" charset="-120"/>
              </a:rPr>
              <a:t>Brand lift for PayPal and Venmo, exposed vs. control households, matched 1:1 on the App Science® graph.</a:t>
            </a:r>
            <a:endParaRPr lang="en-US" sz="850" dirty="0"/>
          </a:p>
        </p:txBody>
      </p:sp>
      <p:sp>
        <p:nvSpPr>
          <p:cNvPr id="20" name="Shape 17"/>
          <p:cNvSpPr/>
          <p:nvPr/>
        </p:nvSpPr>
        <p:spPr>
          <a:xfrm>
            <a:off x="3243072" y="2852928"/>
            <a:ext cx="2657856" cy="1536192"/>
          </a:xfrm>
          <a:prstGeom prst="rect">
            <a:avLst/>
          </a:prstGeom>
          <a:solidFill>
            <a:srgbClr val="262626"/>
          </a:solidFill>
          <a:ln w="12700">
            <a:solidFill>
              <a:srgbClr val="262626"/>
            </a:solidFill>
            <a:prstDash val="solid"/>
          </a:ln>
        </p:spPr>
      </p:sp>
      <p:sp>
        <p:nvSpPr>
          <p:cNvPr id="21" name="Text 18"/>
          <p:cNvSpPr txBox="1"/>
          <p:nvPr/>
        </p:nvSpPr>
        <p:spPr>
          <a:xfrm>
            <a:off x="3407664" y="2999232"/>
            <a:ext cx="2328672" cy="201168"/>
          </a:xfrm>
          <a:prstGeom prst="rect">
            <a:avLst/>
          </a:prstGeom>
          <a:noFill/>
          <a:ln/>
        </p:spPr>
        <p:txBody>
          <a:bodyPr wrap="square" lIns="0" tIns="0" rIns="0" bIns="0" rtlCol="0" anchor="t"/>
          <a:lstStyle/>
          <a:p>
            <a:pPr indent="0" marL="0">
              <a:buNone/>
            </a:pPr>
            <a:r>
              <a:rPr lang="en-US" sz="850" spc="100" kern="0" dirty="0">
                <a:solidFill>
                  <a:srgbClr val="FFC63E"/>
                </a:solidFill>
                <a:latin typeface="Poppins SemiBold" pitchFamily="34" charset="0"/>
                <a:ea typeface="Poppins SemiBold" pitchFamily="34" charset="-122"/>
                <a:cs typeface="Poppins SemiBold" pitchFamily="34" charset="-120"/>
              </a:rPr>
              <a:t>PRIVACY AND SAFETY</a:t>
            </a:r>
            <a:endParaRPr lang="en-US" sz="850" dirty="0"/>
          </a:p>
        </p:txBody>
      </p:sp>
      <p:sp>
        <p:nvSpPr>
          <p:cNvPr id="22" name="Text 19"/>
          <p:cNvSpPr txBox="1"/>
          <p:nvPr/>
        </p:nvSpPr>
        <p:spPr>
          <a:xfrm>
            <a:off x="3407664" y="3255264"/>
            <a:ext cx="2328672" cy="1033272"/>
          </a:xfrm>
          <a:prstGeom prst="rect">
            <a:avLst/>
          </a:prstGeom>
          <a:noFill/>
          <a:ln/>
        </p:spPr>
        <p:txBody>
          <a:bodyPr wrap="square" lIns="0" tIns="0" rIns="0" bIns="0" rtlCol="0" anchor="t"/>
          <a:lstStyle/>
          <a:p>
            <a:pPr indent="0" marL="0">
              <a:buNone/>
            </a:pPr>
            <a:r>
              <a:rPr lang="en-US" sz="850" dirty="0">
                <a:solidFill>
                  <a:srgbClr val="E3E3E3"/>
                </a:solidFill>
                <a:latin typeface="Poppins" pitchFamily="34" charset="0"/>
                <a:ea typeface="Poppins" pitchFamily="34" charset="-122"/>
                <a:cs typeface="Poppins" pitchFamily="34" charset="-120"/>
              </a:rPr>
              <a:t>App ownership only, never balances or transactions. Aggregated reporting. DoubleVerify and a 70% viewability guarantee.</a:t>
            </a:r>
            <a:endParaRPr lang="en-US" sz="850" dirty="0"/>
          </a:p>
        </p:txBody>
      </p:sp>
      <p:sp>
        <p:nvSpPr>
          <p:cNvPr id="23" name="Shape 20"/>
          <p:cNvSpPr/>
          <p:nvPr/>
        </p:nvSpPr>
        <p:spPr>
          <a:xfrm>
            <a:off x="6028944" y="2852928"/>
            <a:ext cx="2657856" cy="1536192"/>
          </a:xfrm>
          <a:prstGeom prst="rect">
            <a:avLst/>
          </a:prstGeom>
          <a:solidFill>
            <a:srgbClr val="262626"/>
          </a:solidFill>
          <a:ln w="12700">
            <a:solidFill>
              <a:srgbClr val="262626"/>
            </a:solidFill>
            <a:prstDash val="solid"/>
          </a:ln>
        </p:spPr>
      </p:sp>
      <p:sp>
        <p:nvSpPr>
          <p:cNvPr id="24" name="Text 21"/>
          <p:cNvSpPr txBox="1"/>
          <p:nvPr/>
        </p:nvSpPr>
        <p:spPr>
          <a:xfrm>
            <a:off x="6193536" y="2999232"/>
            <a:ext cx="2328672" cy="201168"/>
          </a:xfrm>
          <a:prstGeom prst="rect">
            <a:avLst/>
          </a:prstGeom>
          <a:noFill/>
          <a:ln/>
        </p:spPr>
        <p:txBody>
          <a:bodyPr wrap="square" lIns="0" tIns="0" rIns="0" bIns="0" rtlCol="0" anchor="t"/>
          <a:lstStyle/>
          <a:p>
            <a:pPr indent="0" marL="0">
              <a:buNone/>
            </a:pPr>
            <a:r>
              <a:rPr lang="en-US" sz="850" spc="100" kern="0" dirty="0">
                <a:solidFill>
                  <a:srgbClr val="FFC63E"/>
                </a:solidFill>
                <a:latin typeface="Poppins SemiBold" pitchFamily="34" charset="0"/>
                <a:ea typeface="Poppins SemiBold" pitchFamily="34" charset="-122"/>
                <a:cs typeface="Poppins SemiBold" pitchFamily="34" charset="-120"/>
              </a:rPr>
              <a:t>SUPPLIER DIVERSITY</a:t>
            </a:r>
            <a:endParaRPr lang="en-US" sz="850" dirty="0"/>
          </a:p>
        </p:txBody>
      </p:sp>
      <p:sp>
        <p:nvSpPr>
          <p:cNvPr id="25" name="Text 22"/>
          <p:cNvSpPr txBox="1"/>
          <p:nvPr/>
        </p:nvSpPr>
        <p:spPr>
          <a:xfrm>
            <a:off x="6193536" y="3255264"/>
            <a:ext cx="2328672" cy="1033272"/>
          </a:xfrm>
          <a:prstGeom prst="rect">
            <a:avLst/>
          </a:prstGeom>
          <a:noFill/>
          <a:ln/>
        </p:spPr>
        <p:txBody>
          <a:bodyPr wrap="square" lIns="0" tIns="0" rIns="0" bIns="0" rtlCol="0" anchor="t"/>
          <a:lstStyle/>
          <a:p>
            <a:pPr indent="0" marL="0">
              <a:buNone/>
            </a:pPr>
            <a:r>
              <a:rPr lang="en-US" sz="850" dirty="0">
                <a:solidFill>
                  <a:srgbClr val="E3E3E3"/>
                </a:solidFill>
                <a:latin typeface="Poppins" pitchFamily="34" charset="0"/>
                <a:ea typeface="Poppins" pitchFamily="34" charset="-122"/>
                <a:cs typeface="Poppins" pitchFamily="34" charset="-120"/>
              </a:rPr>
              <a:t>Sabio is minority-owned, so this spend counts toward PayPal and Publicis supplier diversity goals.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457200"/>
          </a:xfrm>
          <a:prstGeom prst="rect">
            <a:avLst/>
          </a:prstGeom>
          <a:noFill/>
          <a:ln/>
        </p:spPr>
        <p:txBody>
          <a:bodyPr wrap="square" lIns="0" tIns="0" rIns="0" bIns="0" rtlCol="0" anchor="ctr"/>
          <a:lstStyle/>
          <a:p>
            <a:pPr indent="0" marL="0">
              <a:buNone/>
            </a:pPr>
            <a:r>
              <a:rPr lang="en-US" sz="2300" dirty="0">
                <a:solidFill>
                  <a:srgbClr val="FFFFFF"/>
                </a:solidFill>
                <a:latin typeface="Poppins ExtraBold" pitchFamily="34" charset="0"/>
                <a:ea typeface="Poppins ExtraBold" pitchFamily="34" charset="-122"/>
                <a:cs typeface="Poppins ExtraBold" pitchFamily="34" charset="-120"/>
              </a:rPr>
              <a:t>PROOF FROM FINANCE AND RETAIL</a:t>
            </a:r>
            <a:endParaRPr lang="en-US" sz="2300" dirty="0"/>
          </a:p>
        </p:txBody>
      </p:sp>
      <p:sp>
        <p:nvSpPr>
          <p:cNvPr id="3" name="Text 1"/>
          <p:cNvSpPr txBox="1"/>
          <p:nvPr/>
        </p:nvSpPr>
        <p:spPr>
          <a:xfrm>
            <a:off x="457200" y="822960"/>
            <a:ext cx="8229600" cy="237744"/>
          </a:xfrm>
          <a:prstGeom prst="rect">
            <a:avLst/>
          </a:prstGeom>
          <a:noFill/>
          <a:ln/>
        </p:spPr>
        <p:txBody>
          <a:bodyPr wrap="square" lIns="0" tIns="0" rIns="0" bIns="0" rtlCol="0" anchor="t"/>
          <a:lstStyle/>
          <a:p>
            <a:pPr indent="0" marL="0">
              <a:buNone/>
            </a:pPr>
            <a:r>
              <a:rPr lang="en-US" sz="850" spc="100" kern="0" dirty="0">
                <a:solidFill>
                  <a:srgbClr val="FFC63E"/>
                </a:solidFill>
                <a:latin typeface="Poppins SemiBold" pitchFamily="34" charset="0"/>
                <a:ea typeface="Poppins SemiBold" pitchFamily="34" charset="-122"/>
                <a:cs typeface="Poppins SemiBold" pitchFamily="34" charset="-120"/>
              </a:rPr>
              <a:t>NAMED, PUBLISHED SABIO CASE STUDIES</a:t>
            </a:r>
            <a:endParaRPr lang="en-US" sz="850" dirty="0"/>
          </a:p>
        </p:txBody>
      </p:sp>
      <p:sp>
        <p:nvSpPr>
          <p:cNvPr id="4" name="Text 2"/>
          <p:cNvSpPr txBox="1"/>
          <p:nvPr/>
        </p:nvSpPr>
        <p:spPr>
          <a:xfrm>
            <a:off x="457200" y="4539996"/>
            <a:ext cx="7040880" cy="237744"/>
          </a:xfrm>
          <a:prstGeom prst="rect">
            <a:avLst/>
          </a:prstGeom>
          <a:noFill/>
          <a:ln/>
        </p:spPr>
        <p:txBody>
          <a:bodyPr wrap="square" lIns="0" tIns="0" rIns="0" bIns="0" rtlCol="0" anchor="b"/>
          <a:lstStyle/>
          <a:p>
            <a:pPr indent="0" marL="0">
              <a:buNone/>
            </a:pPr>
            <a:r>
              <a:rPr lang="en-US" sz="650" dirty="0">
                <a:solidFill>
                  <a:srgbClr val="7E7E7E"/>
                </a:solidFill>
                <a:latin typeface="Poppins" pitchFamily="34" charset="0"/>
                <a:ea typeface="Poppins" pitchFamily="34" charset="-122"/>
                <a:cs typeface="Poppins" pitchFamily="34" charset="-120"/>
              </a:rPr>
              <a:t>Sabio 2026 Master Case Study Deck.</a:t>
            </a:r>
            <a:endParaRPr lang="en-US" sz="650" dirty="0"/>
          </a:p>
        </p:txBody>
      </p:sp>
      <p:sp>
        <p:nvSpPr>
          <p:cNvPr id="5" name="Text 3"/>
          <p:cNvSpPr txBox="1"/>
          <p:nvPr/>
        </p:nvSpPr>
        <p:spPr>
          <a:xfrm>
            <a:off x="457200" y="4832604"/>
            <a:ext cx="365760" cy="182880"/>
          </a:xfrm>
          <a:prstGeom prst="rect">
            <a:avLst/>
          </a:prstGeom>
          <a:noFill/>
          <a:ln/>
        </p:spPr>
        <p:txBody>
          <a:bodyPr wrap="square" lIns="0" tIns="0" rIns="0" bIns="0" rtlCol="0" anchor="t"/>
          <a:lstStyle/>
          <a:p>
            <a:pPr indent="0" marL="0">
              <a:buNone/>
            </a:pPr>
            <a:r>
              <a:rPr lang="en-US" sz="800" dirty="0">
                <a:solidFill>
                  <a:srgbClr val="7E7E7E"/>
                </a:solidFill>
                <a:latin typeface="Poppins SemiBold" pitchFamily="34" charset="0"/>
                <a:ea typeface="Poppins SemiBold" pitchFamily="34" charset="-122"/>
                <a:cs typeface="Poppins SemiBold" pitchFamily="34" charset="-120"/>
              </a:rPr>
              <a:t>8</a:t>
            </a:r>
            <a:endParaRPr lang="en-US" sz="800" dirty="0"/>
          </a:p>
        </p:txBody>
      </p:sp>
      <p:sp>
        <p:nvSpPr>
          <p:cNvPr id="6" name="Text 4"/>
          <p:cNvSpPr txBox="1"/>
          <p:nvPr/>
        </p:nvSpPr>
        <p:spPr>
          <a:xfrm>
            <a:off x="868680" y="4832604"/>
            <a:ext cx="5486400" cy="182880"/>
          </a:xfrm>
          <a:prstGeom prst="rect">
            <a:avLst/>
          </a:prstGeom>
          <a:noFill/>
          <a:ln/>
        </p:spPr>
        <p:txBody>
          <a:bodyPr wrap="square" lIns="0" tIns="0" rIns="0" bIns="0" rtlCol="0" anchor="t"/>
          <a:lstStyle/>
          <a:p>
            <a:pPr indent="0" marL="0">
              <a:buNone/>
            </a:pPr>
            <a:r>
              <a:rPr lang="en-US" sz="700" dirty="0">
                <a:solidFill>
                  <a:srgbClr val="7E7E7E"/>
                </a:solidFill>
                <a:latin typeface="Poppins" pitchFamily="34" charset="0"/>
                <a:ea typeface="Poppins" pitchFamily="34" charset="-122"/>
                <a:cs typeface="Poppins" pitchFamily="34" charset="-120"/>
              </a:rPr>
              <a:t>Sabio × PayPal  ·  Proactive point of view for Zenith  ·  Confidential</a:t>
            </a:r>
            <a:endParaRPr lang="en-US" sz="700" dirty="0"/>
          </a:p>
        </p:txBody>
      </p:sp>
      <p:pic>
        <p:nvPicPr>
          <p:cNvPr id="7" name="Image 0" descr="/home/claude/benjaminbring-cloud/sabio-deck-builders-/assets/sabio-logo-white-sm.png">    </p:cNvPr>
          <p:cNvPicPr>
            <a:picLocks noChangeAspect="1"/>
          </p:cNvPicPr>
          <p:nvPr/>
        </p:nvPicPr>
        <p:blipFill>
          <a:blip r:embed="rId1"/>
          <a:stretch>
            <a:fillRect/>
          </a:stretch>
        </p:blipFill>
        <p:spPr>
          <a:xfrm>
            <a:off x="8028432" y="4805172"/>
            <a:ext cx="647572" cy="155448"/>
          </a:xfrm>
          <a:prstGeom prst="rect">
            <a:avLst/>
          </a:prstGeom>
        </p:spPr>
      </p:pic>
      <p:sp>
        <p:nvSpPr>
          <p:cNvPr id="8" name="Shape 5"/>
          <p:cNvSpPr/>
          <p:nvPr/>
        </p:nvSpPr>
        <p:spPr>
          <a:xfrm>
            <a:off x="457200" y="1188720"/>
            <a:ext cx="5029200" cy="987552"/>
          </a:xfrm>
          <a:prstGeom prst="rect">
            <a:avLst/>
          </a:prstGeom>
          <a:solidFill>
            <a:srgbClr val="262626"/>
          </a:solidFill>
          <a:ln w="12700">
            <a:solidFill>
              <a:srgbClr val="262626"/>
            </a:solidFill>
            <a:prstDash val="solid"/>
          </a:ln>
        </p:spPr>
      </p:sp>
      <p:sp>
        <p:nvSpPr>
          <p:cNvPr id="9" name="Text 6"/>
          <p:cNvSpPr txBox="1"/>
          <p:nvPr/>
        </p:nvSpPr>
        <p:spPr>
          <a:xfrm>
            <a:off x="640080" y="1188720"/>
            <a:ext cx="1737360" cy="987552"/>
          </a:xfrm>
          <a:prstGeom prst="rect">
            <a:avLst/>
          </a:prstGeom>
          <a:noFill/>
          <a:ln/>
        </p:spPr>
        <p:txBody>
          <a:bodyPr wrap="square" lIns="0" tIns="0" rIns="0" bIns="0" rtlCol="0" anchor="ctr"/>
          <a:lstStyle/>
          <a:p>
            <a:pPr indent="0" marL="0">
              <a:buNone/>
            </a:pPr>
            <a:r>
              <a:rPr lang="en-US" sz="2800" dirty="0">
                <a:solidFill>
                  <a:srgbClr val="FFC63E"/>
                </a:solidFill>
                <a:latin typeface="Poppins ExtraBold" pitchFamily="34" charset="0"/>
                <a:ea typeface="Poppins ExtraBold" pitchFamily="34" charset="-122"/>
                <a:cs typeface="Poppins ExtraBold" pitchFamily="34" charset="-120"/>
              </a:rPr>
              <a:t>45%</a:t>
            </a:r>
            <a:endParaRPr lang="en-US" sz="2800" dirty="0"/>
          </a:p>
        </p:txBody>
      </p:sp>
      <p:sp>
        <p:nvSpPr>
          <p:cNvPr id="10" name="Text 7"/>
          <p:cNvSpPr txBox="1"/>
          <p:nvPr/>
        </p:nvSpPr>
        <p:spPr>
          <a:xfrm>
            <a:off x="2423160" y="1344168"/>
            <a:ext cx="2926080" cy="274320"/>
          </a:xfrm>
          <a:prstGeom prst="rect">
            <a:avLst/>
          </a:prstGeom>
          <a:noFill/>
          <a:ln/>
        </p:spPr>
        <p:txBody>
          <a:bodyPr wrap="square" lIns="0" tIns="0" rIns="0" bIns="0" rtlCol="0" anchor="t"/>
          <a:lstStyle/>
          <a:p>
            <a:pPr indent="0" marL="0">
              <a:buNone/>
            </a:pPr>
            <a:r>
              <a:rPr lang="en-US" sz="1000" dirty="0">
                <a:solidFill>
                  <a:srgbClr val="FFFFFF"/>
                </a:solidFill>
                <a:latin typeface="Poppins SemiBold" pitchFamily="34" charset="0"/>
                <a:ea typeface="Poppins SemiBold" pitchFamily="34" charset="-122"/>
                <a:cs typeface="Poppins SemiBold" pitchFamily="34" charset="-120"/>
              </a:rPr>
              <a:t>Wells Fargo brand awareness lift</a:t>
            </a:r>
            <a:endParaRPr lang="en-US" sz="1000" dirty="0"/>
          </a:p>
        </p:txBody>
      </p:sp>
      <p:sp>
        <p:nvSpPr>
          <p:cNvPr id="11" name="Text 8"/>
          <p:cNvSpPr txBox="1"/>
          <p:nvPr/>
        </p:nvSpPr>
        <p:spPr>
          <a:xfrm>
            <a:off x="2423160" y="1645920"/>
            <a:ext cx="2926080" cy="457200"/>
          </a:xfrm>
          <a:prstGeom prst="rect">
            <a:avLst/>
          </a:prstGeom>
          <a:noFill/>
          <a:ln/>
        </p:spPr>
        <p:txBody>
          <a:bodyPr wrap="square" lIns="0" tIns="0" rIns="0" bIns="0" rtlCol="0" anchor="t"/>
          <a:lstStyle/>
          <a:p>
            <a:pPr indent="0" marL="0">
              <a:buNone/>
            </a:pPr>
            <a:r>
              <a:rPr lang="en-US" sz="800" dirty="0">
                <a:solidFill>
                  <a:srgbClr val="A7A7A7"/>
                </a:solidFill>
                <a:latin typeface="Poppins" pitchFamily="34" charset="0"/>
                <a:ea typeface="Poppins" pitchFamily="34" charset="-122"/>
                <a:cs typeface="Poppins" pitchFamily="34" charset="-120"/>
              </a:rPr>
              <a:t>Small business conquest with its own app suppressed, and 15,000+ QR scans from CTV.</a:t>
            </a:r>
            <a:endParaRPr lang="en-US" sz="800" dirty="0"/>
          </a:p>
        </p:txBody>
      </p:sp>
      <p:sp>
        <p:nvSpPr>
          <p:cNvPr id="12" name="Shape 9"/>
          <p:cNvSpPr/>
          <p:nvPr/>
        </p:nvSpPr>
        <p:spPr>
          <a:xfrm>
            <a:off x="457200" y="2286000"/>
            <a:ext cx="5029200" cy="987552"/>
          </a:xfrm>
          <a:prstGeom prst="rect">
            <a:avLst/>
          </a:prstGeom>
          <a:solidFill>
            <a:srgbClr val="262626"/>
          </a:solidFill>
          <a:ln w="12700">
            <a:solidFill>
              <a:srgbClr val="262626"/>
            </a:solidFill>
            <a:prstDash val="solid"/>
          </a:ln>
        </p:spPr>
      </p:sp>
      <p:sp>
        <p:nvSpPr>
          <p:cNvPr id="13" name="Text 10"/>
          <p:cNvSpPr txBox="1"/>
          <p:nvPr/>
        </p:nvSpPr>
        <p:spPr>
          <a:xfrm>
            <a:off x="640080" y="2286000"/>
            <a:ext cx="1737360" cy="987552"/>
          </a:xfrm>
          <a:prstGeom prst="rect">
            <a:avLst/>
          </a:prstGeom>
          <a:noFill/>
          <a:ln/>
        </p:spPr>
        <p:txBody>
          <a:bodyPr wrap="square" lIns="0" tIns="0" rIns="0" bIns="0" rtlCol="0" anchor="ctr"/>
          <a:lstStyle/>
          <a:p>
            <a:pPr indent="0" marL="0">
              <a:buNone/>
            </a:pPr>
            <a:r>
              <a:rPr lang="en-US" sz="2800" dirty="0">
                <a:solidFill>
                  <a:srgbClr val="FFC63E"/>
                </a:solidFill>
                <a:latin typeface="Poppins ExtraBold" pitchFamily="34" charset="0"/>
                <a:ea typeface="Poppins ExtraBold" pitchFamily="34" charset="-122"/>
                <a:cs typeface="Poppins ExtraBold" pitchFamily="34" charset="-120"/>
              </a:rPr>
              <a:t>107%</a:t>
            </a:r>
            <a:endParaRPr lang="en-US" sz="2800" dirty="0"/>
          </a:p>
        </p:txBody>
      </p:sp>
      <p:sp>
        <p:nvSpPr>
          <p:cNvPr id="14" name="Text 11"/>
          <p:cNvSpPr txBox="1"/>
          <p:nvPr/>
        </p:nvSpPr>
        <p:spPr>
          <a:xfrm>
            <a:off x="2423160" y="2441448"/>
            <a:ext cx="2926080" cy="274320"/>
          </a:xfrm>
          <a:prstGeom prst="rect">
            <a:avLst/>
          </a:prstGeom>
          <a:noFill/>
          <a:ln/>
        </p:spPr>
        <p:txBody>
          <a:bodyPr wrap="square" lIns="0" tIns="0" rIns="0" bIns="0" rtlCol="0" anchor="t"/>
          <a:lstStyle/>
          <a:p>
            <a:pPr indent="0" marL="0">
              <a:buNone/>
            </a:pPr>
            <a:r>
              <a:rPr lang="en-US" sz="1000" dirty="0">
                <a:solidFill>
                  <a:srgbClr val="FFFFFF"/>
                </a:solidFill>
                <a:latin typeface="Poppins SemiBold" pitchFamily="34" charset="0"/>
                <a:ea typeface="Poppins SemiBold" pitchFamily="34" charset="-122"/>
                <a:cs typeface="Poppins SemiBold" pitchFamily="34" charset="-120"/>
              </a:rPr>
              <a:t>Above mobile VCR benchmark</a:t>
            </a:r>
            <a:endParaRPr lang="en-US" sz="1000" dirty="0"/>
          </a:p>
        </p:txBody>
      </p:sp>
      <p:sp>
        <p:nvSpPr>
          <p:cNvPr id="15" name="Text 12"/>
          <p:cNvSpPr txBox="1"/>
          <p:nvPr/>
        </p:nvSpPr>
        <p:spPr>
          <a:xfrm>
            <a:off x="2423160" y="2743200"/>
            <a:ext cx="2926080" cy="457200"/>
          </a:xfrm>
          <a:prstGeom prst="rect">
            <a:avLst/>
          </a:prstGeom>
          <a:noFill/>
          <a:ln/>
        </p:spPr>
        <p:txBody>
          <a:bodyPr wrap="square" lIns="0" tIns="0" rIns="0" bIns="0" rtlCol="0" anchor="t"/>
          <a:lstStyle/>
          <a:p>
            <a:pPr indent="0" marL="0">
              <a:buNone/>
            </a:pPr>
            <a:r>
              <a:rPr lang="en-US" sz="800" dirty="0">
                <a:solidFill>
                  <a:srgbClr val="A7A7A7"/>
                </a:solidFill>
                <a:latin typeface="Poppins" pitchFamily="34" charset="0"/>
                <a:ea typeface="Poppins" pitchFamily="34" charset="-122"/>
                <a:cs typeface="Poppins" pitchFamily="34" charset="-120"/>
              </a:rPr>
              <a:t>A national bank (anonymized), also 172% above the CTR benchmark.</a:t>
            </a:r>
            <a:endParaRPr lang="en-US" sz="800" dirty="0"/>
          </a:p>
        </p:txBody>
      </p:sp>
      <p:sp>
        <p:nvSpPr>
          <p:cNvPr id="16" name="Shape 13"/>
          <p:cNvSpPr/>
          <p:nvPr/>
        </p:nvSpPr>
        <p:spPr>
          <a:xfrm>
            <a:off x="457200" y="3383280"/>
            <a:ext cx="5029200" cy="987552"/>
          </a:xfrm>
          <a:prstGeom prst="rect">
            <a:avLst/>
          </a:prstGeom>
          <a:solidFill>
            <a:srgbClr val="262626"/>
          </a:solidFill>
          <a:ln w="12700">
            <a:solidFill>
              <a:srgbClr val="262626"/>
            </a:solidFill>
            <a:prstDash val="solid"/>
          </a:ln>
        </p:spPr>
      </p:sp>
      <p:sp>
        <p:nvSpPr>
          <p:cNvPr id="17" name="Text 14"/>
          <p:cNvSpPr txBox="1"/>
          <p:nvPr/>
        </p:nvSpPr>
        <p:spPr>
          <a:xfrm>
            <a:off x="640080" y="3383280"/>
            <a:ext cx="1737360" cy="987552"/>
          </a:xfrm>
          <a:prstGeom prst="rect">
            <a:avLst/>
          </a:prstGeom>
          <a:noFill/>
          <a:ln/>
        </p:spPr>
        <p:txBody>
          <a:bodyPr wrap="square" lIns="0" tIns="0" rIns="0" bIns="0" rtlCol="0" anchor="ctr"/>
          <a:lstStyle/>
          <a:p>
            <a:pPr indent="0" marL="0">
              <a:buNone/>
            </a:pPr>
            <a:r>
              <a:rPr lang="en-US" sz="2800" dirty="0">
                <a:solidFill>
                  <a:srgbClr val="FFC63E"/>
                </a:solidFill>
                <a:latin typeface="Poppins ExtraBold" pitchFamily="34" charset="0"/>
                <a:ea typeface="Poppins ExtraBold" pitchFamily="34" charset="-122"/>
                <a:cs typeface="Poppins ExtraBold" pitchFamily="34" charset="-120"/>
              </a:rPr>
              <a:t>181%</a:t>
            </a:r>
            <a:endParaRPr lang="en-US" sz="2800" dirty="0"/>
          </a:p>
        </p:txBody>
      </p:sp>
      <p:sp>
        <p:nvSpPr>
          <p:cNvPr id="18" name="Text 15"/>
          <p:cNvSpPr txBox="1"/>
          <p:nvPr/>
        </p:nvSpPr>
        <p:spPr>
          <a:xfrm>
            <a:off x="2423160" y="3538728"/>
            <a:ext cx="2926080" cy="274320"/>
          </a:xfrm>
          <a:prstGeom prst="rect">
            <a:avLst/>
          </a:prstGeom>
          <a:noFill/>
          <a:ln/>
        </p:spPr>
        <p:txBody>
          <a:bodyPr wrap="square" lIns="0" tIns="0" rIns="0" bIns="0" rtlCol="0" anchor="t"/>
          <a:lstStyle/>
          <a:p>
            <a:pPr indent="0" marL="0">
              <a:buNone/>
            </a:pPr>
            <a:r>
              <a:rPr lang="en-US" sz="1000" dirty="0">
                <a:solidFill>
                  <a:srgbClr val="FFFFFF"/>
                </a:solidFill>
                <a:latin typeface="Poppins SemiBold" pitchFamily="34" charset="0"/>
                <a:ea typeface="Poppins SemiBold" pitchFamily="34" charset="-122"/>
                <a:cs typeface="Poppins SemiBold" pitchFamily="34" charset="-120"/>
              </a:rPr>
              <a:t>Conair ROI in three weeks</a:t>
            </a:r>
            <a:endParaRPr lang="en-US" sz="1000" dirty="0"/>
          </a:p>
        </p:txBody>
      </p:sp>
      <p:sp>
        <p:nvSpPr>
          <p:cNvPr id="19" name="Text 16"/>
          <p:cNvSpPr txBox="1"/>
          <p:nvPr/>
        </p:nvSpPr>
        <p:spPr>
          <a:xfrm>
            <a:off x="2423160" y="3840480"/>
            <a:ext cx="2926080" cy="457200"/>
          </a:xfrm>
          <a:prstGeom prst="rect">
            <a:avLst/>
          </a:prstGeom>
          <a:noFill/>
          <a:ln/>
        </p:spPr>
        <p:txBody>
          <a:bodyPr wrap="square" lIns="0" tIns="0" rIns="0" bIns="0" rtlCol="0" anchor="t"/>
          <a:lstStyle/>
          <a:p>
            <a:pPr indent="0" marL="0">
              <a:buNone/>
            </a:pPr>
            <a:r>
              <a:rPr lang="en-US" sz="800" dirty="0">
                <a:solidFill>
                  <a:srgbClr val="A7A7A7"/>
                </a:solidFill>
                <a:latin typeface="Poppins" pitchFamily="34" charset="0"/>
                <a:ea typeface="Poppins" pitchFamily="34" charset="-122"/>
                <a:cs typeface="Poppins" pitchFamily="34" charset="-120"/>
              </a:rPr>
              <a:t>Shoppable CTV, OTT and mobile, with $522K in transfer value.</a:t>
            </a:r>
            <a:endParaRPr lang="en-US" sz="800" dirty="0"/>
          </a:p>
        </p:txBody>
      </p:sp>
      <p:sp>
        <p:nvSpPr>
          <p:cNvPr id="20" name="Shape 17"/>
          <p:cNvSpPr/>
          <p:nvPr/>
        </p:nvSpPr>
        <p:spPr>
          <a:xfrm>
            <a:off x="5669280" y="1188720"/>
            <a:ext cx="3017520" cy="3182112"/>
          </a:xfrm>
          <a:prstGeom prst="rect">
            <a:avLst/>
          </a:prstGeom>
          <a:solidFill>
            <a:srgbClr val="2F2F2F"/>
          </a:solidFill>
          <a:ln w="12700">
            <a:solidFill>
              <a:srgbClr val="2F2F2F"/>
            </a:solidFill>
            <a:prstDash val="solid"/>
          </a:ln>
        </p:spPr>
      </p:sp>
      <p:sp>
        <p:nvSpPr>
          <p:cNvPr id="21" name="Text 18"/>
          <p:cNvSpPr txBox="1"/>
          <p:nvPr/>
        </p:nvSpPr>
        <p:spPr>
          <a:xfrm>
            <a:off x="5870448" y="1371600"/>
            <a:ext cx="2615184" cy="274320"/>
          </a:xfrm>
          <a:prstGeom prst="rect">
            <a:avLst/>
          </a:prstGeom>
          <a:noFill/>
          <a:ln/>
        </p:spPr>
        <p:txBody>
          <a:bodyPr wrap="square" lIns="0" tIns="0" rIns="0" bIns="0" rtlCol="0" anchor="t"/>
          <a:lstStyle/>
          <a:p>
            <a:pPr indent="0" marL="0">
              <a:buNone/>
            </a:pPr>
            <a:r>
              <a:rPr lang="en-US" sz="1200" dirty="0">
                <a:solidFill>
                  <a:srgbClr val="FFC63E"/>
                </a:solidFill>
                <a:latin typeface="Poppins ExtraBold" pitchFamily="34" charset="0"/>
                <a:ea typeface="Poppins ExtraBold" pitchFamily="34" charset="-122"/>
                <a:cs typeface="Poppins ExtraBold" pitchFamily="34" charset="-120"/>
              </a:rPr>
              <a:t>WHY NOW</a:t>
            </a:r>
            <a:endParaRPr lang="en-US" sz="1200" dirty="0"/>
          </a:p>
        </p:txBody>
      </p:sp>
      <p:sp>
        <p:nvSpPr>
          <p:cNvPr id="22" name="Text 19"/>
          <p:cNvSpPr txBox="1"/>
          <p:nvPr/>
        </p:nvSpPr>
        <p:spPr>
          <a:xfrm>
            <a:off x="5870448" y="1755648"/>
            <a:ext cx="2615184" cy="2514600"/>
          </a:xfrm>
          <a:prstGeom prst="rect">
            <a:avLst/>
          </a:prstGeom>
          <a:noFill/>
          <a:ln/>
        </p:spPr>
        <p:txBody>
          <a:bodyPr wrap="square" lIns="0" tIns="0" rIns="0" bIns="0" rtlCol="0" anchor="t"/>
          <a:lstStyle/>
          <a:p>
            <a:pPr indent="0" marL="0">
              <a:spcAft>
                <a:spcPts val="600"/>
              </a:spcAft>
              <a:buNone/>
            </a:pPr>
            <a:r>
              <a:rPr lang="en-US" sz="950" dirty="0">
                <a:solidFill>
                  <a:srgbClr val="FFFFFF"/>
                </a:solidFill>
                <a:latin typeface="Poppins" pitchFamily="34" charset="0"/>
                <a:ea typeface="Poppins" pitchFamily="34" charset="-122"/>
                <a:cs typeface="Poppins" pitchFamily="34" charset="-120"/>
              </a:rPr>
              <a:t>PayPal has said it will put savings back into marketing, and holiday is the biggest checkout moment of the year.</a:t>
            </a:r>
            <a:endParaRPr lang="en-US" sz="950" dirty="0"/>
          </a:p>
          <a:p>
            <a:pPr indent="0" marL="0">
              <a:spcAft>
                <a:spcPts val="600"/>
              </a:spcAft>
              <a:buNone/>
            </a:pPr>
            <a:endParaRPr lang="en-US" sz="950" dirty="0"/>
          </a:p>
          <a:p>
            <a:pPr indent="0" marL="0">
              <a:spcAft>
                <a:spcPts val="600"/>
              </a:spcAft>
              <a:buNone/>
            </a:pPr>
            <a:r>
              <a:rPr lang="en-US" sz="950" dirty="0">
                <a:solidFill>
                  <a:srgbClr val="FFFFFF"/>
                </a:solidFill>
                <a:latin typeface="Poppins" pitchFamily="34" charset="0"/>
                <a:ea typeface="Poppins" pitchFamily="34" charset="-122"/>
                <a:cs typeface="Poppins" pitchFamily="34" charset="-120"/>
              </a:rPr>
              <a:t>We think the fastest win is the homes already paying with something else.</a:t>
            </a:r>
            <a:endParaRPr lang="en-US" sz="950" dirty="0"/>
          </a:p>
          <a:p>
            <a:pPr indent="0" marL="0">
              <a:spcAft>
                <a:spcPts val="600"/>
              </a:spcAft>
              <a:buNone/>
            </a:pPr>
            <a:endParaRPr lang="en-US" sz="950" dirty="0"/>
          </a:p>
          <a:p>
            <a:pPr indent="0" marL="0">
              <a:spcAft>
                <a:spcPts val="600"/>
              </a:spcAft>
              <a:buNone/>
            </a:pPr>
            <a:r>
              <a:rPr lang="en-US" sz="950" dirty="0">
                <a:solidFill>
                  <a:srgbClr val="FFFFFF"/>
                </a:solidFill>
                <a:latin typeface="Poppins" pitchFamily="34" charset="0"/>
                <a:ea typeface="Poppins" pitchFamily="34" charset="-122"/>
                <a:cs typeface="Poppins" pitchFamily="34" charset="-120"/>
              </a:rPr>
              <a:t>That said, the Venmo card offer is brand new, so we'd want to confirm which product leads before we size anything.</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457200"/>
          </a:xfrm>
          <a:prstGeom prst="rect">
            <a:avLst/>
          </a:prstGeom>
          <a:noFill/>
          <a:ln/>
        </p:spPr>
        <p:txBody>
          <a:bodyPr wrap="square" lIns="0" tIns="0" rIns="0" bIns="0" rtlCol="0" anchor="ctr"/>
          <a:lstStyle/>
          <a:p>
            <a:pPr indent="0" marL="0">
              <a:buNone/>
            </a:pPr>
            <a:r>
              <a:rPr lang="en-US" sz="2300" dirty="0">
                <a:solidFill>
                  <a:srgbClr val="FFFFFF"/>
                </a:solidFill>
                <a:latin typeface="Poppins ExtraBold" pitchFamily="34" charset="0"/>
                <a:ea typeface="Poppins ExtraBold" pitchFamily="34" charset="-122"/>
                <a:cs typeface="Poppins ExtraBold" pitchFamily="34" charset="-120"/>
              </a:rPr>
              <a:t>WHERE WE GO NEXT</a:t>
            </a:r>
            <a:endParaRPr lang="en-US" sz="2300" dirty="0"/>
          </a:p>
        </p:txBody>
      </p:sp>
      <p:sp>
        <p:nvSpPr>
          <p:cNvPr id="3" name="Text 1"/>
          <p:cNvSpPr txBox="1"/>
          <p:nvPr/>
        </p:nvSpPr>
        <p:spPr>
          <a:xfrm>
            <a:off x="457200" y="822960"/>
            <a:ext cx="8229600" cy="237744"/>
          </a:xfrm>
          <a:prstGeom prst="rect">
            <a:avLst/>
          </a:prstGeom>
          <a:noFill/>
          <a:ln/>
        </p:spPr>
        <p:txBody>
          <a:bodyPr wrap="square" lIns="0" tIns="0" rIns="0" bIns="0" rtlCol="0" anchor="t"/>
          <a:lstStyle/>
          <a:p>
            <a:pPr indent="0" marL="0">
              <a:buNone/>
            </a:pPr>
            <a:r>
              <a:rPr lang="en-US" sz="850" spc="100" kern="0" dirty="0">
                <a:solidFill>
                  <a:srgbClr val="FFC63E"/>
                </a:solidFill>
                <a:latin typeface="Poppins SemiBold" pitchFamily="34" charset="0"/>
                <a:ea typeface="Poppins SemiBold" pitchFamily="34" charset="-122"/>
                <a:cs typeface="Poppins SemiBold" pitchFamily="34" charset="-120"/>
              </a:rPr>
              <a:t>THREE MOVES TO BE LIVE BY NOV 2</a:t>
            </a:r>
            <a:endParaRPr lang="en-US" sz="850" dirty="0"/>
          </a:p>
        </p:txBody>
      </p:sp>
      <p:sp>
        <p:nvSpPr>
          <p:cNvPr id="4" name="Text 2"/>
          <p:cNvSpPr txBox="1"/>
          <p:nvPr/>
        </p:nvSpPr>
        <p:spPr>
          <a:xfrm>
            <a:off x="457200" y="4832604"/>
            <a:ext cx="365760" cy="182880"/>
          </a:xfrm>
          <a:prstGeom prst="rect">
            <a:avLst/>
          </a:prstGeom>
          <a:noFill/>
          <a:ln/>
        </p:spPr>
        <p:txBody>
          <a:bodyPr wrap="square" lIns="0" tIns="0" rIns="0" bIns="0" rtlCol="0" anchor="t"/>
          <a:lstStyle/>
          <a:p>
            <a:pPr indent="0" marL="0">
              <a:buNone/>
            </a:pPr>
            <a:r>
              <a:rPr lang="en-US" sz="800" dirty="0">
                <a:solidFill>
                  <a:srgbClr val="7E7E7E"/>
                </a:solidFill>
                <a:latin typeface="Poppins SemiBold" pitchFamily="34" charset="0"/>
                <a:ea typeface="Poppins SemiBold" pitchFamily="34" charset="-122"/>
                <a:cs typeface="Poppins SemiBold" pitchFamily="34" charset="-120"/>
              </a:rPr>
              <a:t>9</a:t>
            </a:r>
            <a:endParaRPr lang="en-US" sz="800" dirty="0"/>
          </a:p>
        </p:txBody>
      </p:sp>
      <p:sp>
        <p:nvSpPr>
          <p:cNvPr id="5" name="Text 3"/>
          <p:cNvSpPr txBox="1"/>
          <p:nvPr/>
        </p:nvSpPr>
        <p:spPr>
          <a:xfrm>
            <a:off x="868680" y="4832604"/>
            <a:ext cx="5486400" cy="182880"/>
          </a:xfrm>
          <a:prstGeom prst="rect">
            <a:avLst/>
          </a:prstGeom>
          <a:noFill/>
          <a:ln/>
        </p:spPr>
        <p:txBody>
          <a:bodyPr wrap="square" lIns="0" tIns="0" rIns="0" bIns="0" rtlCol="0" anchor="t"/>
          <a:lstStyle/>
          <a:p>
            <a:pPr indent="0" marL="0">
              <a:buNone/>
            </a:pPr>
            <a:r>
              <a:rPr lang="en-US" sz="700" dirty="0">
                <a:solidFill>
                  <a:srgbClr val="7E7E7E"/>
                </a:solidFill>
                <a:latin typeface="Poppins" pitchFamily="34" charset="0"/>
                <a:ea typeface="Poppins" pitchFamily="34" charset="-122"/>
                <a:cs typeface="Poppins" pitchFamily="34" charset="-120"/>
              </a:rPr>
              <a:t>Sabio × PayPal  ·  Proactive point of view for Zenith  ·  Confidential</a:t>
            </a:r>
            <a:endParaRPr lang="en-US" sz="700" dirty="0"/>
          </a:p>
        </p:txBody>
      </p:sp>
      <p:pic>
        <p:nvPicPr>
          <p:cNvPr id="6" name="Image 0" descr="/home/claude/benjaminbring-cloud/sabio-deck-builders-/assets/sabio-logo-white-sm.png">    </p:cNvPr>
          <p:cNvPicPr>
            <a:picLocks noChangeAspect="1"/>
          </p:cNvPicPr>
          <p:nvPr/>
        </p:nvPicPr>
        <p:blipFill>
          <a:blip r:embed="rId1"/>
          <a:stretch>
            <a:fillRect/>
          </a:stretch>
        </p:blipFill>
        <p:spPr>
          <a:xfrm>
            <a:off x="8028432" y="4805172"/>
            <a:ext cx="647572" cy="155448"/>
          </a:xfrm>
          <a:prstGeom prst="rect">
            <a:avLst/>
          </a:prstGeom>
        </p:spPr>
      </p:pic>
      <p:sp>
        <p:nvSpPr>
          <p:cNvPr id="7" name="Shape 4"/>
          <p:cNvSpPr/>
          <p:nvPr/>
        </p:nvSpPr>
        <p:spPr>
          <a:xfrm>
            <a:off x="457200" y="1188720"/>
            <a:ext cx="2645664" cy="2743200"/>
          </a:xfrm>
          <a:prstGeom prst="rect">
            <a:avLst/>
          </a:prstGeom>
          <a:solidFill>
            <a:srgbClr val="262626"/>
          </a:solidFill>
          <a:ln w="12700">
            <a:solidFill>
              <a:srgbClr val="262626"/>
            </a:solidFill>
            <a:prstDash val="solid"/>
          </a:ln>
        </p:spPr>
      </p:sp>
      <p:sp>
        <p:nvSpPr>
          <p:cNvPr id="8" name="Text 5"/>
          <p:cNvSpPr txBox="1"/>
          <p:nvPr/>
        </p:nvSpPr>
        <p:spPr>
          <a:xfrm>
            <a:off x="621792" y="1298448"/>
            <a:ext cx="548640" cy="548640"/>
          </a:xfrm>
          <a:prstGeom prst="rect">
            <a:avLst/>
          </a:prstGeom>
          <a:noFill/>
          <a:ln/>
        </p:spPr>
        <p:txBody>
          <a:bodyPr wrap="square" lIns="0" tIns="0" rIns="0" bIns="0" rtlCol="0" anchor="ctr"/>
          <a:lstStyle/>
          <a:p>
            <a:pPr indent="0" marL="0">
              <a:buNone/>
            </a:pPr>
            <a:r>
              <a:rPr lang="en-US" sz="3000" dirty="0">
                <a:solidFill>
                  <a:srgbClr val="FFC63E"/>
                </a:solidFill>
                <a:latin typeface="Poppins ExtraBold" pitchFamily="34" charset="0"/>
                <a:ea typeface="Poppins ExtraBold" pitchFamily="34" charset="-122"/>
                <a:cs typeface="Poppins ExtraBold" pitchFamily="34" charset="-120"/>
              </a:rPr>
              <a:t>1</a:t>
            </a:r>
            <a:endParaRPr lang="en-US" sz="3000" dirty="0"/>
          </a:p>
        </p:txBody>
      </p:sp>
      <p:sp>
        <p:nvSpPr>
          <p:cNvPr id="9" name="Text 6"/>
          <p:cNvSpPr txBox="1"/>
          <p:nvPr/>
        </p:nvSpPr>
        <p:spPr>
          <a:xfrm>
            <a:off x="621792" y="1901952"/>
            <a:ext cx="2316480" cy="411480"/>
          </a:xfrm>
          <a:prstGeom prst="rect">
            <a:avLst/>
          </a:prstGeom>
          <a:noFill/>
          <a:ln/>
        </p:spPr>
        <p:txBody>
          <a:bodyPr wrap="square" lIns="0" tIns="0" rIns="0" bIns="0" rtlCol="0" anchor="t"/>
          <a:lstStyle/>
          <a:p>
            <a:pPr indent="0" marL="0">
              <a:buNone/>
            </a:pPr>
            <a:r>
              <a:rPr lang="en-US" sz="1150" dirty="0">
                <a:solidFill>
                  <a:srgbClr val="FFFFFF"/>
                </a:solidFill>
                <a:latin typeface="Poppins ExtraBold" pitchFamily="34" charset="0"/>
                <a:ea typeface="Poppins ExtraBold" pitchFamily="34" charset="-122"/>
                <a:cs typeface="Poppins ExtraBold" pitchFamily="34" charset="-120"/>
              </a:rPr>
              <a:t>PICK THE PRODUCT</a:t>
            </a:r>
            <a:endParaRPr lang="en-US" sz="1150" dirty="0"/>
          </a:p>
        </p:txBody>
      </p:sp>
      <p:sp>
        <p:nvSpPr>
          <p:cNvPr id="10" name="Text 7"/>
          <p:cNvSpPr txBox="1"/>
          <p:nvPr/>
        </p:nvSpPr>
        <p:spPr>
          <a:xfrm>
            <a:off x="621792" y="2350008"/>
            <a:ext cx="2316480" cy="1051560"/>
          </a:xfrm>
          <a:prstGeom prst="rect">
            <a:avLst/>
          </a:prstGeom>
          <a:noFill/>
          <a:ln/>
        </p:spPr>
        <p:txBody>
          <a:bodyPr wrap="square" lIns="0" tIns="0" rIns="0" bIns="0" rtlCol="0" anchor="t"/>
          <a:lstStyle/>
          <a:p>
            <a:pPr indent="0" marL="0">
              <a:buNone/>
            </a:pPr>
            <a:r>
              <a:rPr lang="en-US" sz="850" dirty="0">
                <a:solidFill>
                  <a:srgbClr val="E3E3E3"/>
                </a:solidFill>
                <a:latin typeface="Poppins" pitchFamily="34" charset="0"/>
                <a:ea typeface="Poppins" pitchFamily="34" charset="-122"/>
                <a:cs typeface="Poppins" pitchFamily="34" charset="-120"/>
              </a:rPr>
              <a:t>Zenith confirms which leads: checkout rewards, Pay Later, or the Venmo Credit Card.</a:t>
            </a:r>
            <a:endParaRPr lang="en-US" sz="850" dirty="0"/>
          </a:p>
        </p:txBody>
      </p:sp>
      <p:sp>
        <p:nvSpPr>
          <p:cNvPr id="11" name="Shape 8"/>
          <p:cNvSpPr/>
          <p:nvPr/>
        </p:nvSpPr>
        <p:spPr>
          <a:xfrm>
            <a:off x="621792" y="3429000"/>
            <a:ext cx="2316480" cy="384048"/>
          </a:xfrm>
          <a:prstGeom prst="rect">
            <a:avLst/>
          </a:prstGeom>
          <a:solidFill>
            <a:srgbClr val="2F2F2F"/>
          </a:solidFill>
          <a:ln w="12700">
            <a:solidFill>
              <a:srgbClr val="2F2F2F"/>
            </a:solidFill>
            <a:prstDash val="solid"/>
          </a:ln>
        </p:spPr>
      </p:sp>
      <p:sp>
        <p:nvSpPr>
          <p:cNvPr id="12" name="Text 9"/>
          <p:cNvSpPr txBox="1"/>
          <p:nvPr/>
        </p:nvSpPr>
        <p:spPr>
          <a:xfrm>
            <a:off x="713232" y="3429000"/>
            <a:ext cx="2133600" cy="384048"/>
          </a:xfrm>
          <a:prstGeom prst="rect">
            <a:avLst/>
          </a:prstGeom>
          <a:noFill/>
          <a:ln/>
        </p:spPr>
        <p:txBody>
          <a:bodyPr wrap="square" lIns="0" tIns="0" rIns="0" bIns="0" rtlCol="0" anchor="ctr"/>
          <a:lstStyle/>
          <a:p>
            <a:pPr indent="0" marL="0">
              <a:buNone/>
            </a:pPr>
            <a:r>
              <a:rPr lang="en-US" sz="750" dirty="0">
                <a:solidFill>
                  <a:srgbClr val="FFE7B5"/>
                </a:solidFill>
                <a:latin typeface="Poppins SemiBold" pitchFamily="34" charset="0"/>
                <a:ea typeface="Poppins SemiBold" pitchFamily="34" charset="-122"/>
                <a:cs typeface="Poppins SemiBold" pitchFamily="34" charset="-120"/>
              </a:rPr>
              <a:t>Zenith · by Oct 23</a:t>
            </a:r>
            <a:endParaRPr lang="en-US" sz="750" dirty="0"/>
          </a:p>
        </p:txBody>
      </p:sp>
      <p:sp>
        <p:nvSpPr>
          <p:cNvPr id="13" name="Shape 10"/>
          <p:cNvSpPr/>
          <p:nvPr/>
        </p:nvSpPr>
        <p:spPr>
          <a:xfrm>
            <a:off x="3249168" y="1188720"/>
            <a:ext cx="2645664" cy="2743200"/>
          </a:xfrm>
          <a:prstGeom prst="rect">
            <a:avLst/>
          </a:prstGeom>
          <a:solidFill>
            <a:srgbClr val="262626"/>
          </a:solidFill>
          <a:ln w="12700">
            <a:solidFill>
              <a:srgbClr val="262626"/>
            </a:solidFill>
            <a:prstDash val="solid"/>
          </a:ln>
        </p:spPr>
      </p:sp>
      <p:sp>
        <p:nvSpPr>
          <p:cNvPr id="14" name="Text 11"/>
          <p:cNvSpPr txBox="1"/>
          <p:nvPr/>
        </p:nvSpPr>
        <p:spPr>
          <a:xfrm>
            <a:off x="3413760" y="1298448"/>
            <a:ext cx="548640" cy="548640"/>
          </a:xfrm>
          <a:prstGeom prst="rect">
            <a:avLst/>
          </a:prstGeom>
          <a:noFill/>
          <a:ln/>
        </p:spPr>
        <p:txBody>
          <a:bodyPr wrap="square" lIns="0" tIns="0" rIns="0" bIns="0" rtlCol="0" anchor="ctr"/>
          <a:lstStyle/>
          <a:p>
            <a:pPr indent="0" marL="0">
              <a:buNone/>
            </a:pPr>
            <a:r>
              <a:rPr lang="en-US" sz="3000" dirty="0">
                <a:solidFill>
                  <a:srgbClr val="FFC63E"/>
                </a:solidFill>
                <a:latin typeface="Poppins ExtraBold" pitchFamily="34" charset="0"/>
                <a:ea typeface="Poppins ExtraBold" pitchFamily="34" charset="-122"/>
                <a:cs typeface="Poppins ExtraBold" pitchFamily="34" charset="-120"/>
              </a:rPr>
              <a:t>2</a:t>
            </a:r>
            <a:endParaRPr lang="en-US" sz="3000" dirty="0"/>
          </a:p>
        </p:txBody>
      </p:sp>
      <p:sp>
        <p:nvSpPr>
          <p:cNvPr id="15" name="Text 12"/>
          <p:cNvSpPr txBox="1"/>
          <p:nvPr/>
        </p:nvSpPr>
        <p:spPr>
          <a:xfrm>
            <a:off x="3413760" y="1901952"/>
            <a:ext cx="2316480" cy="411480"/>
          </a:xfrm>
          <a:prstGeom prst="rect">
            <a:avLst/>
          </a:prstGeom>
          <a:noFill/>
          <a:ln/>
        </p:spPr>
        <p:txBody>
          <a:bodyPr wrap="square" lIns="0" tIns="0" rIns="0" bIns="0" rtlCol="0" anchor="t"/>
          <a:lstStyle/>
          <a:p>
            <a:pPr indent="0" marL="0">
              <a:buNone/>
            </a:pPr>
            <a:r>
              <a:rPr lang="en-US" sz="1150" dirty="0">
                <a:solidFill>
                  <a:srgbClr val="FFFFFF"/>
                </a:solidFill>
                <a:latin typeface="Poppins ExtraBold" pitchFamily="34" charset="0"/>
                <a:ea typeface="Poppins ExtraBold" pitchFamily="34" charset="-122"/>
                <a:cs typeface="Poppins ExtraBold" pitchFamily="34" charset="-120"/>
              </a:rPr>
              <a:t>SIZE THE AUDIENCES</a:t>
            </a:r>
            <a:endParaRPr lang="en-US" sz="1150" dirty="0"/>
          </a:p>
        </p:txBody>
      </p:sp>
      <p:sp>
        <p:nvSpPr>
          <p:cNvPr id="16" name="Text 13"/>
          <p:cNvSpPr txBox="1"/>
          <p:nvPr/>
        </p:nvSpPr>
        <p:spPr>
          <a:xfrm>
            <a:off x="3413760" y="2350008"/>
            <a:ext cx="2316480" cy="1051560"/>
          </a:xfrm>
          <a:prstGeom prst="rect">
            <a:avLst/>
          </a:prstGeom>
          <a:noFill/>
          <a:ln/>
        </p:spPr>
        <p:txBody>
          <a:bodyPr wrap="square" lIns="0" tIns="0" rIns="0" bIns="0" rtlCol="0" anchor="t"/>
          <a:lstStyle/>
          <a:p>
            <a:pPr indent="0" marL="0">
              <a:buNone/>
            </a:pPr>
            <a:r>
              <a:rPr lang="en-US" sz="850" dirty="0">
                <a:solidFill>
                  <a:srgbClr val="E3E3E3"/>
                </a:solidFill>
                <a:latin typeface="Poppins" pitchFamily="34" charset="0"/>
                <a:ea typeface="Poppins" pitchFamily="34" charset="-122"/>
                <a:cs typeface="Poppins" pitchFamily="34" charset="-120"/>
              </a:rPr>
              <a:t>Sabio sizes the three audiences and returns reach and the app list behind each one.</a:t>
            </a:r>
            <a:endParaRPr lang="en-US" sz="850" dirty="0"/>
          </a:p>
        </p:txBody>
      </p:sp>
      <p:sp>
        <p:nvSpPr>
          <p:cNvPr id="17" name="Shape 14"/>
          <p:cNvSpPr/>
          <p:nvPr/>
        </p:nvSpPr>
        <p:spPr>
          <a:xfrm>
            <a:off x="3413760" y="3429000"/>
            <a:ext cx="2316480" cy="384048"/>
          </a:xfrm>
          <a:prstGeom prst="rect">
            <a:avLst/>
          </a:prstGeom>
          <a:solidFill>
            <a:srgbClr val="2F2F2F"/>
          </a:solidFill>
          <a:ln w="12700">
            <a:solidFill>
              <a:srgbClr val="2F2F2F"/>
            </a:solidFill>
            <a:prstDash val="solid"/>
          </a:ln>
        </p:spPr>
      </p:sp>
      <p:sp>
        <p:nvSpPr>
          <p:cNvPr id="18" name="Text 15"/>
          <p:cNvSpPr txBox="1"/>
          <p:nvPr/>
        </p:nvSpPr>
        <p:spPr>
          <a:xfrm>
            <a:off x="3505200" y="3429000"/>
            <a:ext cx="2133600" cy="384048"/>
          </a:xfrm>
          <a:prstGeom prst="rect">
            <a:avLst/>
          </a:prstGeom>
          <a:noFill/>
          <a:ln/>
        </p:spPr>
        <p:txBody>
          <a:bodyPr wrap="square" lIns="0" tIns="0" rIns="0" bIns="0" rtlCol="0" anchor="ctr"/>
          <a:lstStyle/>
          <a:p>
            <a:pPr indent="0" marL="0">
              <a:buNone/>
            </a:pPr>
            <a:r>
              <a:rPr lang="en-US" sz="750" dirty="0">
                <a:solidFill>
                  <a:srgbClr val="FFE7B5"/>
                </a:solidFill>
                <a:latin typeface="Poppins SemiBold" pitchFamily="34" charset="0"/>
                <a:ea typeface="Poppins SemiBold" pitchFamily="34" charset="-122"/>
                <a:cs typeface="Poppins SemiBold" pitchFamily="34" charset="-120"/>
              </a:rPr>
              <a:t>Sabio · 48 hours after the brief</a:t>
            </a:r>
            <a:endParaRPr lang="en-US" sz="750" dirty="0"/>
          </a:p>
        </p:txBody>
      </p:sp>
      <p:sp>
        <p:nvSpPr>
          <p:cNvPr id="19" name="Shape 16"/>
          <p:cNvSpPr/>
          <p:nvPr/>
        </p:nvSpPr>
        <p:spPr>
          <a:xfrm>
            <a:off x="6041136" y="1188720"/>
            <a:ext cx="2645664" cy="2743200"/>
          </a:xfrm>
          <a:prstGeom prst="rect">
            <a:avLst/>
          </a:prstGeom>
          <a:solidFill>
            <a:srgbClr val="262626"/>
          </a:solidFill>
          <a:ln w="12700">
            <a:solidFill>
              <a:srgbClr val="262626"/>
            </a:solidFill>
            <a:prstDash val="solid"/>
          </a:ln>
        </p:spPr>
      </p:sp>
      <p:sp>
        <p:nvSpPr>
          <p:cNvPr id="20" name="Text 17"/>
          <p:cNvSpPr txBox="1"/>
          <p:nvPr/>
        </p:nvSpPr>
        <p:spPr>
          <a:xfrm>
            <a:off x="6205728" y="1298448"/>
            <a:ext cx="548640" cy="548640"/>
          </a:xfrm>
          <a:prstGeom prst="rect">
            <a:avLst/>
          </a:prstGeom>
          <a:noFill/>
          <a:ln/>
        </p:spPr>
        <p:txBody>
          <a:bodyPr wrap="square" lIns="0" tIns="0" rIns="0" bIns="0" rtlCol="0" anchor="ctr"/>
          <a:lstStyle/>
          <a:p>
            <a:pPr indent="0" marL="0">
              <a:buNone/>
            </a:pPr>
            <a:r>
              <a:rPr lang="en-US" sz="3000" dirty="0">
                <a:solidFill>
                  <a:srgbClr val="FFC63E"/>
                </a:solidFill>
                <a:latin typeface="Poppins ExtraBold" pitchFamily="34" charset="0"/>
                <a:ea typeface="Poppins ExtraBold" pitchFamily="34" charset="-122"/>
                <a:cs typeface="Poppins ExtraBold" pitchFamily="34" charset="-120"/>
              </a:rPr>
              <a:t>3</a:t>
            </a:r>
            <a:endParaRPr lang="en-US" sz="3000" dirty="0"/>
          </a:p>
        </p:txBody>
      </p:sp>
      <p:sp>
        <p:nvSpPr>
          <p:cNvPr id="21" name="Text 18"/>
          <p:cNvSpPr txBox="1"/>
          <p:nvPr/>
        </p:nvSpPr>
        <p:spPr>
          <a:xfrm>
            <a:off x="6205728" y="1901952"/>
            <a:ext cx="2316480" cy="411480"/>
          </a:xfrm>
          <a:prstGeom prst="rect">
            <a:avLst/>
          </a:prstGeom>
          <a:noFill/>
          <a:ln/>
        </p:spPr>
        <p:txBody>
          <a:bodyPr wrap="square" lIns="0" tIns="0" rIns="0" bIns="0" rtlCol="0" anchor="t"/>
          <a:lstStyle/>
          <a:p>
            <a:pPr indent="0" marL="0">
              <a:buNone/>
            </a:pPr>
            <a:r>
              <a:rPr lang="en-US" sz="1150" dirty="0">
                <a:solidFill>
                  <a:srgbClr val="FFFFFF"/>
                </a:solidFill>
                <a:latin typeface="Poppins ExtraBold" pitchFamily="34" charset="0"/>
                <a:ea typeface="Poppins ExtraBold" pitchFamily="34" charset="-122"/>
                <a:cs typeface="Poppins ExtraBold" pitchFamily="34" charset="-120"/>
              </a:rPr>
              <a:t>CHOOSE THE ROUTE</a:t>
            </a:r>
            <a:endParaRPr lang="en-US" sz="1150" dirty="0"/>
          </a:p>
        </p:txBody>
      </p:sp>
      <p:sp>
        <p:nvSpPr>
          <p:cNvPr id="22" name="Text 19"/>
          <p:cNvSpPr txBox="1"/>
          <p:nvPr/>
        </p:nvSpPr>
        <p:spPr>
          <a:xfrm>
            <a:off x="6205728" y="2350008"/>
            <a:ext cx="2316480" cy="1051560"/>
          </a:xfrm>
          <a:prstGeom prst="rect">
            <a:avLst/>
          </a:prstGeom>
          <a:noFill/>
          <a:ln/>
        </p:spPr>
        <p:txBody>
          <a:bodyPr wrap="square" lIns="0" tIns="0" rIns="0" bIns="0" rtlCol="0" anchor="t"/>
          <a:lstStyle/>
          <a:p>
            <a:pPr indent="0" marL="0">
              <a:buNone/>
            </a:pPr>
            <a:r>
              <a:rPr lang="en-US" sz="850" dirty="0">
                <a:solidFill>
                  <a:srgbClr val="E3E3E3"/>
                </a:solidFill>
                <a:latin typeface="Poppins" pitchFamily="34" charset="0"/>
                <a:ea typeface="Poppins" pitchFamily="34" charset="-122"/>
                <a:cs typeface="Poppins" pitchFamily="34" charset="-120"/>
              </a:rPr>
              <a:t>Direct IO, or a deal ID matched into CoreAI and Epsilon. Creative and QR specs locked.</a:t>
            </a:r>
            <a:endParaRPr lang="en-US" sz="850" dirty="0"/>
          </a:p>
        </p:txBody>
      </p:sp>
      <p:sp>
        <p:nvSpPr>
          <p:cNvPr id="23" name="Shape 20"/>
          <p:cNvSpPr/>
          <p:nvPr/>
        </p:nvSpPr>
        <p:spPr>
          <a:xfrm>
            <a:off x="6205728" y="3429000"/>
            <a:ext cx="2316480" cy="384048"/>
          </a:xfrm>
          <a:prstGeom prst="rect">
            <a:avLst/>
          </a:prstGeom>
          <a:solidFill>
            <a:srgbClr val="2F2F2F"/>
          </a:solidFill>
          <a:ln w="12700">
            <a:solidFill>
              <a:srgbClr val="2F2F2F"/>
            </a:solidFill>
            <a:prstDash val="solid"/>
          </a:ln>
        </p:spPr>
      </p:sp>
      <p:sp>
        <p:nvSpPr>
          <p:cNvPr id="24" name="Text 21"/>
          <p:cNvSpPr txBox="1"/>
          <p:nvPr/>
        </p:nvSpPr>
        <p:spPr>
          <a:xfrm>
            <a:off x="6297168" y="3429000"/>
            <a:ext cx="2133600" cy="384048"/>
          </a:xfrm>
          <a:prstGeom prst="rect">
            <a:avLst/>
          </a:prstGeom>
          <a:noFill/>
          <a:ln/>
        </p:spPr>
        <p:txBody>
          <a:bodyPr wrap="square" lIns="0" tIns="0" rIns="0" bIns="0" rtlCol="0" anchor="ctr"/>
          <a:lstStyle/>
          <a:p>
            <a:pPr indent="0" marL="0">
              <a:buNone/>
            </a:pPr>
            <a:r>
              <a:rPr lang="en-US" sz="750" dirty="0">
                <a:solidFill>
                  <a:srgbClr val="FFE7B5"/>
                </a:solidFill>
                <a:latin typeface="Poppins SemiBold" pitchFamily="34" charset="0"/>
                <a:ea typeface="Poppins SemiBold" pitchFamily="34" charset="-122"/>
                <a:cs typeface="Poppins SemiBold" pitchFamily="34" charset="-120"/>
              </a:rPr>
              <a:t>Zenith investment · by Oct 30</a:t>
            </a:r>
            <a:endParaRPr lang="en-US" sz="750" dirty="0"/>
          </a:p>
        </p:txBody>
      </p:sp>
      <p:sp>
        <p:nvSpPr>
          <p:cNvPr id="25" name="Text 22"/>
          <p:cNvSpPr txBox="1"/>
          <p:nvPr/>
        </p:nvSpPr>
        <p:spPr>
          <a:xfrm>
            <a:off x="457200" y="4096512"/>
            <a:ext cx="8229600" cy="292608"/>
          </a:xfrm>
          <a:prstGeom prst="rect">
            <a:avLst/>
          </a:prstGeom>
          <a:noFill/>
          <a:ln/>
        </p:spPr>
        <p:txBody>
          <a:bodyPr wrap="square" lIns="0" tIns="0" rIns="0" bIns="0" rtlCol="0" anchor="t"/>
          <a:lstStyle/>
          <a:p>
            <a:pPr indent="0" marL="0">
              <a:buNone/>
            </a:pPr>
            <a:r>
              <a:rPr lang="en-US" sz="950" dirty="0">
                <a:solidFill>
                  <a:srgbClr val="FFFFFF"/>
                </a:solidFill>
                <a:latin typeface="Poppins SemiBold" pitchFamily="34" charset="0"/>
                <a:ea typeface="Poppins SemiBold" pitchFamily="34" charset="-122"/>
                <a:cs typeface="Poppins SemiBold" pitchFamily="34" charset="-120"/>
              </a:rPr>
              <a:t>Happy to walk the team through it this week. Please LMK what else would help.</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1A"/>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457200"/>
          </a:xfrm>
          <a:prstGeom prst="rect">
            <a:avLst/>
          </a:prstGeom>
          <a:noFill/>
          <a:ln/>
        </p:spPr>
        <p:txBody>
          <a:bodyPr wrap="square" lIns="0" tIns="0" rIns="0" bIns="0" rtlCol="0" anchor="ctr"/>
          <a:lstStyle/>
          <a:p>
            <a:pPr indent="0" marL="0">
              <a:buNone/>
            </a:pPr>
            <a:r>
              <a:rPr lang="en-US" sz="2300" dirty="0">
                <a:solidFill>
                  <a:srgbClr val="FFFFFF"/>
                </a:solidFill>
                <a:latin typeface="Poppins ExtraBold" pitchFamily="34" charset="0"/>
                <a:ea typeface="Poppins ExtraBold" pitchFamily="34" charset="-122"/>
                <a:cs typeface="Poppins ExtraBold" pitchFamily="34" charset="-120"/>
              </a:rPr>
              <a:t>SOURCES</a:t>
            </a:r>
            <a:endParaRPr lang="en-US" sz="2300" dirty="0"/>
          </a:p>
        </p:txBody>
      </p:sp>
      <p:sp>
        <p:nvSpPr>
          <p:cNvPr id="3" name="Text 1"/>
          <p:cNvSpPr txBox="1"/>
          <p:nvPr/>
        </p:nvSpPr>
        <p:spPr>
          <a:xfrm>
            <a:off x="457200" y="822960"/>
            <a:ext cx="8229600" cy="237744"/>
          </a:xfrm>
          <a:prstGeom prst="rect">
            <a:avLst/>
          </a:prstGeom>
          <a:noFill/>
          <a:ln/>
        </p:spPr>
        <p:txBody>
          <a:bodyPr wrap="square" lIns="0" tIns="0" rIns="0" bIns="0" rtlCol="0" anchor="t"/>
          <a:lstStyle/>
          <a:p>
            <a:pPr indent="0" marL="0">
              <a:buNone/>
            </a:pPr>
            <a:r>
              <a:rPr lang="en-US" sz="850" spc="100" kern="0" dirty="0">
                <a:solidFill>
                  <a:srgbClr val="FFC63E"/>
                </a:solidFill>
                <a:latin typeface="Poppins SemiBold" pitchFamily="34" charset="0"/>
                <a:ea typeface="Poppins SemiBold" pitchFamily="34" charset="-122"/>
                <a:cs typeface="Poppins SemiBold" pitchFamily="34" charset="-120"/>
              </a:rPr>
              <a:t>MARKET CLAIMS IN THIS DECK, AS REPORTED · RETRIEVED OCT 16, 2026</a:t>
            </a:r>
            <a:endParaRPr lang="en-US" sz="850" dirty="0"/>
          </a:p>
        </p:txBody>
      </p:sp>
      <p:sp>
        <p:nvSpPr>
          <p:cNvPr id="4" name="Text 2"/>
          <p:cNvSpPr txBox="1"/>
          <p:nvPr/>
        </p:nvSpPr>
        <p:spPr>
          <a:xfrm>
            <a:off x="457200" y="4832604"/>
            <a:ext cx="365760" cy="182880"/>
          </a:xfrm>
          <a:prstGeom prst="rect">
            <a:avLst/>
          </a:prstGeom>
          <a:noFill/>
          <a:ln/>
        </p:spPr>
        <p:txBody>
          <a:bodyPr wrap="square" lIns="0" tIns="0" rIns="0" bIns="0" rtlCol="0" anchor="t"/>
          <a:lstStyle/>
          <a:p>
            <a:pPr indent="0" marL="0">
              <a:buNone/>
            </a:pPr>
            <a:r>
              <a:rPr lang="en-US" sz="800" dirty="0">
                <a:solidFill>
                  <a:srgbClr val="7E7E7E"/>
                </a:solidFill>
                <a:latin typeface="Poppins SemiBold" pitchFamily="34" charset="0"/>
                <a:ea typeface="Poppins SemiBold" pitchFamily="34" charset="-122"/>
                <a:cs typeface="Poppins SemiBold" pitchFamily="34" charset="-120"/>
              </a:rPr>
              <a:t>10</a:t>
            </a:r>
            <a:endParaRPr lang="en-US" sz="800" dirty="0"/>
          </a:p>
        </p:txBody>
      </p:sp>
      <p:sp>
        <p:nvSpPr>
          <p:cNvPr id="5" name="Text 3"/>
          <p:cNvSpPr txBox="1"/>
          <p:nvPr/>
        </p:nvSpPr>
        <p:spPr>
          <a:xfrm>
            <a:off x="868680" y="4832604"/>
            <a:ext cx="5486400" cy="182880"/>
          </a:xfrm>
          <a:prstGeom prst="rect">
            <a:avLst/>
          </a:prstGeom>
          <a:noFill/>
          <a:ln/>
        </p:spPr>
        <p:txBody>
          <a:bodyPr wrap="square" lIns="0" tIns="0" rIns="0" bIns="0" rtlCol="0" anchor="t"/>
          <a:lstStyle/>
          <a:p>
            <a:pPr indent="0" marL="0">
              <a:buNone/>
            </a:pPr>
            <a:r>
              <a:rPr lang="en-US" sz="700" dirty="0">
                <a:solidFill>
                  <a:srgbClr val="7E7E7E"/>
                </a:solidFill>
                <a:latin typeface="Poppins" pitchFamily="34" charset="0"/>
                <a:ea typeface="Poppins" pitchFamily="34" charset="-122"/>
                <a:cs typeface="Poppins" pitchFamily="34" charset="-120"/>
              </a:rPr>
              <a:t>Sabio × PayPal  ·  Proactive point of view for Zenith  ·  Confidential</a:t>
            </a:r>
            <a:endParaRPr lang="en-US" sz="700" dirty="0"/>
          </a:p>
        </p:txBody>
      </p:sp>
      <p:pic>
        <p:nvPicPr>
          <p:cNvPr id="6" name="Image 0" descr="/home/claude/benjaminbring-cloud/sabio-deck-builders-/assets/sabio-logo-white-sm.png">    </p:cNvPr>
          <p:cNvPicPr>
            <a:picLocks noChangeAspect="1"/>
          </p:cNvPicPr>
          <p:nvPr/>
        </p:nvPicPr>
        <p:blipFill>
          <a:blip r:embed="rId1"/>
          <a:stretch>
            <a:fillRect/>
          </a:stretch>
        </p:blipFill>
        <p:spPr>
          <a:xfrm>
            <a:off x="8028432" y="4805172"/>
            <a:ext cx="647572" cy="155448"/>
          </a:xfrm>
          <a:prstGeom prst="rect">
            <a:avLst/>
          </a:prstGeom>
        </p:spPr>
      </p:pic>
      <p:sp>
        <p:nvSpPr>
          <p:cNvPr id="7" name="Text 4"/>
          <p:cNvSpPr txBox="1"/>
          <p:nvPr/>
        </p:nvSpPr>
        <p:spPr>
          <a:xfrm>
            <a:off x="457200" y="1188720"/>
            <a:ext cx="4023360" cy="3200400"/>
          </a:xfrm>
          <a:prstGeom prst="rect">
            <a:avLst/>
          </a:prstGeom>
          <a:noFill/>
          <a:ln/>
        </p:spPr>
        <p:txBody>
          <a:bodyPr wrap="square" lIns="0" tIns="0" rIns="0" bIns="0" rtlCol="0" anchor="t"/>
          <a:lstStyle/>
          <a:p>
            <a:pPr indent="0" marL="0">
              <a:spcAft>
                <a:spcPts val="800"/>
              </a:spcAft>
              <a:buNone/>
            </a:pPr>
            <a:r>
              <a:rPr lang="en-US" sz="850" dirty="0">
                <a:solidFill>
                  <a:srgbClr val="E3E3E3"/>
                </a:solidFill>
                <a:latin typeface="Poppins" pitchFamily="34" charset="0"/>
                <a:ea typeface="Poppins" pitchFamily="34" charset="-122"/>
                <a:cs typeface="Poppins" pitchFamily="34" charset="-120"/>
              </a:rPr>
              <a:t>1.  PayPal Q2 2026 earnings call highlights, MarketBeat, Jul 28, 2026.</a:t>
            </a:r>
            <a:endParaRPr lang="en-US" sz="850" dirty="0"/>
          </a:p>
          <a:p>
            <a:pPr indent="0" marL="0">
              <a:spcAft>
                <a:spcPts val="800"/>
              </a:spcAft>
              <a:buNone/>
            </a:pPr>
            <a:r>
              <a:rPr lang="en-US" sz="850" dirty="0">
                <a:solidFill>
                  <a:srgbClr val="E3E3E3"/>
                </a:solidFill>
                <a:latin typeface="Poppins" pitchFamily="34" charset="0"/>
                <a:ea typeface="Poppins" pitchFamily="34" charset="-122"/>
                <a:cs typeface="Poppins" pitchFamily="34" charset="-120"/>
              </a:rPr>
              <a:t>2.  PayPal 2026 Holiday Shopping Survey, Sep 30, 2026.</a:t>
            </a:r>
            <a:endParaRPr lang="en-US" sz="850" dirty="0"/>
          </a:p>
        </p:txBody>
      </p:sp>
      <p:sp>
        <p:nvSpPr>
          <p:cNvPr id="8" name="Text 5"/>
          <p:cNvSpPr txBox="1"/>
          <p:nvPr/>
        </p:nvSpPr>
        <p:spPr>
          <a:xfrm>
            <a:off x="4663440" y="1188720"/>
            <a:ext cx="4023360" cy="3200400"/>
          </a:xfrm>
          <a:prstGeom prst="rect">
            <a:avLst/>
          </a:prstGeom>
          <a:noFill/>
          <a:ln/>
        </p:spPr>
        <p:txBody>
          <a:bodyPr wrap="square" lIns="0" tIns="0" rIns="0" bIns="0" rtlCol="0" anchor="t"/>
          <a:lstStyle/>
          <a:p>
            <a:pPr indent="0" marL="0">
              <a:spcAft>
                <a:spcPts val="800"/>
              </a:spcAft>
              <a:buNone/>
            </a:pPr>
            <a:r>
              <a:rPr lang="en-US" sz="850" dirty="0">
                <a:solidFill>
                  <a:srgbClr val="E3E3E3"/>
                </a:solidFill>
                <a:latin typeface="Poppins" pitchFamily="34" charset="0"/>
                <a:ea typeface="Poppins" pitchFamily="34" charset="-122"/>
                <a:cs typeface="Poppins" pitchFamily="34" charset="-120"/>
              </a:rPr>
              <a:t>3.  PayPal Newsroom, The Venmo Credit Card Now Pays Up to 4% Cash Back When You Split with Friends, Oct 5, 2026.</a:t>
            </a:r>
            <a:endParaRPr lang="en-US" sz="850" dirty="0"/>
          </a:p>
          <a:p>
            <a:pPr indent="0" marL="0">
              <a:spcAft>
                <a:spcPts val="800"/>
              </a:spcAft>
              <a:buNone/>
            </a:pPr>
            <a:r>
              <a:rPr lang="en-US" sz="850" dirty="0">
                <a:solidFill>
                  <a:srgbClr val="E3E3E3"/>
                </a:solidFill>
                <a:latin typeface="Poppins" pitchFamily="34" charset="0"/>
                <a:ea typeface="Poppins" pitchFamily="34" charset="-122"/>
                <a:cs typeface="Poppins" pitchFamily="34" charset="-120"/>
              </a:rPr>
              <a:t>4.  Sabio 2026 Master Case Study Deck.</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Sabio Holdings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Sabio x PayPal: Win the Holiday Checkout</dc:title>
  <dc:subject>PptxGenJS Presentation</dc:subject>
  <dc:creator>Ben Bring, Sabio</dc:creator>
  <cp:lastModifiedBy>Ben Bring, Sabio</cp:lastModifiedBy>
  <cp:revision>1</cp:revision>
  <dcterms:created xsi:type="dcterms:W3CDTF">2026-10-16T23:18:34Z</dcterms:created>
  <dcterms:modified xsi:type="dcterms:W3CDTF">2026-10-16T23:18:34Z</dcterms:modified>
</cp:coreProperties>
</file>