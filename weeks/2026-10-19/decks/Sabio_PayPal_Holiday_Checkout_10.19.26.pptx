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BIO_CONTENT">
    <p:bg>
      <p:bgPr>
        <a:solidFill>
          <a:srgbClr val="1A1A1A"/>
        </a:solidFill>
      </p:bgPr>
    </p:bg>
    <p:spTree>
      <p:nvGrpSpPr>
        <p:cNvPr id="1" name=""/>
        <p:cNvGrpSpPr/>
        <p:nvPr/>
      </p:nvGrpSpPr>
      <p:grpSpPr>
        <a:xfrm>
          <a:off x="0" y="0"/>
          <a:ext cx="0" cy="0"/>
          <a:chOff x="0" y="0"/>
          <a:chExt cx="0" cy="0"/>
        </a:xfrm>
      </p:grpSpPr>
      <p:pic>
        <p:nvPicPr>
          <p:cNvPr id="2" name="Image 0" descr="/home/claude/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3" name="Text 0"/>
          <p:cNvSpPr/>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PayPal  ·  Proactive point of view for Zenith  ·  Confidential</a:t>
            </a:r>
            <a:endParaRPr lang="en-US" sz="70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BIO_COVER">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457200" y="4832604"/>
            <a:ext cx="585216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Holdings · TSXV: SBIO | OTCQB: SABOF    Creator TV® | App Science® | Sabio</a:t>
            </a:r>
            <a:endParaRPr lang="en-US" sz="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claude/sabio-deck-builders-/assets/sabio-logo-yellow.png">    </p:cNvPr>
          <p:cNvPicPr>
            <a:picLocks noChangeAspect="1"/>
          </p:cNvPicPr>
          <p:nvPr/>
        </p:nvPicPr>
        <p:blipFill>
          <a:blip r:embed="rId1"/>
          <a:stretch>
            <a:fillRect/>
          </a:stretch>
        </p:blipFill>
        <p:spPr>
          <a:xfrm>
            <a:off x="457200" y="411480"/>
            <a:ext cx="1295145" cy="310896"/>
          </a:xfrm>
          <a:prstGeom prst="rect">
            <a:avLst/>
          </a:prstGeom>
        </p:spPr>
      </p:pic>
      <p:sp>
        <p:nvSpPr>
          <p:cNvPr id="3" name="Text 0"/>
          <p:cNvSpPr txBox="1"/>
          <p:nvPr/>
        </p:nvSpPr>
        <p:spPr>
          <a:xfrm>
            <a:off x="457200" y="1051560"/>
            <a:ext cx="5669280" cy="274320"/>
          </a:xfrm>
          <a:prstGeom prst="rect">
            <a:avLst/>
          </a:prstGeom>
          <a:noFill/>
          <a:ln/>
        </p:spPr>
        <p:txBody>
          <a:bodyPr wrap="square" lIns="0" tIns="0" rIns="0" bIns="0" rtlCol="0" anchor="t"/>
          <a:lstStyle/>
          <a:p>
            <a:pPr indent="0" marL="0">
              <a:buNone/>
            </a:pPr>
            <a:r>
              <a:rPr lang="en-US" sz="1050" dirty="0">
                <a:solidFill>
                  <a:srgbClr val="FFC63E"/>
                </a:solidFill>
                <a:latin typeface="Poppins SemiBold" pitchFamily="34" charset="0"/>
                <a:ea typeface="Poppins SemiBold" pitchFamily="34" charset="-122"/>
                <a:cs typeface="Poppins SemiBold" pitchFamily="34" charset="-120"/>
              </a:rPr>
              <a:t>S A B I O   ×   P A Y P A L</a:t>
            </a:r>
            <a:endParaRPr lang="en-US" sz="1050" dirty="0"/>
          </a:p>
        </p:txBody>
      </p:sp>
      <p:sp>
        <p:nvSpPr>
          <p:cNvPr id="4" name="Text 1"/>
          <p:cNvSpPr txBox="1"/>
          <p:nvPr/>
        </p:nvSpPr>
        <p:spPr>
          <a:xfrm>
            <a:off x="457200" y="1371600"/>
            <a:ext cx="5669280" cy="1417320"/>
          </a:xfrm>
          <a:prstGeom prst="rect">
            <a:avLst/>
          </a:prstGeom>
          <a:noFill/>
          <a:ln/>
        </p:spPr>
        <p:txBody>
          <a:bodyPr wrap="square" lIns="0" tIns="0" rIns="0" bIns="0" rtlCol="0" anchor="ctr"/>
          <a:lstStyle/>
          <a:p>
            <a:pPr indent="0" marL="0">
              <a:lnSpc>
                <a:spcPct val="95000"/>
              </a:lnSpc>
              <a:buNone/>
            </a:pPr>
            <a:r>
              <a:rPr lang="en-US" sz="2800" dirty="0">
                <a:solidFill>
                  <a:srgbClr val="FFFFFF"/>
                </a:solidFill>
                <a:latin typeface="Poppins ExtraBold" pitchFamily="34" charset="0"/>
                <a:ea typeface="Poppins ExtraBold" pitchFamily="34" charset="-122"/>
                <a:cs typeface="Poppins ExtraBold" pitchFamily="34" charset="-120"/>
              </a:rPr>
              <a:t>WIN THE HOLIDAY CHECKOUT, ONE HOUSEHOLD AT A TIME</a:t>
            </a:r>
            <a:endParaRPr lang="en-US" sz="2800" dirty="0"/>
          </a:p>
        </p:txBody>
      </p:sp>
      <p:sp>
        <p:nvSpPr>
          <p:cNvPr id="5" name="Text 2"/>
          <p:cNvSpPr txBox="1"/>
          <p:nvPr/>
        </p:nvSpPr>
        <p:spPr>
          <a:xfrm>
            <a:off x="457200" y="2834640"/>
            <a:ext cx="5486400" cy="685800"/>
          </a:xfrm>
          <a:prstGeom prst="rect">
            <a:avLst/>
          </a:prstGeom>
          <a:noFill/>
          <a:ln/>
        </p:spPr>
        <p:txBody>
          <a:bodyPr wrap="square" lIns="0" tIns="0" rIns="0" bIns="0" rtlCol="0" anchor="t"/>
          <a:lstStyle/>
          <a:p>
            <a:pPr indent="0" marL="0">
              <a:buNone/>
            </a:pPr>
            <a:r>
              <a:rPr lang="en-US" sz="1150" dirty="0">
                <a:solidFill>
                  <a:srgbClr val="E3E3E3"/>
                </a:solidFill>
                <a:latin typeface="Poppins" pitchFamily="34" charset="0"/>
                <a:ea typeface="Poppins" pitchFamily="34" charset="-122"/>
                <a:cs typeface="Poppins" pitchFamily="34" charset="-120"/>
              </a:rPr>
              <a:t>Venmo is growing fast and branded checkout is flat. App Science® finds the homes that pay with another wallet, split costs with friends or shop early, and reaches them on TV before the holiday.</a:t>
            </a:r>
            <a:endParaRPr lang="en-US" sz="1150" dirty="0"/>
          </a:p>
        </p:txBody>
      </p:sp>
      <p:sp>
        <p:nvSpPr>
          <p:cNvPr id="6" name="Text 3"/>
          <p:cNvSpPr txBox="1"/>
          <p:nvPr/>
        </p:nvSpPr>
        <p:spPr>
          <a:xfrm>
            <a:off x="457200" y="3657600"/>
            <a:ext cx="5669280" cy="22860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Proactive recommendation | Prepared for Zenith | October 2026 | US only</a:t>
            </a:r>
            <a:endParaRPr lang="en-US" sz="900" dirty="0"/>
          </a:p>
        </p:txBody>
      </p:sp>
      <p:sp>
        <p:nvSpPr>
          <p:cNvPr id="7" name="Text 4"/>
          <p:cNvSpPr txBox="1"/>
          <p:nvPr/>
        </p:nvSpPr>
        <p:spPr>
          <a:xfrm>
            <a:off x="457200" y="3931920"/>
            <a:ext cx="5669280" cy="457200"/>
          </a:xfrm>
          <a:prstGeom prst="rect">
            <a:avLst/>
          </a:prstGeom>
          <a:noFill/>
          <a:ln/>
        </p:spPr>
        <p:txBody>
          <a:bodyPr wrap="square" lIns="0" tIns="0" rIns="0" bIns="0" rtlCol="0" anchor="t"/>
          <a:lstStyle/>
          <a:p>
            <a:pPr indent="0" marL="0">
              <a:buNone/>
            </a:pPr>
            <a:r>
              <a:rPr lang="en-US" sz="850" dirty="0">
                <a:solidFill>
                  <a:srgbClr val="A7A7A7"/>
                </a:solidFill>
                <a:latin typeface="Poppins" pitchFamily="34" charset="0"/>
                <a:ea typeface="Poppins" pitchFamily="34" charset="-122"/>
                <a:cs typeface="Poppins" pitchFamily="34" charset="-120"/>
              </a:rPr>
              <a:t>Will Phung · Amanda Grond · Stamos Biliris</a:t>
            </a:r>
            <a:endParaRPr lang="en-US" sz="850" dirty="0"/>
          </a:p>
          <a:p>
            <a:pPr indent="0" marL="0">
              <a:buNone/>
            </a:pPr>
            <a:r>
              <a:rPr lang="en-US" sz="850" dirty="0">
                <a:solidFill>
                  <a:srgbClr val="A7A7A7"/>
                </a:solidFill>
                <a:latin typeface="Poppins" pitchFamily="34" charset="0"/>
                <a:ea typeface="Poppins" pitchFamily="34" charset="-122"/>
                <a:cs typeface="Poppins" pitchFamily="34" charset="-120"/>
              </a:rPr>
              <a:t>Ben Bring · Isabella Imbriano</a:t>
            </a:r>
            <a:endParaRPr lang="en-US" sz="850" dirty="0"/>
          </a:p>
        </p:txBody>
      </p:sp>
      <p:sp>
        <p:nvSpPr>
          <p:cNvPr id="8" name="Shape 5"/>
          <p:cNvSpPr/>
          <p:nvPr/>
        </p:nvSpPr>
        <p:spPr>
          <a:xfrm>
            <a:off x="6355080" y="411480"/>
            <a:ext cx="2331720" cy="4315968"/>
          </a:xfrm>
          <a:prstGeom prst="rect">
            <a:avLst/>
          </a:prstGeom>
          <a:solidFill>
            <a:srgbClr val="262626"/>
          </a:solidFill>
          <a:ln w="12700">
            <a:solidFill>
              <a:srgbClr val="262626"/>
            </a:solidFill>
            <a:prstDash val="solid"/>
          </a:ln>
        </p:spPr>
      </p:sp>
      <p:sp>
        <p:nvSpPr>
          <p:cNvPr id="9" name="Text 6"/>
          <p:cNvSpPr txBox="1"/>
          <p:nvPr/>
        </p:nvSpPr>
        <p:spPr>
          <a:xfrm>
            <a:off x="6583680" y="731520"/>
            <a:ext cx="1920240" cy="457200"/>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ONLINE BRANDED CHECKOUT, Q2</a:t>
            </a:r>
            <a:endParaRPr lang="en-US" sz="850" dirty="0"/>
          </a:p>
        </p:txBody>
      </p:sp>
      <p:sp>
        <p:nvSpPr>
          <p:cNvPr id="10" name="Text 7"/>
          <p:cNvSpPr txBox="1"/>
          <p:nvPr/>
        </p:nvSpPr>
        <p:spPr>
          <a:xfrm>
            <a:off x="6583680" y="1234440"/>
            <a:ext cx="1965960" cy="1097280"/>
          </a:xfrm>
          <a:prstGeom prst="rect">
            <a:avLst/>
          </a:prstGeom>
          <a:noFill/>
          <a:ln/>
        </p:spPr>
        <p:txBody>
          <a:bodyPr wrap="square" lIns="0" tIns="0" rIns="0" bIns="0" rtlCol="0" anchor="ctr"/>
          <a:lstStyle/>
          <a:p>
            <a:pPr indent="0" marL="0">
              <a:buNone/>
            </a:pPr>
            <a:r>
              <a:rPr lang="en-US" sz="5000" dirty="0">
                <a:solidFill>
                  <a:srgbClr val="FFC63E"/>
                </a:solidFill>
                <a:latin typeface="Poppins ExtraBold" pitchFamily="34" charset="0"/>
                <a:ea typeface="Poppins ExtraBold" pitchFamily="34" charset="-122"/>
                <a:cs typeface="Poppins ExtraBold" pitchFamily="34" charset="-120"/>
              </a:rPr>
              <a:t>+2%</a:t>
            </a:r>
            <a:endParaRPr lang="en-US" sz="5000" dirty="0"/>
          </a:p>
        </p:txBody>
      </p:sp>
      <p:sp>
        <p:nvSpPr>
          <p:cNvPr id="11" name="Text 8"/>
          <p:cNvSpPr txBox="1"/>
          <p:nvPr/>
        </p:nvSpPr>
        <p:spPr>
          <a:xfrm>
            <a:off x="6583680" y="2377440"/>
            <a:ext cx="1920240" cy="45720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SECOND QUARTER IN A ROW</a:t>
            </a:r>
            <a:endParaRPr lang="en-US" sz="1200" dirty="0"/>
          </a:p>
        </p:txBody>
      </p:sp>
      <p:sp>
        <p:nvSpPr>
          <p:cNvPr id="12" name="Text 9"/>
          <p:cNvSpPr txBox="1"/>
          <p:nvPr/>
        </p:nvSpPr>
        <p:spPr>
          <a:xfrm>
            <a:off x="6583680" y="2971800"/>
            <a:ext cx="1874520" cy="160020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Total payment volume grew 9% to $486B, but online branded checkout grew 2%. Venmo volume grew 14%. Holiday is where checkout habits get set. [1]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WHAT'S HAPPENING AT PAYPAL RIGHT NOW</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FOUR SIGNALS FROM THE LAST THREE MONTHS · NUMBERED SOURCES ON PAGE 10</a:t>
            </a:r>
            <a:endParaRPr lang="en-US" sz="850" dirty="0"/>
          </a:p>
        </p:txBody>
      </p:sp>
      <p:sp>
        <p:nvSpPr>
          <p:cNvPr id="4" name="Shape 2"/>
          <p:cNvSpPr/>
          <p:nvPr/>
        </p:nvSpPr>
        <p:spPr>
          <a:xfrm>
            <a:off x="457200" y="1188720"/>
            <a:ext cx="1947672" cy="3246120"/>
          </a:xfrm>
          <a:prstGeom prst="rect">
            <a:avLst/>
          </a:prstGeom>
          <a:solidFill>
            <a:srgbClr val="262626"/>
          </a:solidFill>
          <a:ln w="12700">
            <a:solidFill>
              <a:srgbClr val="262626"/>
            </a:solidFill>
            <a:prstDash val="solid"/>
          </a:ln>
        </p:spPr>
      </p:sp>
      <p:sp>
        <p:nvSpPr>
          <p:cNvPr id="5" name="Text 3"/>
          <p:cNvSpPr txBox="1"/>
          <p:nvPr/>
        </p:nvSpPr>
        <p:spPr>
          <a:xfrm>
            <a:off x="603504"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JUL 28, 2026</a:t>
            </a:r>
            <a:endParaRPr lang="en-US" sz="800" dirty="0"/>
          </a:p>
        </p:txBody>
      </p:sp>
      <p:sp>
        <p:nvSpPr>
          <p:cNvPr id="6" name="Text 4"/>
          <p:cNvSpPr txBox="1"/>
          <p:nvPr/>
        </p:nvSpPr>
        <p:spPr>
          <a:xfrm>
            <a:off x="603504"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Branded checkout grew 2% for a second quarter</a:t>
            </a:r>
            <a:endParaRPr lang="en-US" sz="1050" dirty="0"/>
          </a:p>
        </p:txBody>
      </p:sp>
      <p:sp>
        <p:nvSpPr>
          <p:cNvPr id="7" name="Text 5"/>
          <p:cNvSpPr txBox="1"/>
          <p:nvPr/>
        </p:nvSpPr>
        <p:spPr>
          <a:xfrm>
            <a:off x="603504"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TPV rose 9% to $486B. PayPal plans to reinvest a large part of its savings in growth, including marketing. [1]</a:t>
            </a:r>
            <a:endParaRPr lang="en-US" sz="800" dirty="0"/>
          </a:p>
        </p:txBody>
      </p:sp>
      <p:sp>
        <p:nvSpPr>
          <p:cNvPr id="8" name="Shape 6"/>
          <p:cNvSpPr/>
          <p:nvPr/>
        </p:nvSpPr>
        <p:spPr>
          <a:xfrm>
            <a:off x="566928" y="3364992"/>
            <a:ext cx="1728216" cy="960120"/>
          </a:xfrm>
          <a:prstGeom prst="rect">
            <a:avLst/>
          </a:prstGeom>
          <a:solidFill>
            <a:srgbClr val="2F2F2F"/>
          </a:solidFill>
          <a:ln w="12700">
            <a:solidFill>
              <a:srgbClr val="2F2F2F"/>
            </a:solidFill>
            <a:prstDash val="solid"/>
          </a:ln>
        </p:spPr>
      </p:sp>
      <p:sp>
        <p:nvSpPr>
          <p:cNvPr id="9" name="Text 7"/>
          <p:cNvSpPr txBox="1"/>
          <p:nvPr/>
        </p:nvSpPr>
        <p:spPr>
          <a:xfrm>
            <a:off x="658368"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10" name="Text 8"/>
          <p:cNvSpPr txBox="1"/>
          <p:nvPr/>
        </p:nvSpPr>
        <p:spPr>
          <a:xfrm>
            <a:off x="658368"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Checkout share is the number to move, and there is budget behind it.</a:t>
            </a:r>
            <a:endParaRPr lang="en-US" sz="800" dirty="0"/>
          </a:p>
        </p:txBody>
      </p:sp>
      <p:sp>
        <p:nvSpPr>
          <p:cNvPr id="11" name="Shape 9"/>
          <p:cNvSpPr/>
          <p:nvPr/>
        </p:nvSpPr>
        <p:spPr>
          <a:xfrm>
            <a:off x="2551176" y="1188720"/>
            <a:ext cx="1947672" cy="3246120"/>
          </a:xfrm>
          <a:prstGeom prst="rect">
            <a:avLst/>
          </a:prstGeom>
          <a:solidFill>
            <a:srgbClr val="262626"/>
          </a:solidFill>
          <a:ln w="12700">
            <a:solidFill>
              <a:srgbClr val="262626"/>
            </a:solidFill>
            <a:prstDash val="solid"/>
          </a:ln>
        </p:spPr>
      </p:sp>
      <p:sp>
        <p:nvSpPr>
          <p:cNvPr id="12" name="Text 10"/>
          <p:cNvSpPr txBox="1"/>
          <p:nvPr/>
        </p:nvSpPr>
        <p:spPr>
          <a:xfrm>
            <a:off x="2697480"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JUL 28, 2026</a:t>
            </a:r>
            <a:endParaRPr lang="en-US" sz="800" dirty="0"/>
          </a:p>
        </p:txBody>
      </p:sp>
      <p:sp>
        <p:nvSpPr>
          <p:cNvPr id="13" name="Text 11"/>
          <p:cNvSpPr txBox="1"/>
          <p:nvPr/>
        </p:nvSpPr>
        <p:spPr>
          <a:xfrm>
            <a:off x="2697480"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Venmo volume up 14%, Pay with Venmo up 44%</a:t>
            </a:r>
            <a:endParaRPr lang="en-US" sz="1050" dirty="0"/>
          </a:p>
        </p:txBody>
      </p:sp>
      <p:sp>
        <p:nvSpPr>
          <p:cNvPr id="14" name="Text 12"/>
          <p:cNvSpPr txBox="1"/>
          <p:nvPr/>
        </p:nvSpPr>
        <p:spPr>
          <a:xfrm>
            <a:off x="2697480"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Venmo posted its seventh straight quarter of double-digit growth. Buy now, pay later volume grew 26%. [1]</a:t>
            </a:r>
            <a:endParaRPr lang="en-US" sz="800" dirty="0"/>
          </a:p>
        </p:txBody>
      </p:sp>
      <p:sp>
        <p:nvSpPr>
          <p:cNvPr id="15" name="Shape 13"/>
          <p:cNvSpPr/>
          <p:nvPr/>
        </p:nvSpPr>
        <p:spPr>
          <a:xfrm>
            <a:off x="2660904" y="3364992"/>
            <a:ext cx="1728216" cy="960120"/>
          </a:xfrm>
          <a:prstGeom prst="rect">
            <a:avLst/>
          </a:prstGeom>
          <a:solidFill>
            <a:srgbClr val="2F2F2F"/>
          </a:solidFill>
          <a:ln w="12700">
            <a:solidFill>
              <a:srgbClr val="2F2F2F"/>
            </a:solidFill>
            <a:prstDash val="solid"/>
          </a:ln>
        </p:spPr>
      </p:sp>
      <p:sp>
        <p:nvSpPr>
          <p:cNvPr id="16" name="Text 14"/>
          <p:cNvSpPr txBox="1"/>
          <p:nvPr/>
        </p:nvSpPr>
        <p:spPr>
          <a:xfrm>
            <a:off x="2752344"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17" name="Text 15"/>
          <p:cNvSpPr txBox="1"/>
          <p:nvPr/>
        </p:nvSpPr>
        <p:spPr>
          <a:xfrm>
            <a:off x="2752344"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The growth products are the ones to put on TV this season.</a:t>
            </a:r>
            <a:endParaRPr lang="en-US" sz="800" dirty="0"/>
          </a:p>
        </p:txBody>
      </p:sp>
      <p:sp>
        <p:nvSpPr>
          <p:cNvPr id="18" name="Shape 16"/>
          <p:cNvSpPr/>
          <p:nvPr/>
        </p:nvSpPr>
        <p:spPr>
          <a:xfrm>
            <a:off x="4645152" y="1188720"/>
            <a:ext cx="1947672" cy="3246120"/>
          </a:xfrm>
          <a:prstGeom prst="rect">
            <a:avLst/>
          </a:prstGeom>
          <a:solidFill>
            <a:srgbClr val="262626"/>
          </a:solidFill>
          <a:ln w="12700">
            <a:solidFill>
              <a:srgbClr val="262626"/>
            </a:solidFill>
            <a:prstDash val="solid"/>
          </a:ln>
        </p:spPr>
      </p:sp>
      <p:sp>
        <p:nvSpPr>
          <p:cNvPr id="19" name="Text 17"/>
          <p:cNvSpPr txBox="1"/>
          <p:nvPr/>
        </p:nvSpPr>
        <p:spPr>
          <a:xfrm>
            <a:off x="4791456"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SEP 30, 2026</a:t>
            </a:r>
            <a:endParaRPr lang="en-US" sz="800" dirty="0"/>
          </a:p>
        </p:txBody>
      </p:sp>
      <p:sp>
        <p:nvSpPr>
          <p:cNvPr id="20" name="Text 18"/>
          <p:cNvSpPr txBox="1"/>
          <p:nvPr/>
        </p:nvSpPr>
        <p:spPr>
          <a:xfrm>
            <a:off x="4791456"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Shoppers are worried but still spending</a:t>
            </a:r>
            <a:endParaRPr lang="en-US" sz="1050" dirty="0"/>
          </a:p>
        </p:txBody>
      </p:sp>
      <p:sp>
        <p:nvSpPr>
          <p:cNvPr id="21" name="Text 19"/>
          <p:cNvSpPr txBox="1"/>
          <p:nvPr/>
        </p:nvSpPr>
        <p:spPr>
          <a:xfrm>
            <a:off x="4791456"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PayPal's survey found 58% feel more financial concern, 64% expect to spend the same or more, and 67% prefer retailers with rewards. [2]</a:t>
            </a:r>
            <a:endParaRPr lang="en-US" sz="800" dirty="0"/>
          </a:p>
        </p:txBody>
      </p:sp>
      <p:sp>
        <p:nvSpPr>
          <p:cNvPr id="22" name="Shape 20"/>
          <p:cNvSpPr/>
          <p:nvPr/>
        </p:nvSpPr>
        <p:spPr>
          <a:xfrm>
            <a:off x="4754880" y="3364992"/>
            <a:ext cx="1728216" cy="960120"/>
          </a:xfrm>
          <a:prstGeom prst="rect">
            <a:avLst/>
          </a:prstGeom>
          <a:solidFill>
            <a:srgbClr val="2F2F2F"/>
          </a:solidFill>
          <a:ln w="12700">
            <a:solidFill>
              <a:srgbClr val="2F2F2F"/>
            </a:solidFill>
            <a:prstDash val="solid"/>
          </a:ln>
        </p:spPr>
      </p:sp>
      <p:sp>
        <p:nvSpPr>
          <p:cNvPr id="23" name="Text 21"/>
          <p:cNvSpPr txBox="1"/>
          <p:nvPr/>
        </p:nvSpPr>
        <p:spPr>
          <a:xfrm>
            <a:off x="4846320"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24" name="Text 22"/>
          <p:cNvSpPr txBox="1"/>
          <p:nvPr/>
        </p:nvSpPr>
        <p:spPr>
          <a:xfrm>
            <a:off x="4846320"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Rewards and pay later are the reasons to choose PayPal at checkout.</a:t>
            </a:r>
            <a:endParaRPr lang="en-US" sz="800" dirty="0"/>
          </a:p>
        </p:txBody>
      </p:sp>
      <p:sp>
        <p:nvSpPr>
          <p:cNvPr id="25" name="Shape 23"/>
          <p:cNvSpPr/>
          <p:nvPr/>
        </p:nvSpPr>
        <p:spPr>
          <a:xfrm>
            <a:off x="6739128" y="1188720"/>
            <a:ext cx="1947672" cy="3246120"/>
          </a:xfrm>
          <a:prstGeom prst="rect">
            <a:avLst/>
          </a:prstGeom>
          <a:solidFill>
            <a:srgbClr val="262626"/>
          </a:solidFill>
          <a:ln w="12700">
            <a:solidFill>
              <a:srgbClr val="262626"/>
            </a:solidFill>
            <a:prstDash val="solid"/>
          </a:ln>
        </p:spPr>
      </p:sp>
      <p:sp>
        <p:nvSpPr>
          <p:cNvPr id="26" name="Text 24"/>
          <p:cNvSpPr txBox="1"/>
          <p:nvPr/>
        </p:nvSpPr>
        <p:spPr>
          <a:xfrm>
            <a:off x="6885432"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OCT 5, 2026</a:t>
            </a:r>
            <a:endParaRPr lang="en-US" sz="800" dirty="0"/>
          </a:p>
        </p:txBody>
      </p:sp>
      <p:sp>
        <p:nvSpPr>
          <p:cNvPr id="27" name="Text 25"/>
          <p:cNvSpPr txBox="1"/>
          <p:nvPr/>
        </p:nvSpPr>
        <p:spPr>
          <a:xfrm>
            <a:off x="6885432"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Venmo Credit Card pays up to 4% when you split</a:t>
            </a:r>
            <a:endParaRPr lang="en-US" sz="1050" dirty="0"/>
          </a:p>
        </p:txBody>
      </p:sp>
      <p:sp>
        <p:nvSpPr>
          <p:cNvPr id="28" name="Text 26"/>
          <p:cNvSpPr txBox="1"/>
          <p:nvPr/>
        </p:nvSpPr>
        <p:spPr>
          <a:xfrm>
            <a:off x="6885432"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Cardholders earn up to 4% cash back on purchases they split with friends through Venmo. [3]</a:t>
            </a:r>
            <a:endParaRPr lang="en-US" sz="800" dirty="0"/>
          </a:p>
        </p:txBody>
      </p:sp>
      <p:sp>
        <p:nvSpPr>
          <p:cNvPr id="29" name="Shape 27"/>
          <p:cNvSpPr/>
          <p:nvPr/>
        </p:nvSpPr>
        <p:spPr>
          <a:xfrm>
            <a:off x="6848856" y="3364992"/>
            <a:ext cx="1728216" cy="960120"/>
          </a:xfrm>
          <a:prstGeom prst="rect">
            <a:avLst/>
          </a:prstGeom>
          <a:solidFill>
            <a:srgbClr val="2F2F2F"/>
          </a:solidFill>
          <a:ln w="12700">
            <a:solidFill>
              <a:srgbClr val="2F2F2F"/>
            </a:solidFill>
            <a:prstDash val="solid"/>
          </a:ln>
        </p:spPr>
      </p:sp>
      <p:sp>
        <p:nvSpPr>
          <p:cNvPr id="30" name="Text 28"/>
          <p:cNvSpPr txBox="1"/>
          <p:nvPr/>
        </p:nvSpPr>
        <p:spPr>
          <a:xfrm>
            <a:off x="6940296"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31" name="Text 29"/>
          <p:cNvSpPr txBox="1"/>
          <p:nvPr/>
        </p:nvSpPr>
        <p:spPr>
          <a:xfrm>
            <a:off x="6940296"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Group holiday plans are a ready-made audience for the card.</a:t>
            </a:r>
            <a:endParaRPr lang="en-US" sz="80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THE OPENING: WIN THE WALLET BEFORE THE CART</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WHY HOLIDAY MEDIA SHOULD CHASE CHECKOUT SHARE, NOT AWARENESS</a:t>
            </a:r>
            <a:endParaRPr lang="en-US" sz="850" dirty="0"/>
          </a:p>
        </p:txBody>
      </p:sp>
      <p:sp>
        <p:nvSpPr>
          <p:cNvPr id="4" name="Shape 2"/>
          <p:cNvSpPr/>
          <p:nvPr/>
        </p:nvSpPr>
        <p:spPr>
          <a:xfrm>
            <a:off x="457200" y="1188720"/>
            <a:ext cx="3291840" cy="3246120"/>
          </a:xfrm>
          <a:prstGeom prst="rect">
            <a:avLst/>
          </a:prstGeom>
          <a:solidFill>
            <a:srgbClr val="262626"/>
          </a:solidFill>
          <a:ln w="12700">
            <a:solidFill>
              <a:srgbClr val="262626"/>
            </a:solidFill>
            <a:prstDash val="solid"/>
          </a:ln>
        </p:spPr>
      </p:sp>
      <p:sp>
        <p:nvSpPr>
          <p:cNvPr id="5" name="Text 3"/>
          <p:cNvSpPr txBox="1"/>
          <p:nvPr/>
        </p:nvSpPr>
        <p:spPr>
          <a:xfrm>
            <a:off x="685800" y="1371600"/>
            <a:ext cx="2926080" cy="1188720"/>
          </a:xfrm>
          <a:prstGeom prst="rect">
            <a:avLst/>
          </a:prstGeom>
          <a:noFill/>
          <a:ln/>
        </p:spPr>
        <p:txBody>
          <a:bodyPr wrap="square" lIns="0" tIns="0" rIns="0" bIns="0" rtlCol="0" anchor="ctr"/>
          <a:lstStyle/>
          <a:p>
            <a:pPr indent="0" marL="0">
              <a:buNone/>
            </a:pPr>
            <a:r>
              <a:rPr lang="en-US" sz="5400" dirty="0">
                <a:solidFill>
                  <a:srgbClr val="FFC63E"/>
                </a:solidFill>
                <a:latin typeface="Poppins ExtraBold" pitchFamily="34" charset="0"/>
                <a:ea typeface="Poppins ExtraBold" pitchFamily="34" charset="-122"/>
                <a:cs typeface="Poppins ExtraBold" pitchFamily="34" charset="-120"/>
              </a:rPr>
              <a:t>67%</a:t>
            </a:r>
            <a:endParaRPr lang="en-US" sz="5400" dirty="0"/>
          </a:p>
        </p:txBody>
      </p:sp>
      <p:sp>
        <p:nvSpPr>
          <p:cNvPr id="6" name="Text 4"/>
          <p:cNvSpPr txBox="1"/>
          <p:nvPr/>
        </p:nvSpPr>
        <p:spPr>
          <a:xfrm>
            <a:off x="685800" y="2606040"/>
            <a:ext cx="2834640" cy="914400"/>
          </a:xfrm>
          <a:prstGeom prst="rect">
            <a:avLst/>
          </a:prstGeom>
          <a:noFill/>
          <a:ln/>
        </p:spPr>
        <p:txBody>
          <a:bodyPr wrap="square" lIns="0" tIns="0" rIns="0" bIns="0" rtlCol="0" anchor="t"/>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Of Americans are more likely to shop with a retailer that offers rewards or cash back.</a:t>
            </a:r>
            <a:endParaRPr lang="en-US" sz="1100" dirty="0"/>
          </a:p>
        </p:txBody>
      </p:sp>
      <p:sp>
        <p:nvSpPr>
          <p:cNvPr id="7" name="Text 5"/>
          <p:cNvSpPr txBox="1"/>
          <p:nvPr/>
        </p:nvSpPr>
        <p:spPr>
          <a:xfrm>
            <a:off x="685800" y="3977640"/>
            <a:ext cx="2834640" cy="365760"/>
          </a:xfrm>
          <a:prstGeom prst="rect">
            <a:avLst/>
          </a:prstGeom>
          <a:noFill/>
          <a:ln/>
        </p:spPr>
        <p:txBody>
          <a:bodyPr wrap="square" lIns="0" tIns="0" rIns="0" bIns="0" rtlCol="0" anchor="b"/>
          <a:lstStyle/>
          <a:p>
            <a:pPr indent="0" marL="0">
              <a:buNone/>
            </a:pPr>
            <a:r>
              <a:rPr lang="en-US" sz="700" dirty="0">
                <a:solidFill>
                  <a:srgbClr val="7E7E7E"/>
                </a:solidFill>
                <a:latin typeface="Poppins" pitchFamily="34" charset="0"/>
                <a:ea typeface="Poppins" pitchFamily="34" charset="-122"/>
                <a:cs typeface="Poppins" pitchFamily="34" charset="-120"/>
              </a:rPr>
              <a:t>Source 2 (PayPal 2026 Holiday Shopping Survey)</a:t>
            </a:r>
            <a:endParaRPr lang="en-US" sz="700" dirty="0"/>
          </a:p>
        </p:txBody>
      </p:sp>
      <p:sp>
        <p:nvSpPr>
          <p:cNvPr id="8" name="Text 6"/>
          <p:cNvSpPr txBox="1"/>
          <p:nvPr/>
        </p:nvSpPr>
        <p:spPr>
          <a:xfrm>
            <a:off x="4023360" y="1188720"/>
            <a:ext cx="4663440" cy="822960"/>
          </a:xfrm>
          <a:prstGeom prst="rect">
            <a:avLst/>
          </a:prstGeom>
          <a:noFill/>
          <a:ln/>
        </p:spPr>
        <p:txBody>
          <a:bodyPr wrap="square" lIns="0" tIns="0" rIns="0" bIns="0" rtlCol="0" anchor="t"/>
          <a:lstStyle/>
          <a:p>
            <a:pPr indent="0" marL="0">
              <a:buNone/>
            </a:pPr>
            <a:r>
              <a:rPr lang="en-US" sz="1600" dirty="0">
                <a:solidFill>
                  <a:srgbClr val="FFFFFF"/>
                </a:solidFill>
                <a:latin typeface="Poppins ExtraBold" pitchFamily="34" charset="0"/>
                <a:ea typeface="Poppins ExtraBold" pitchFamily="34" charset="-122"/>
                <a:cs typeface="Poppins ExtraBold" pitchFamily="34" charset="-120"/>
              </a:rPr>
              <a:t>We think PayPal grows checkout share this holiday by reaching the homes that already pay with something else.</a:t>
            </a:r>
            <a:endParaRPr lang="en-US" sz="1600" dirty="0"/>
          </a:p>
        </p:txBody>
      </p:sp>
      <p:sp>
        <p:nvSpPr>
          <p:cNvPr id="9" name="Text 7"/>
          <p:cNvSpPr txBox="1"/>
          <p:nvPr/>
        </p:nvSpPr>
        <p:spPr>
          <a:xfrm>
            <a:off x="4023360" y="210312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SWING WALLETS ARE VISIBLE</a:t>
            </a:r>
            <a:endParaRPr lang="en-US" sz="850" dirty="0"/>
          </a:p>
        </p:txBody>
      </p:sp>
      <p:sp>
        <p:nvSpPr>
          <p:cNvPr id="10" name="Text 8"/>
          <p:cNvSpPr txBox="1"/>
          <p:nvPr/>
        </p:nvSpPr>
        <p:spPr>
          <a:xfrm>
            <a:off x="4023360" y="233172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Cash App, Klarna, Afterpay and Affirm all live on the phone. We can see which homes use them and which don't use PayPal.</a:t>
            </a:r>
            <a:endParaRPr lang="en-US" sz="950" dirty="0"/>
          </a:p>
        </p:txBody>
      </p:sp>
      <p:sp>
        <p:nvSpPr>
          <p:cNvPr id="11" name="Text 9"/>
          <p:cNvSpPr txBox="1"/>
          <p:nvPr/>
        </p:nvSpPr>
        <p:spPr>
          <a:xfrm>
            <a:off x="4023360" y="288036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VENMO IS THE GROWTH STORY</a:t>
            </a:r>
            <a:endParaRPr lang="en-US" sz="850" dirty="0"/>
          </a:p>
        </p:txBody>
      </p:sp>
      <p:sp>
        <p:nvSpPr>
          <p:cNvPr id="12" name="Text 10"/>
          <p:cNvSpPr txBox="1"/>
          <p:nvPr/>
        </p:nvSpPr>
        <p:spPr>
          <a:xfrm>
            <a:off x="4023360" y="310896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Pay with Venmo grew 44%. Group plans and gift splitting peak in December, so the card has a natural moment.</a:t>
            </a:r>
            <a:endParaRPr lang="en-US" sz="950" dirty="0"/>
          </a:p>
        </p:txBody>
      </p:sp>
      <p:sp>
        <p:nvSpPr>
          <p:cNvPr id="13" name="Text 11"/>
          <p:cNvSpPr txBox="1"/>
          <p:nvPr/>
        </p:nvSpPr>
        <p:spPr>
          <a:xfrm>
            <a:off x="4023360" y="365760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DECISION STARTS ON THE TV</a:t>
            </a:r>
            <a:endParaRPr lang="en-US" sz="850" dirty="0"/>
          </a:p>
        </p:txBody>
      </p:sp>
      <p:sp>
        <p:nvSpPr>
          <p:cNvPr id="14" name="Text 12"/>
          <p:cNvSpPr txBox="1"/>
          <p:nvPr/>
        </p:nvSpPr>
        <p:spPr>
          <a:xfrm>
            <a:off x="4023360" y="388620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Shoppers plan gifts early and pay later. We put the reason to choose PayPal on the TV, then follow the same home to the phone.</a:t>
            </a:r>
            <a:endParaRPr lang="en-US" sz="9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SABIO AT A GLANCE</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OUR OWN DATA, AD TECH AND CONTENT SINCE 2014 · A PUBLICIS PARTNER FOR 9+ YEARS</a:t>
            </a:r>
            <a:endParaRPr lang="en-US" sz="850" dirty="0"/>
          </a:p>
        </p:txBody>
      </p:sp>
      <p:sp>
        <p:nvSpPr>
          <p:cNvPr id="4" name="Shape 2"/>
          <p:cNvSpPr/>
          <p:nvPr/>
        </p:nvSpPr>
        <p:spPr>
          <a:xfrm>
            <a:off x="457200" y="1170432"/>
            <a:ext cx="1558138" cy="1024128"/>
          </a:xfrm>
          <a:prstGeom prst="rect">
            <a:avLst/>
          </a:prstGeom>
          <a:solidFill>
            <a:srgbClr val="262626"/>
          </a:solidFill>
          <a:ln w="12700">
            <a:solidFill>
              <a:srgbClr val="262626"/>
            </a:solidFill>
            <a:prstDash val="solid"/>
          </a:ln>
        </p:spPr>
      </p:sp>
      <p:sp>
        <p:nvSpPr>
          <p:cNvPr id="5" name="Text 3"/>
          <p:cNvSpPr txBox="1"/>
          <p:nvPr/>
        </p:nvSpPr>
        <p:spPr>
          <a:xfrm>
            <a:off x="566928"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2014</a:t>
            </a:r>
            <a:endParaRPr lang="en-US" sz="2200" dirty="0"/>
          </a:p>
        </p:txBody>
      </p:sp>
      <p:sp>
        <p:nvSpPr>
          <p:cNvPr id="6" name="Text 4"/>
          <p:cNvSpPr txBox="1"/>
          <p:nvPr/>
        </p:nvSpPr>
        <p:spPr>
          <a:xfrm>
            <a:off x="566928"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Founded in LA by mobile &amp; TV veterans</a:t>
            </a:r>
            <a:endParaRPr lang="en-US" sz="750" dirty="0"/>
          </a:p>
        </p:txBody>
      </p:sp>
      <p:sp>
        <p:nvSpPr>
          <p:cNvPr id="7" name="Shape 5"/>
          <p:cNvSpPr/>
          <p:nvPr/>
        </p:nvSpPr>
        <p:spPr>
          <a:xfrm>
            <a:off x="2125066" y="1170432"/>
            <a:ext cx="1558138" cy="1024128"/>
          </a:xfrm>
          <a:prstGeom prst="rect">
            <a:avLst/>
          </a:prstGeom>
          <a:solidFill>
            <a:srgbClr val="262626"/>
          </a:solidFill>
          <a:ln w="12700">
            <a:solidFill>
              <a:srgbClr val="262626"/>
            </a:solidFill>
            <a:prstDash val="solid"/>
          </a:ln>
        </p:spPr>
      </p:sp>
      <p:sp>
        <p:nvSpPr>
          <p:cNvPr id="8" name="Text 6"/>
          <p:cNvSpPr txBox="1"/>
          <p:nvPr/>
        </p:nvSpPr>
        <p:spPr>
          <a:xfrm>
            <a:off x="2234794"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280MM</a:t>
            </a:r>
            <a:endParaRPr lang="en-US" sz="2200" dirty="0"/>
          </a:p>
        </p:txBody>
      </p:sp>
      <p:sp>
        <p:nvSpPr>
          <p:cNvPr id="9" name="Text 7"/>
          <p:cNvSpPr txBox="1"/>
          <p:nvPr/>
        </p:nvSpPr>
        <p:spPr>
          <a:xfrm>
            <a:off x="2234794"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Mobile devices observed by App Science®</a:t>
            </a:r>
            <a:endParaRPr lang="en-US" sz="750" dirty="0"/>
          </a:p>
        </p:txBody>
      </p:sp>
      <p:sp>
        <p:nvSpPr>
          <p:cNvPr id="10" name="Shape 8"/>
          <p:cNvSpPr/>
          <p:nvPr/>
        </p:nvSpPr>
        <p:spPr>
          <a:xfrm>
            <a:off x="3792931" y="1170432"/>
            <a:ext cx="1558138" cy="1024128"/>
          </a:xfrm>
          <a:prstGeom prst="rect">
            <a:avLst/>
          </a:prstGeom>
          <a:solidFill>
            <a:srgbClr val="262626"/>
          </a:solidFill>
          <a:ln w="12700">
            <a:solidFill>
              <a:srgbClr val="262626"/>
            </a:solidFill>
            <a:prstDash val="solid"/>
          </a:ln>
        </p:spPr>
      </p:sp>
      <p:sp>
        <p:nvSpPr>
          <p:cNvPr id="11" name="Text 9"/>
          <p:cNvSpPr txBox="1"/>
          <p:nvPr/>
        </p:nvSpPr>
        <p:spPr>
          <a:xfrm>
            <a:off x="3902659"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115MM</a:t>
            </a:r>
            <a:endParaRPr lang="en-US" sz="2200" dirty="0"/>
          </a:p>
        </p:txBody>
      </p:sp>
      <p:sp>
        <p:nvSpPr>
          <p:cNvPr id="12" name="Text 10"/>
          <p:cNvSpPr txBox="1"/>
          <p:nvPr/>
        </p:nvSpPr>
        <p:spPr>
          <a:xfrm>
            <a:off x="3902659"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CTV devices across 80MM validated households</a:t>
            </a:r>
            <a:endParaRPr lang="en-US" sz="750" dirty="0"/>
          </a:p>
        </p:txBody>
      </p:sp>
      <p:sp>
        <p:nvSpPr>
          <p:cNvPr id="13" name="Shape 11"/>
          <p:cNvSpPr/>
          <p:nvPr/>
        </p:nvSpPr>
        <p:spPr>
          <a:xfrm>
            <a:off x="5460797" y="1170432"/>
            <a:ext cx="1558138" cy="1024128"/>
          </a:xfrm>
          <a:prstGeom prst="rect">
            <a:avLst/>
          </a:prstGeom>
          <a:solidFill>
            <a:srgbClr val="262626"/>
          </a:solidFill>
          <a:ln w="12700">
            <a:solidFill>
              <a:srgbClr val="262626"/>
            </a:solidFill>
            <a:prstDash val="solid"/>
          </a:ln>
        </p:spPr>
      </p:sp>
      <p:sp>
        <p:nvSpPr>
          <p:cNvPr id="14" name="Text 12"/>
          <p:cNvSpPr txBox="1"/>
          <p:nvPr/>
        </p:nvSpPr>
        <p:spPr>
          <a:xfrm>
            <a:off x="5570525"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~70%</a:t>
            </a:r>
            <a:endParaRPr lang="en-US" sz="2200" dirty="0"/>
          </a:p>
        </p:txBody>
      </p:sp>
      <p:sp>
        <p:nvSpPr>
          <p:cNvPr id="15" name="Text 13"/>
          <p:cNvSpPr txBox="1"/>
          <p:nvPr/>
        </p:nvSpPr>
        <p:spPr>
          <a:xfrm>
            <a:off x="5570525"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Of US streaming households</a:t>
            </a:r>
            <a:endParaRPr lang="en-US" sz="750" dirty="0"/>
          </a:p>
        </p:txBody>
      </p:sp>
      <p:sp>
        <p:nvSpPr>
          <p:cNvPr id="16" name="Shape 14"/>
          <p:cNvSpPr/>
          <p:nvPr/>
        </p:nvSpPr>
        <p:spPr>
          <a:xfrm>
            <a:off x="7128662" y="1170432"/>
            <a:ext cx="1558138" cy="1024128"/>
          </a:xfrm>
          <a:prstGeom prst="rect">
            <a:avLst/>
          </a:prstGeom>
          <a:solidFill>
            <a:srgbClr val="262626"/>
          </a:solidFill>
          <a:ln w="12700">
            <a:solidFill>
              <a:srgbClr val="262626"/>
            </a:solidFill>
            <a:prstDash val="solid"/>
          </a:ln>
        </p:spPr>
      </p:sp>
      <p:sp>
        <p:nvSpPr>
          <p:cNvPr id="17" name="Text 15"/>
          <p:cNvSpPr txBox="1"/>
          <p:nvPr/>
        </p:nvSpPr>
        <p:spPr>
          <a:xfrm>
            <a:off x="7238390"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SBIO</a:t>
            </a:r>
            <a:endParaRPr lang="en-US" sz="2200" dirty="0"/>
          </a:p>
        </p:txBody>
      </p:sp>
      <p:sp>
        <p:nvSpPr>
          <p:cNvPr id="18" name="Text 16"/>
          <p:cNvSpPr txBox="1"/>
          <p:nvPr/>
        </p:nvSpPr>
        <p:spPr>
          <a:xfrm>
            <a:off x="7238390"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TSXV listed · NMSDC-certified MBE</a:t>
            </a:r>
            <a:endParaRPr lang="en-US" sz="750" dirty="0"/>
          </a:p>
        </p:txBody>
      </p:sp>
      <p:sp>
        <p:nvSpPr>
          <p:cNvPr id="19" name="Text 17"/>
          <p:cNvSpPr txBox="1"/>
          <p:nvPr/>
        </p:nvSpPr>
        <p:spPr>
          <a:xfrm>
            <a:off x="457200"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DATA</a:t>
            </a:r>
            <a:endParaRPr lang="en-US" sz="900" dirty="0"/>
          </a:p>
        </p:txBody>
      </p:sp>
      <p:sp>
        <p:nvSpPr>
          <p:cNvPr id="20" name="Text 18"/>
          <p:cNvSpPr txBox="1"/>
          <p:nvPr/>
        </p:nvSpPr>
        <p:spPr>
          <a:xfrm>
            <a:off x="457200"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 Science® reads real on-device app ownership and use, opened in the last 30 days. First-party signal, not licensed third-party segments or panel inference.</a:t>
            </a:r>
            <a:endParaRPr lang="en-US" sz="850" dirty="0"/>
          </a:p>
        </p:txBody>
      </p:sp>
      <p:sp>
        <p:nvSpPr>
          <p:cNvPr id="21" name="Text 19"/>
          <p:cNvSpPr txBox="1"/>
          <p:nvPr/>
        </p:nvSpPr>
        <p:spPr>
          <a:xfrm>
            <a:off x="3249168"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TECH</a:t>
            </a:r>
            <a:endParaRPr lang="en-US" sz="900" dirty="0"/>
          </a:p>
        </p:txBody>
      </p:sp>
      <p:sp>
        <p:nvSpPr>
          <p:cNvPr id="22" name="Text 20"/>
          <p:cNvSpPr txBox="1"/>
          <p:nvPr/>
        </p:nvSpPr>
        <p:spPr>
          <a:xfrm>
            <a:off x="3249168"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Sabio DSP, SSP and ad server built for CTV. The same stack powers always-on PMP Deal IDs and managed IO, so we can commit supply, not resell it.</a:t>
            </a:r>
            <a:endParaRPr lang="en-US" sz="850" dirty="0"/>
          </a:p>
        </p:txBody>
      </p:sp>
      <p:sp>
        <p:nvSpPr>
          <p:cNvPr id="23" name="Text 21"/>
          <p:cNvSpPr txBox="1"/>
          <p:nvPr/>
        </p:nvSpPr>
        <p:spPr>
          <a:xfrm>
            <a:off x="6041136"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CONTENT</a:t>
            </a:r>
            <a:endParaRPr lang="en-US" sz="900" dirty="0"/>
          </a:p>
        </p:txBody>
      </p:sp>
      <p:sp>
        <p:nvSpPr>
          <p:cNvPr id="24" name="Text 22"/>
          <p:cNvSpPr txBox="1"/>
          <p:nvPr/>
        </p:nvSpPr>
        <p:spPr>
          <a:xfrm>
            <a:off x="6041136"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Creator TV®, our owned-and-operated streaming channel, puts creator-led spots and integrations next to the audience buy.</a:t>
            </a:r>
            <a:endParaRPr lang="en-US" sz="850" dirty="0"/>
          </a:p>
        </p:txBody>
      </p:sp>
      <p:sp>
        <p:nvSpPr>
          <p:cNvPr id="25" name="Shape 23"/>
          <p:cNvSpPr/>
          <p:nvPr/>
        </p:nvSpPr>
        <p:spPr>
          <a:xfrm>
            <a:off x="457200" y="3611880"/>
            <a:ext cx="8229600" cy="566928"/>
          </a:xfrm>
          <a:prstGeom prst="rect">
            <a:avLst/>
          </a:prstGeom>
          <a:solidFill>
            <a:srgbClr val="FFC63E"/>
          </a:solidFill>
          <a:ln w="12700">
            <a:solidFill>
              <a:srgbClr val="FFC63E"/>
            </a:solidFill>
            <a:prstDash val="solid"/>
          </a:ln>
        </p:spPr>
      </p:sp>
      <p:sp>
        <p:nvSpPr>
          <p:cNvPr id="26" name="Text 24"/>
          <p:cNvSpPr txBox="1"/>
          <p:nvPr/>
        </p:nvSpPr>
        <p:spPr>
          <a:xfrm>
            <a:off x="640080" y="3611880"/>
            <a:ext cx="7863840" cy="566928"/>
          </a:xfrm>
          <a:prstGeom prst="rect">
            <a:avLst/>
          </a:prstGeom>
          <a:noFill/>
          <a:ln/>
        </p:spPr>
        <p:txBody>
          <a:bodyPr wrap="square" lIns="0" tIns="0" rIns="0" bIns="0" rtlCol="0" anchor="ctr"/>
          <a:lstStyle/>
          <a:p>
            <a:pPr indent="0" marL="0">
              <a:buNone/>
            </a:pPr>
            <a:r>
              <a:rPr lang="en-US" sz="950" dirty="0">
                <a:solidFill>
                  <a:srgbClr val="1A1A1A"/>
                </a:solidFill>
                <a:latin typeface="Poppins ExtraBold" pitchFamily="34" charset="0"/>
                <a:ea typeface="Poppins ExtraBold" pitchFamily="34" charset="-122"/>
                <a:cs typeface="Poppins ExtraBold" pitchFamily="34" charset="-120"/>
              </a:rPr>
              <a:t>WHAT IT MEANS FOR PAYPAL:  </a:t>
            </a:r>
            <a:pPr indent="0" marL="0">
              <a:buNone/>
            </a:pPr>
            <a:r>
              <a:rPr lang="en-US" sz="950" dirty="0">
                <a:solidFill>
                  <a:srgbClr val="1A1A1A"/>
                </a:solidFill>
                <a:latin typeface="Poppins" pitchFamily="34" charset="0"/>
                <a:ea typeface="Poppins" pitchFamily="34" charset="-122"/>
                <a:cs typeface="Poppins" pitchFamily="34" charset="-120"/>
              </a:rPr>
              <a:t>the homes paying with other wallets, splitting with friends or shopping early, found by the apps they use and reached on 115MM CTV households.</a:t>
            </a:r>
            <a:endParaRPr lang="en-US" sz="9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THREE AUDIENCES FOR THE HOLIDAY CHECKOUT</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EACH ONE IS AN APP ECOSYSTEM, NOT A DEMOGRAPHIC · SIZED ON THE FINAL BUILD</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We see which apps are on a device and when they were used, never balances, transactions or anything typed inside an app. PayPal and Venmo users can be suppressed for reach or reinforced. App lists finalized with PayPal and Zenith.</a:t>
            </a:r>
            <a:endParaRPr lang="en-US" sz="650" dirty="0"/>
          </a:p>
        </p:txBody>
      </p:sp>
      <p:sp>
        <p:nvSpPr>
          <p:cNvPr id="5" name="Shape 3"/>
          <p:cNvSpPr/>
          <p:nvPr/>
        </p:nvSpPr>
        <p:spPr>
          <a:xfrm>
            <a:off x="457200" y="1188720"/>
            <a:ext cx="2645664" cy="3246120"/>
          </a:xfrm>
          <a:prstGeom prst="rect">
            <a:avLst/>
          </a:prstGeom>
          <a:solidFill>
            <a:srgbClr val="262626"/>
          </a:solidFill>
          <a:ln w="12700">
            <a:solidFill>
              <a:srgbClr val="262626"/>
            </a:solidFill>
            <a:prstDash val="solid"/>
          </a:ln>
        </p:spPr>
      </p:sp>
      <p:sp>
        <p:nvSpPr>
          <p:cNvPr id="6" name="Text 4"/>
          <p:cNvSpPr txBox="1"/>
          <p:nvPr/>
        </p:nvSpPr>
        <p:spPr>
          <a:xfrm>
            <a:off x="621792"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CONQUEST</a:t>
            </a:r>
            <a:endParaRPr lang="en-US" sz="750" dirty="0"/>
          </a:p>
        </p:txBody>
      </p:sp>
      <p:sp>
        <p:nvSpPr>
          <p:cNvPr id="7" name="Text 5"/>
          <p:cNvSpPr txBox="1"/>
          <p:nvPr/>
        </p:nvSpPr>
        <p:spPr>
          <a:xfrm>
            <a:off x="621792"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OTHER WALLET</a:t>
            </a:r>
            <a:endParaRPr lang="en-US" sz="1200" dirty="0"/>
          </a:p>
        </p:txBody>
      </p:sp>
      <p:sp>
        <p:nvSpPr>
          <p:cNvPr id="8" name="Text 6"/>
          <p:cNvSpPr txBox="1"/>
          <p:nvPr/>
        </p:nvSpPr>
        <p:spPr>
          <a:xfrm>
            <a:off x="621792"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Pays with Cash App or a pay-later app, and no PayPal app in the home.</a:t>
            </a:r>
            <a:endParaRPr lang="en-US" sz="850" dirty="0"/>
          </a:p>
        </p:txBody>
      </p:sp>
      <p:sp>
        <p:nvSpPr>
          <p:cNvPr id="9" name="Text 7"/>
          <p:cNvSpPr txBox="1"/>
          <p:nvPr/>
        </p:nvSpPr>
        <p:spPr>
          <a:xfrm>
            <a:off x="621792"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10" name="Text 8"/>
          <p:cNvSpPr txBox="1"/>
          <p:nvPr/>
        </p:nvSpPr>
        <p:spPr>
          <a:xfrm>
            <a:off x="621792"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Cash App · Klarna · Afterpay · Affirm · Zelle</a:t>
            </a:r>
            <a:endParaRPr lang="en-US" sz="850" dirty="0"/>
          </a:p>
        </p:txBody>
      </p:sp>
      <p:sp>
        <p:nvSpPr>
          <p:cNvPr id="11" name="Text 9"/>
          <p:cNvSpPr txBox="1"/>
          <p:nvPr/>
        </p:nvSpPr>
        <p:spPr>
          <a:xfrm>
            <a:off x="621792"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Make PayPal and Pay Later the holiday default</a:t>
            </a:r>
            <a:endParaRPr lang="en-US" sz="850" dirty="0"/>
          </a:p>
        </p:txBody>
      </p:sp>
      <p:sp>
        <p:nvSpPr>
          <p:cNvPr id="12" name="Shape 10"/>
          <p:cNvSpPr/>
          <p:nvPr/>
        </p:nvSpPr>
        <p:spPr>
          <a:xfrm>
            <a:off x="621792" y="3767328"/>
            <a:ext cx="2316480" cy="512064"/>
          </a:xfrm>
          <a:prstGeom prst="rect">
            <a:avLst/>
          </a:prstGeom>
          <a:solidFill>
            <a:srgbClr val="2F2F2F"/>
          </a:solidFill>
          <a:ln w="12700">
            <a:solidFill>
              <a:srgbClr val="2F2F2F"/>
            </a:solidFill>
            <a:prstDash val="solid"/>
          </a:ln>
        </p:spPr>
      </p:sp>
      <p:sp>
        <p:nvSpPr>
          <p:cNvPr id="13" name="Text 11"/>
          <p:cNvSpPr txBox="1"/>
          <p:nvPr/>
        </p:nvSpPr>
        <p:spPr>
          <a:xfrm>
            <a:off x="713232"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14" name="Text 12"/>
          <p:cNvSpPr txBox="1"/>
          <p:nvPr/>
        </p:nvSpPr>
        <p:spPr>
          <a:xfrm>
            <a:off x="713232"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Sized at build [CONFIRM]</a:t>
            </a:r>
            <a:endParaRPr lang="en-US" sz="800" dirty="0"/>
          </a:p>
        </p:txBody>
      </p:sp>
      <p:sp>
        <p:nvSpPr>
          <p:cNvPr id="15" name="Shape 13"/>
          <p:cNvSpPr/>
          <p:nvPr/>
        </p:nvSpPr>
        <p:spPr>
          <a:xfrm>
            <a:off x="3249168" y="1188720"/>
            <a:ext cx="2645664" cy="3246120"/>
          </a:xfrm>
          <a:prstGeom prst="rect">
            <a:avLst/>
          </a:prstGeom>
          <a:solidFill>
            <a:srgbClr val="262626"/>
          </a:solidFill>
          <a:ln w="12700">
            <a:solidFill>
              <a:srgbClr val="262626"/>
            </a:solidFill>
            <a:prstDash val="solid"/>
          </a:ln>
        </p:spPr>
      </p:sp>
      <p:sp>
        <p:nvSpPr>
          <p:cNvPr id="16" name="Text 14"/>
          <p:cNvSpPr txBox="1"/>
          <p:nvPr/>
        </p:nvSpPr>
        <p:spPr>
          <a:xfrm>
            <a:off x="3413760"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PRIME</a:t>
            </a:r>
            <a:endParaRPr lang="en-US" sz="750" dirty="0"/>
          </a:p>
        </p:txBody>
      </p:sp>
      <p:sp>
        <p:nvSpPr>
          <p:cNvPr id="17" name="Text 15"/>
          <p:cNvSpPr txBox="1"/>
          <p:nvPr/>
        </p:nvSpPr>
        <p:spPr>
          <a:xfrm>
            <a:off x="3413760"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GROUP PLAN SPLITTER</a:t>
            </a:r>
            <a:endParaRPr lang="en-US" sz="1200" dirty="0"/>
          </a:p>
        </p:txBody>
      </p:sp>
      <p:sp>
        <p:nvSpPr>
          <p:cNvPr id="18" name="Text 16"/>
          <p:cNvSpPr txBox="1"/>
          <p:nvPr/>
        </p:nvSpPr>
        <p:spPr>
          <a:xfrm>
            <a:off x="3413760"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Uses Venmo and plans shared trips, dinners and tickets with friends.</a:t>
            </a:r>
            <a:endParaRPr lang="en-US" sz="850" dirty="0"/>
          </a:p>
        </p:txBody>
      </p:sp>
      <p:sp>
        <p:nvSpPr>
          <p:cNvPr id="19" name="Text 17"/>
          <p:cNvSpPr txBox="1"/>
          <p:nvPr/>
        </p:nvSpPr>
        <p:spPr>
          <a:xfrm>
            <a:off x="3413760"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20" name="Text 18"/>
          <p:cNvSpPr txBox="1"/>
          <p:nvPr/>
        </p:nvSpPr>
        <p:spPr>
          <a:xfrm>
            <a:off x="3413760"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Venmo · Splitwise · OpenTable · Ticketmaster · Airbnb</a:t>
            </a:r>
            <a:endParaRPr lang="en-US" sz="850" dirty="0"/>
          </a:p>
        </p:txBody>
      </p:sp>
      <p:sp>
        <p:nvSpPr>
          <p:cNvPr id="21" name="Text 19"/>
          <p:cNvSpPr txBox="1"/>
          <p:nvPr/>
        </p:nvSpPr>
        <p:spPr>
          <a:xfrm>
            <a:off x="3413760"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Put the Venmo Credit Card's 4% split reward in front of them</a:t>
            </a:r>
            <a:endParaRPr lang="en-US" sz="850" dirty="0"/>
          </a:p>
        </p:txBody>
      </p:sp>
      <p:sp>
        <p:nvSpPr>
          <p:cNvPr id="22" name="Shape 20"/>
          <p:cNvSpPr/>
          <p:nvPr/>
        </p:nvSpPr>
        <p:spPr>
          <a:xfrm>
            <a:off x="3413760" y="3767328"/>
            <a:ext cx="2316480" cy="512064"/>
          </a:xfrm>
          <a:prstGeom prst="rect">
            <a:avLst/>
          </a:prstGeom>
          <a:solidFill>
            <a:srgbClr val="2F2F2F"/>
          </a:solidFill>
          <a:ln w="12700">
            <a:solidFill>
              <a:srgbClr val="2F2F2F"/>
            </a:solidFill>
            <a:prstDash val="solid"/>
          </a:ln>
        </p:spPr>
      </p:sp>
      <p:sp>
        <p:nvSpPr>
          <p:cNvPr id="23" name="Text 21"/>
          <p:cNvSpPr txBox="1"/>
          <p:nvPr/>
        </p:nvSpPr>
        <p:spPr>
          <a:xfrm>
            <a:off x="3505200"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24" name="Text 22"/>
          <p:cNvSpPr txBox="1"/>
          <p:nvPr/>
        </p:nvSpPr>
        <p:spPr>
          <a:xfrm>
            <a:off x="3505200"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Sized at build [CONFIRM]</a:t>
            </a:r>
            <a:endParaRPr lang="en-US" sz="800" dirty="0"/>
          </a:p>
        </p:txBody>
      </p:sp>
      <p:sp>
        <p:nvSpPr>
          <p:cNvPr id="25" name="Shape 23"/>
          <p:cNvSpPr/>
          <p:nvPr/>
        </p:nvSpPr>
        <p:spPr>
          <a:xfrm>
            <a:off x="6041136" y="1188720"/>
            <a:ext cx="2645664" cy="3246120"/>
          </a:xfrm>
          <a:prstGeom prst="rect">
            <a:avLst/>
          </a:prstGeom>
          <a:solidFill>
            <a:srgbClr val="262626"/>
          </a:solidFill>
          <a:ln w="12700">
            <a:solidFill>
              <a:srgbClr val="262626"/>
            </a:solidFill>
            <a:prstDash val="solid"/>
          </a:ln>
        </p:spPr>
      </p:sp>
      <p:sp>
        <p:nvSpPr>
          <p:cNvPr id="26" name="Text 24"/>
          <p:cNvSpPr txBox="1"/>
          <p:nvPr/>
        </p:nvSpPr>
        <p:spPr>
          <a:xfrm>
            <a:off x="6205728"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PROVE</a:t>
            </a:r>
            <a:endParaRPr lang="en-US" sz="750" dirty="0"/>
          </a:p>
        </p:txBody>
      </p:sp>
      <p:sp>
        <p:nvSpPr>
          <p:cNvPr id="27" name="Text 25"/>
          <p:cNvSpPr txBox="1"/>
          <p:nvPr/>
        </p:nvSpPr>
        <p:spPr>
          <a:xfrm>
            <a:off x="6205728"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EARLY HOLIDAY SHOPPER</a:t>
            </a:r>
            <a:endParaRPr lang="en-US" sz="1200" dirty="0"/>
          </a:p>
        </p:txBody>
      </p:sp>
      <p:sp>
        <p:nvSpPr>
          <p:cNvPr id="28" name="Text 26"/>
          <p:cNvSpPr txBox="1"/>
          <p:nvPr/>
        </p:nvSpPr>
        <p:spPr>
          <a:xfrm>
            <a:off x="6205728"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Shops big-box retail apps weekly and compares deals before Thanksgiving.</a:t>
            </a:r>
            <a:endParaRPr lang="en-US" sz="850" dirty="0"/>
          </a:p>
        </p:txBody>
      </p:sp>
      <p:sp>
        <p:nvSpPr>
          <p:cNvPr id="29" name="Text 27"/>
          <p:cNvSpPr txBox="1"/>
          <p:nvPr/>
        </p:nvSpPr>
        <p:spPr>
          <a:xfrm>
            <a:off x="6205728"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30" name="Text 28"/>
          <p:cNvSpPr txBox="1"/>
          <p:nvPr/>
        </p:nvSpPr>
        <p:spPr>
          <a:xfrm>
            <a:off x="6205728"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Target · Walmart · Amazon Shopping · Best Buy · Honey</a:t>
            </a:r>
            <a:endParaRPr lang="en-US" sz="850" dirty="0"/>
          </a:p>
        </p:txBody>
      </p:sp>
      <p:sp>
        <p:nvSpPr>
          <p:cNvPr id="31" name="Text 29"/>
          <p:cNvSpPr txBox="1"/>
          <p:nvPr/>
        </p:nvSpPr>
        <p:spPr>
          <a:xfrm>
            <a:off x="6205728"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Choose PayPal at checkout for rewards and pay later</a:t>
            </a:r>
            <a:endParaRPr lang="en-US" sz="850" dirty="0"/>
          </a:p>
        </p:txBody>
      </p:sp>
      <p:sp>
        <p:nvSpPr>
          <p:cNvPr id="32" name="Shape 30"/>
          <p:cNvSpPr/>
          <p:nvPr/>
        </p:nvSpPr>
        <p:spPr>
          <a:xfrm>
            <a:off x="6205728" y="3767328"/>
            <a:ext cx="2316480" cy="512064"/>
          </a:xfrm>
          <a:prstGeom prst="rect">
            <a:avLst/>
          </a:prstGeom>
          <a:solidFill>
            <a:srgbClr val="2F2F2F"/>
          </a:solidFill>
          <a:ln w="12700">
            <a:solidFill>
              <a:srgbClr val="2F2F2F"/>
            </a:solidFill>
            <a:prstDash val="solid"/>
          </a:ln>
        </p:spPr>
      </p:sp>
      <p:sp>
        <p:nvSpPr>
          <p:cNvPr id="33" name="Text 31"/>
          <p:cNvSpPr txBox="1"/>
          <p:nvPr/>
        </p:nvSpPr>
        <p:spPr>
          <a:xfrm>
            <a:off x="6297168"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34" name="Text 32"/>
          <p:cNvSpPr txBox="1"/>
          <p:nvPr/>
        </p:nvSpPr>
        <p:spPr>
          <a:xfrm>
            <a:off x="6297168"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Sized at build [CONFIRM]</a:t>
            </a:r>
            <a:endParaRPr lang="en-US" sz="80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HOW IT RUNS, AND HOW ZENITH BUYS IT</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ONE AUDIENCE ACROSS CTV, MOBILE AND CREATOR TV · PLUGS INTO PUBLICIS COREAI AND EPSILON</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Publicis route: App Science® segments onboarded to the Epsilon identity spine or packaged as a curated deal ID for the trading desk [CONFIRM with Zenith investment].</a:t>
            </a:r>
            <a:endParaRPr lang="en-US" sz="650" dirty="0"/>
          </a:p>
        </p:txBody>
      </p:sp>
      <p:sp>
        <p:nvSpPr>
          <p:cNvPr id="5" name="Shape 3"/>
          <p:cNvSpPr/>
          <p:nvPr/>
        </p:nvSpPr>
        <p:spPr>
          <a:xfrm>
            <a:off x="457200" y="1188720"/>
            <a:ext cx="2377440" cy="1536192"/>
          </a:xfrm>
          <a:prstGeom prst="rect">
            <a:avLst/>
          </a:prstGeom>
          <a:solidFill>
            <a:srgbClr val="262626"/>
          </a:solidFill>
          <a:ln w="12700">
            <a:solidFill>
              <a:srgbClr val="262626"/>
            </a:solidFill>
            <a:prstDash val="solid"/>
          </a:ln>
        </p:spPr>
      </p:sp>
      <p:sp>
        <p:nvSpPr>
          <p:cNvPr id="6" name="Text 4"/>
          <p:cNvSpPr txBox="1"/>
          <p:nvPr/>
        </p:nvSpPr>
        <p:spPr>
          <a:xfrm>
            <a:off x="621792"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CTV · 60%</a:t>
            </a:r>
            <a:endParaRPr lang="en-US" sz="1100" dirty="0"/>
          </a:p>
        </p:txBody>
      </p:sp>
      <p:sp>
        <p:nvSpPr>
          <p:cNvPr id="7" name="Text 5"/>
          <p:cNvSpPr txBox="1"/>
          <p:nvPr/>
        </p:nvSpPr>
        <p:spPr>
          <a:xfrm>
            <a:off x="621792"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$180K. Holiday spots for checkout rewards, Pay Later and the Venmo card, with a QR to download or sign up.</a:t>
            </a:r>
            <a:endParaRPr lang="en-US" sz="850" dirty="0"/>
          </a:p>
        </p:txBody>
      </p:sp>
      <p:sp>
        <p:nvSpPr>
          <p:cNvPr id="8" name="Shape 6"/>
          <p:cNvSpPr/>
          <p:nvPr/>
        </p:nvSpPr>
        <p:spPr>
          <a:xfrm>
            <a:off x="2962656" y="1188720"/>
            <a:ext cx="2377440" cy="1536192"/>
          </a:xfrm>
          <a:prstGeom prst="rect">
            <a:avLst/>
          </a:prstGeom>
          <a:solidFill>
            <a:srgbClr val="262626"/>
          </a:solidFill>
          <a:ln w="12700">
            <a:solidFill>
              <a:srgbClr val="262626"/>
            </a:solidFill>
            <a:prstDash val="solid"/>
          </a:ln>
        </p:spPr>
      </p:sp>
      <p:sp>
        <p:nvSpPr>
          <p:cNvPr id="9" name="Text 7"/>
          <p:cNvSpPr txBox="1"/>
          <p:nvPr/>
        </p:nvSpPr>
        <p:spPr>
          <a:xfrm>
            <a:off x="3127248"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MOBILE VIDEO · 30%</a:t>
            </a:r>
            <a:endParaRPr lang="en-US" sz="1100" dirty="0"/>
          </a:p>
        </p:txBody>
      </p:sp>
      <p:sp>
        <p:nvSpPr>
          <p:cNvPr id="10" name="Text 8"/>
          <p:cNvSpPr txBox="1"/>
          <p:nvPr/>
        </p:nvSpPr>
        <p:spPr>
          <a:xfrm>
            <a:off x="3127248"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$90K. The same CTV-exposed homes on their phones, pointing to the app and the card offer.</a:t>
            </a:r>
            <a:endParaRPr lang="en-US" sz="850" dirty="0"/>
          </a:p>
        </p:txBody>
      </p:sp>
      <p:sp>
        <p:nvSpPr>
          <p:cNvPr id="11" name="Shape 9"/>
          <p:cNvSpPr/>
          <p:nvPr/>
        </p:nvSpPr>
        <p:spPr>
          <a:xfrm>
            <a:off x="457200" y="2834640"/>
            <a:ext cx="2377440" cy="1536192"/>
          </a:xfrm>
          <a:prstGeom prst="rect">
            <a:avLst/>
          </a:prstGeom>
          <a:solidFill>
            <a:srgbClr val="262626"/>
          </a:solidFill>
          <a:ln w="12700">
            <a:solidFill>
              <a:srgbClr val="262626"/>
            </a:solidFill>
            <a:prstDash val="solid"/>
          </a:ln>
        </p:spPr>
      </p:sp>
      <p:sp>
        <p:nvSpPr>
          <p:cNvPr id="12" name="Text 10"/>
          <p:cNvSpPr txBox="1"/>
          <p:nvPr/>
        </p:nvSpPr>
        <p:spPr>
          <a:xfrm>
            <a:off x="621792"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CREATOR TV® · 10%</a:t>
            </a:r>
            <a:endParaRPr lang="en-US" sz="1100" dirty="0"/>
          </a:p>
        </p:txBody>
      </p:sp>
      <p:sp>
        <p:nvSpPr>
          <p:cNvPr id="13" name="Text 11"/>
          <p:cNvSpPr txBox="1"/>
          <p:nvPr/>
        </p:nvSpPr>
        <p:spPr>
          <a:xfrm>
            <a:off x="621792"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$30K. Creator-led gift and group trip segments inside comedy and lifestyle shows on Sabio's own channel.</a:t>
            </a:r>
            <a:endParaRPr lang="en-US" sz="850" dirty="0"/>
          </a:p>
        </p:txBody>
      </p:sp>
      <p:sp>
        <p:nvSpPr>
          <p:cNvPr id="14" name="Shape 12"/>
          <p:cNvSpPr/>
          <p:nvPr/>
        </p:nvSpPr>
        <p:spPr>
          <a:xfrm>
            <a:off x="2962656" y="2834640"/>
            <a:ext cx="2377440" cy="1536192"/>
          </a:xfrm>
          <a:prstGeom prst="rect">
            <a:avLst/>
          </a:prstGeom>
          <a:solidFill>
            <a:srgbClr val="262626"/>
          </a:solidFill>
          <a:ln w="12700">
            <a:solidFill>
              <a:srgbClr val="262626"/>
            </a:solidFill>
            <a:prstDash val="solid"/>
          </a:ln>
        </p:spPr>
      </p:sp>
      <p:sp>
        <p:nvSpPr>
          <p:cNvPr id="15" name="Text 13"/>
          <p:cNvSpPr txBox="1"/>
          <p:nvPr/>
        </p:nvSpPr>
        <p:spPr>
          <a:xfrm>
            <a:off x="3127248"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WAYS TO BUY</a:t>
            </a:r>
            <a:endParaRPr lang="en-US" sz="1100" dirty="0"/>
          </a:p>
        </p:txBody>
      </p:sp>
      <p:sp>
        <p:nvSpPr>
          <p:cNvPr id="16" name="Text 14"/>
          <p:cNvSpPr txBox="1"/>
          <p:nvPr/>
        </p:nvSpPr>
        <p:spPr>
          <a:xfrm>
            <a:off x="3127248"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Direct IO managed by Sabio, or a curated PMP deal ID on Zenith's DSP. One rate covers data and media.</a:t>
            </a:r>
            <a:endParaRPr lang="en-US" sz="850" dirty="0"/>
          </a:p>
        </p:txBody>
      </p:sp>
      <p:sp>
        <p:nvSpPr>
          <p:cNvPr id="17" name="Shape 15"/>
          <p:cNvSpPr/>
          <p:nvPr/>
        </p:nvSpPr>
        <p:spPr>
          <a:xfrm>
            <a:off x="5486400" y="1188720"/>
            <a:ext cx="3200400" cy="3182112"/>
          </a:xfrm>
          <a:prstGeom prst="rect">
            <a:avLst/>
          </a:prstGeom>
          <a:solidFill>
            <a:srgbClr val="FFC63E"/>
          </a:solidFill>
          <a:ln w="12700">
            <a:solidFill>
              <a:srgbClr val="FFC63E"/>
            </a:solidFill>
            <a:prstDash val="solid"/>
          </a:ln>
        </p:spPr>
      </p:sp>
      <p:sp>
        <p:nvSpPr>
          <p:cNvPr id="18" name="Text 16"/>
          <p:cNvSpPr txBox="1"/>
          <p:nvPr/>
        </p:nvSpPr>
        <p:spPr>
          <a:xfrm>
            <a:off x="5687568" y="1371600"/>
            <a:ext cx="2798064" cy="274320"/>
          </a:xfrm>
          <a:prstGeom prst="rect">
            <a:avLst/>
          </a:prstGeom>
          <a:noFill/>
          <a:ln/>
        </p:spPr>
        <p:txBody>
          <a:bodyPr wrap="square" lIns="0" tIns="0" rIns="0" bIns="0" rtlCol="0" anchor="t"/>
          <a:lstStyle/>
          <a:p>
            <a:pPr indent="0" marL="0">
              <a:buNone/>
            </a:pPr>
            <a:r>
              <a:rPr lang="en-US" sz="1200" dirty="0">
                <a:solidFill>
                  <a:srgbClr val="1A1A1A"/>
                </a:solidFill>
                <a:latin typeface="Poppins ExtraBold" pitchFamily="34" charset="0"/>
                <a:ea typeface="Poppins ExtraBold" pitchFamily="34" charset="-122"/>
                <a:cs typeface="Poppins ExtraBold" pitchFamily="34" charset="-120"/>
              </a:rPr>
              <a:t>WHAT ZENITH GETS</a:t>
            </a:r>
            <a:endParaRPr lang="en-US" sz="1200" dirty="0"/>
          </a:p>
        </p:txBody>
      </p:sp>
      <p:sp>
        <p:nvSpPr>
          <p:cNvPr id="19" name="Text 17"/>
          <p:cNvSpPr txBox="1"/>
          <p:nvPr/>
        </p:nvSpPr>
        <p:spPr>
          <a:xfrm>
            <a:off x="5687568" y="1755648"/>
            <a:ext cx="2798064" cy="2468880"/>
          </a:xfrm>
          <a:prstGeom prst="rect">
            <a:avLst/>
          </a:prstGeom>
          <a:noFill/>
          <a:ln/>
        </p:spPr>
        <p:txBody>
          <a:bodyPr wrap="square" lIns="0" tIns="0" rIns="0" bIns="0" rtlCol="0" anchor="t"/>
          <a:lstStyle/>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A net-new app signal for CoreAI audiences</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Competitive wallet audiences Epsilon can't see</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DoubleVerify on every impression</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70% viewability guarantee</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Lift read on the same graph we target</a:t>
            </a:r>
            <a:endParaRPr lang="en-US" sz="9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THE TEST PLAN AND PARTNER CHECKS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$300K OVER EIGHT WEEKS · EVERYTHING ZENITH INVESTMENT ASKS BEFORE A BUY</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Rate from the Sabio rate card (Prime, standard video); CTV rate and added value tier to be confirmed before send.</a:t>
            </a:r>
            <a:endParaRPr lang="en-US" sz="650" dirty="0"/>
          </a:p>
        </p:txBody>
      </p:sp>
      <p:sp>
        <p:nvSpPr>
          <p:cNvPr id="5" name="Shape 3"/>
          <p:cNvSpPr/>
          <p:nvPr/>
        </p:nvSpPr>
        <p:spPr>
          <a:xfrm>
            <a:off x="457200" y="1188720"/>
            <a:ext cx="2657856" cy="1536192"/>
          </a:xfrm>
          <a:prstGeom prst="rect">
            <a:avLst/>
          </a:prstGeom>
          <a:solidFill>
            <a:srgbClr val="262626"/>
          </a:solidFill>
          <a:ln w="12700">
            <a:solidFill>
              <a:srgbClr val="262626"/>
            </a:solidFill>
            <a:prstDash val="solid"/>
          </a:ln>
        </p:spPr>
      </p:sp>
      <p:sp>
        <p:nvSpPr>
          <p:cNvPr id="6" name="Text 4"/>
          <p:cNvSpPr txBox="1"/>
          <p:nvPr/>
        </p:nvSpPr>
        <p:spPr>
          <a:xfrm>
            <a:off x="621792"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BUDGET AND FLIGHT</a:t>
            </a:r>
            <a:endParaRPr lang="en-US" sz="850" dirty="0"/>
          </a:p>
        </p:txBody>
      </p:sp>
      <p:sp>
        <p:nvSpPr>
          <p:cNvPr id="7" name="Text 5"/>
          <p:cNvSpPr txBox="1"/>
          <p:nvPr/>
        </p:nvSpPr>
        <p:spPr>
          <a:xfrm>
            <a:off x="621792"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$300K, Nov 2 to Dec 27, 2026. Spend shifts to the best audience after week 3.</a:t>
            </a:r>
            <a:endParaRPr lang="en-US" sz="850" dirty="0"/>
          </a:p>
        </p:txBody>
      </p:sp>
      <p:sp>
        <p:nvSpPr>
          <p:cNvPr id="8" name="Shape 6"/>
          <p:cNvSpPr/>
          <p:nvPr/>
        </p:nvSpPr>
        <p:spPr>
          <a:xfrm>
            <a:off x="3243072" y="1188720"/>
            <a:ext cx="2657856" cy="1536192"/>
          </a:xfrm>
          <a:prstGeom prst="rect">
            <a:avLst/>
          </a:prstGeom>
          <a:solidFill>
            <a:srgbClr val="262626"/>
          </a:solidFill>
          <a:ln w="12700">
            <a:solidFill>
              <a:srgbClr val="262626"/>
            </a:solidFill>
            <a:prstDash val="solid"/>
          </a:ln>
        </p:spPr>
      </p:sp>
      <p:sp>
        <p:nvSpPr>
          <p:cNvPr id="9" name="Text 7"/>
          <p:cNvSpPr txBox="1"/>
          <p:nvPr/>
        </p:nvSpPr>
        <p:spPr>
          <a:xfrm>
            <a:off x="3407664"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RATE AND DELIVERY</a:t>
            </a:r>
            <a:endParaRPr lang="en-US" sz="850" dirty="0"/>
          </a:p>
        </p:txBody>
      </p:sp>
      <p:sp>
        <p:nvSpPr>
          <p:cNvPr id="10" name="Text 8"/>
          <p:cNvSpPr txBox="1"/>
          <p:nvPr/>
        </p:nvSpPr>
        <p:spPr>
          <a:xfrm>
            <a:off x="3407664"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$17.48 CPM, data and media in one rate [CONFIRM CTV rate]. About 17.2MM impressions.</a:t>
            </a:r>
            <a:endParaRPr lang="en-US" sz="850" dirty="0"/>
          </a:p>
        </p:txBody>
      </p:sp>
      <p:sp>
        <p:nvSpPr>
          <p:cNvPr id="11" name="Shape 9"/>
          <p:cNvSpPr/>
          <p:nvPr/>
        </p:nvSpPr>
        <p:spPr>
          <a:xfrm>
            <a:off x="6028944" y="1188720"/>
            <a:ext cx="2657856" cy="1536192"/>
          </a:xfrm>
          <a:prstGeom prst="rect">
            <a:avLst/>
          </a:prstGeom>
          <a:solidFill>
            <a:srgbClr val="262626"/>
          </a:solidFill>
          <a:ln w="12700">
            <a:solidFill>
              <a:srgbClr val="262626"/>
            </a:solidFill>
            <a:prstDash val="solid"/>
          </a:ln>
        </p:spPr>
      </p:sp>
      <p:sp>
        <p:nvSpPr>
          <p:cNvPr id="12" name="Text 10"/>
          <p:cNvSpPr txBox="1"/>
          <p:nvPr/>
        </p:nvSpPr>
        <p:spPr>
          <a:xfrm>
            <a:off x="6193536"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ADDED VALUE</a:t>
            </a:r>
            <a:endParaRPr lang="en-US" sz="850" dirty="0"/>
          </a:p>
        </p:txBody>
      </p:sp>
      <p:sp>
        <p:nvSpPr>
          <p:cNvPr id="13" name="Text 11"/>
          <p:cNvSpPr txBox="1"/>
          <p:nvPr/>
        </p:nvSpPr>
        <p:spPr>
          <a:xfrm>
            <a:off x="6193536"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Advanced App Science® insights at $275K+: reach and frequency, app, TV and place affinities, audience verification.</a:t>
            </a:r>
            <a:endParaRPr lang="en-US" sz="850" dirty="0"/>
          </a:p>
        </p:txBody>
      </p:sp>
      <p:sp>
        <p:nvSpPr>
          <p:cNvPr id="14" name="Shape 12"/>
          <p:cNvSpPr/>
          <p:nvPr/>
        </p:nvSpPr>
        <p:spPr>
          <a:xfrm>
            <a:off x="457200" y="2852928"/>
            <a:ext cx="2657856" cy="1536192"/>
          </a:xfrm>
          <a:prstGeom prst="rect">
            <a:avLst/>
          </a:prstGeom>
          <a:solidFill>
            <a:srgbClr val="262626"/>
          </a:solidFill>
          <a:ln w="12700">
            <a:solidFill>
              <a:srgbClr val="262626"/>
            </a:solidFill>
            <a:prstDash val="solid"/>
          </a:ln>
        </p:spPr>
      </p:sp>
      <p:sp>
        <p:nvSpPr>
          <p:cNvPr id="15" name="Text 13"/>
          <p:cNvSpPr txBox="1"/>
          <p:nvPr/>
        </p:nvSpPr>
        <p:spPr>
          <a:xfrm>
            <a:off x="621792"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MEASUREMENT</a:t>
            </a:r>
            <a:endParaRPr lang="en-US" sz="850" dirty="0"/>
          </a:p>
        </p:txBody>
      </p:sp>
      <p:sp>
        <p:nvSpPr>
          <p:cNvPr id="16" name="Text 14"/>
          <p:cNvSpPr txBox="1"/>
          <p:nvPr/>
        </p:nvSpPr>
        <p:spPr>
          <a:xfrm>
            <a:off x="621792"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Brand lift for PayPal and Venmo, exposed vs. control households, matched 1:1 on the App Science® graph.</a:t>
            </a:r>
            <a:endParaRPr lang="en-US" sz="850" dirty="0"/>
          </a:p>
        </p:txBody>
      </p:sp>
      <p:sp>
        <p:nvSpPr>
          <p:cNvPr id="17" name="Shape 15"/>
          <p:cNvSpPr/>
          <p:nvPr/>
        </p:nvSpPr>
        <p:spPr>
          <a:xfrm>
            <a:off x="3243072" y="2852928"/>
            <a:ext cx="2657856" cy="1536192"/>
          </a:xfrm>
          <a:prstGeom prst="rect">
            <a:avLst/>
          </a:prstGeom>
          <a:solidFill>
            <a:srgbClr val="262626"/>
          </a:solidFill>
          <a:ln w="12700">
            <a:solidFill>
              <a:srgbClr val="262626"/>
            </a:solidFill>
            <a:prstDash val="solid"/>
          </a:ln>
        </p:spPr>
      </p:sp>
      <p:sp>
        <p:nvSpPr>
          <p:cNvPr id="18" name="Text 16"/>
          <p:cNvSpPr txBox="1"/>
          <p:nvPr/>
        </p:nvSpPr>
        <p:spPr>
          <a:xfrm>
            <a:off x="3407664"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PRIVACY AND SAFETY</a:t>
            </a:r>
            <a:endParaRPr lang="en-US" sz="850" dirty="0"/>
          </a:p>
        </p:txBody>
      </p:sp>
      <p:sp>
        <p:nvSpPr>
          <p:cNvPr id="19" name="Text 17"/>
          <p:cNvSpPr txBox="1"/>
          <p:nvPr/>
        </p:nvSpPr>
        <p:spPr>
          <a:xfrm>
            <a:off x="3407664"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 ownership only, never balances or transactions. Aggregated reporting. DoubleVerify and a 70% viewability guarantee.</a:t>
            </a:r>
            <a:endParaRPr lang="en-US" sz="850" dirty="0"/>
          </a:p>
        </p:txBody>
      </p:sp>
      <p:sp>
        <p:nvSpPr>
          <p:cNvPr id="20" name="Shape 18"/>
          <p:cNvSpPr/>
          <p:nvPr/>
        </p:nvSpPr>
        <p:spPr>
          <a:xfrm>
            <a:off x="6028944" y="2852928"/>
            <a:ext cx="2657856" cy="1536192"/>
          </a:xfrm>
          <a:prstGeom prst="rect">
            <a:avLst/>
          </a:prstGeom>
          <a:solidFill>
            <a:srgbClr val="262626"/>
          </a:solidFill>
          <a:ln w="12700">
            <a:solidFill>
              <a:srgbClr val="262626"/>
            </a:solidFill>
            <a:prstDash val="solid"/>
          </a:ln>
        </p:spPr>
      </p:sp>
      <p:sp>
        <p:nvSpPr>
          <p:cNvPr id="21" name="Text 19"/>
          <p:cNvSpPr txBox="1"/>
          <p:nvPr/>
        </p:nvSpPr>
        <p:spPr>
          <a:xfrm>
            <a:off x="6193536"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SUPPLIER DIVERSITY</a:t>
            </a:r>
            <a:endParaRPr lang="en-US" sz="850" dirty="0"/>
          </a:p>
        </p:txBody>
      </p:sp>
      <p:sp>
        <p:nvSpPr>
          <p:cNvPr id="22" name="Text 20"/>
          <p:cNvSpPr txBox="1"/>
          <p:nvPr/>
        </p:nvSpPr>
        <p:spPr>
          <a:xfrm>
            <a:off x="6193536"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Sabio is minority-owned, so this spend counts toward PayPal and Publicis supplier diversity goals.</a:t>
            </a:r>
            <a:endParaRPr lang="en-US" sz="8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PROOF FROM FINANCE AND RETAIL</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NAMED, PUBLISHED SABIO CASE STUDIES</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Sabio 2026 Master Case Study Deck.</a:t>
            </a:r>
            <a:endParaRPr lang="en-US" sz="650" dirty="0"/>
          </a:p>
        </p:txBody>
      </p:sp>
      <p:sp>
        <p:nvSpPr>
          <p:cNvPr id="5" name="Shape 3"/>
          <p:cNvSpPr/>
          <p:nvPr/>
        </p:nvSpPr>
        <p:spPr>
          <a:xfrm>
            <a:off x="457200" y="1188720"/>
            <a:ext cx="5029200" cy="987552"/>
          </a:xfrm>
          <a:prstGeom prst="rect">
            <a:avLst/>
          </a:prstGeom>
          <a:solidFill>
            <a:srgbClr val="262626"/>
          </a:solidFill>
          <a:ln w="12700">
            <a:solidFill>
              <a:srgbClr val="262626"/>
            </a:solidFill>
            <a:prstDash val="solid"/>
          </a:ln>
        </p:spPr>
      </p:sp>
      <p:sp>
        <p:nvSpPr>
          <p:cNvPr id="6" name="Text 4"/>
          <p:cNvSpPr txBox="1"/>
          <p:nvPr/>
        </p:nvSpPr>
        <p:spPr>
          <a:xfrm>
            <a:off x="640080" y="118872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45%</a:t>
            </a:r>
            <a:endParaRPr lang="en-US" sz="2800" dirty="0"/>
          </a:p>
        </p:txBody>
      </p:sp>
      <p:sp>
        <p:nvSpPr>
          <p:cNvPr id="7" name="Text 5"/>
          <p:cNvSpPr txBox="1"/>
          <p:nvPr/>
        </p:nvSpPr>
        <p:spPr>
          <a:xfrm>
            <a:off x="2423160" y="134416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Wells Fargo brand awareness lift</a:t>
            </a:r>
            <a:endParaRPr lang="en-US" sz="1000" dirty="0"/>
          </a:p>
        </p:txBody>
      </p:sp>
      <p:sp>
        <p:nvSpPr>
          <p:cNvPr id="8" name="Text 6"/>
          <p:cNvSpPr txBox="1"/>
          <p:nvPr/>
        </p:nvSpPr>
        <p:spPr>
          <a:xfrm>
            <a:off x="2423160" y="164592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Small business conquest with its own app suppressed, and 15,000+ QR scans from CTV.</a:t>
            </a:r>
            <a:endParaRPr lang="en-US" sz="800" dirty="0"/>
          </a:p>
        </p:txBody>
      </p:sp>
      <p:sp>
        <p:nvSpPr>
          <p:cNvPr id="9" name="Shape 7"/>
          <p:cNvSpPr/>
          <p:nvPr/>
        </p:nvSpPr>
        <p:spPr>
          <a:xfrm>
            <a:off x="457200" y="2286000"/>
            <a:ext cx="5029200" cy="987552"/>
          </a:xfrm>
          <a:prstGeom prst="rect">
            <a:avLst/>
          </a:prstGeom>
          <a:solidFill>
            <a:srgbClr val="262626"/>
          </a:solidFill>
          <a:ln w="12700">
            <a:solidFill>
              <a:srgbClr val="262626"/>
            </a:solidFill>
            <a:prstDash val="solid"/>
          </a:ln>
        </p:spPr>
      </p:sp>
      <p:sp>
        <p:nvSpPr>
          <p:cNvPr id="10" name="Text 8"/>
          <p:cNvSpPr txBox="1"/>
          <p:nvPr/>
        </p:nvSpPr>
        <p:spPr>
          <a:xfrm>
            <a:off x="640080" y="228600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107%</a:t>
            </a:r>
            <a:endParaRPr lang="en-US" sz="2800" dirty="0"/>
          </a:p>
        </p:txBody>
      </p:sp>
      <p:sp>
        <p:nvSpPr>
          <p:cNvPr id="11" name="Text 9"/>
          <p:cNvSpPr txBox="1"/>
          <p:nvPr/>
        </p:nvSpPr>
        <p:spPr>
          <a:xfrm>
            <a:off x="2423160" y="244144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Above mobile VCR benchmark</a:t>
            </a:r>
            <a:endParaRPr lang="en-US" sz="1000" dirty="0"/>
          </a:p>
        </p:txBody>
      </p:sp>
      <p:sp>
        <p:nvSpPr>
          <p:cNvPr id="12" name="Text 10"/>
          <p:cNvSpPr txBox="1"/>
          <p:nvPr/>
        </p:nvSpPr>
        <p:spPr>
          <a:xfrm>
            <a:off x="2423160" y="274320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A national bank (anonymized), also 172% above the CTR benchmark.</a:t>
            </a:r>
            <a:endParaRPr lang="en-US" sz="800" dirty="0"/>
          </a:p>
        </p:txBody>
      </p:sp>
      <p:sp>
        <p:nvSpPr>
          <p:cNvPr id="13" name="Shape 11"/>
          <p:cNvSpPr/>
          <p:nvPr/>
        </p:nvSpPr>
        <p:spPr>
          <a:xfrm>
            <a:off x="457200" y="3383280"/>
            <a:ext cx="5029200" cy="987552"/>
          </a:xfrm>
          <a:prstGeom prst="rect">
            <a:avLst/>
          </a:prstGeom>
          <a:solidFill>
            <a:srgbClr val="262626"/>
          </a:solidFill>
          <a:ln w="12700">
            <a:solidFill>
              <a:srgbClr val="262626"/>
            </a:solidFill>
            <a:prstDash val="solid"/>
          </a:ln>
        </p:spPr>
      </p:sp>
      <p:sp>
        <p:nvSpPr>
          <p:cNvPr id="14" name="Text 12"/>
          <p:cNvSpPr txBox="1"/>
          <p:nvPr/>
        </p:nvSpPr>
        <p:spPr>
          <a:xfrm>
            <a:off x="640080" y="338328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181%</a:t>
            </a:r>
            <a:endParaRPr lang="en-US" sz="2800" dirty="0"/>
          </a:p>
        </p:txBody>
      </p:sp>
      <p:sp>
        <p:nvSpPr>
          <p:cNvPr id="15" name="Text 13"/>
          <p:cNvSpPr txBox="1"/>
          <p:nvPr/>
        </p:nvSpPr>
        <p:spPr>
          <a:xfrm>
            <a:off x="2423160" y="353872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Conair ROI in three weeks</a:t>
            </a:r>
            <a:endParaRPr lang="en-US" sz="1000" dirty="0"/>
          </a:p>
        </p:txBody>
      </p:sp>
      <p:sp>
        <p:nvSpPr>
          <p:cNvPr id="16" name="Text 14"/>
          <p:cNvSpPr txBox="1"/>
          <p:nvPr/>
        </p:nvSpPr>
        <p:spPr>
          <a:xfrm>
            <a:off x="2423160" y="384048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Shoppable CTV, OTT and mobile, with $522K in transfer value.</a:t>
            </a:r>
            <a:endParaRPr lang="en-US" sz="800" dirty="0"/>
          </a:p>
        </p:txBody>
      </p:sp>
      <p:sp>
        <p:nvSpPr>
          <p:cNvPr id="17" name="Shape 15"/>
          <p:cNvSpPr/>
          <p:nvPr/>
        </p:nvSpPr>
        <p:spPr>
          <a:xfrm>
            <a:off x="5669280" y="1188720"/>
            <a:ext cx="3017520" cy="3182112"/>
          </a:xfrm>
          <a:prstGeom prst="rect">
            <a:avLst/>
          </a:prstGeom>
          <a:solidFill>
            <a:srgbClr val="2F2F2F"/>
          </a:solidFill>
          <a:ln w="12700">
            <a:solidFill>
              <a:srgbClr val="2F2F2F"/>
            </a:solidFill>
            <a:prstDash val="solid"/>
          </a:ln>
        </p:spPr>
      </p:sp>
      <p:sp>
        <p:nvSpPr>
          <p:cNvPr id="18" name="Text 16"/>
          <p:cNvSpPr txBox="1"/>
          <p:nvPr/>
        </p:nvSpPr>
        <p:spPr>
          <a:xfrm>
            <a:off x="5870448" y="1371600"/>
            <a:ext cx="2615184" cy="274320"/>
          </a:xfrm>
          <a:prstGeom prst="rect">
            <a:avLst/>
          </a:prstGeom>
          <a:noFill/>
          <a:ln/>
        </p:spPr>
        <p:txBody>
          <a:bodyPr wrap="square" lIns="0" tIns="0" rIns="0" bIns="0" rtlCol="0" anchor="t"/>
          <a:lstStyle/>
          <a:p>
            <a:pPr indent="0" marL="0">
              <a:buNone/>
            </a:pPr>
            <a:r>
              <a:rPr lang="en-US" sz="1200" dirty="0">
                <a:solidFill>
                  <a:srgbClr val="FFC63E"/>
                </a:solidFill>
                <a:latin typeface="Poppins ExtraBold" pitchFamily="34" charset="0"/>
                <a:ea typeface="Poppins ExtraBold" pitchFamily="34" charset="-122"/>
                <a:cs typeface="Poppins ExtraBold" pitchFamily="34" charset="-120"/>
              </a:rPr>
              <a:t>WHY NOW</a:t>
            </a:r>
            <a:endParaRPr lang="en-US" sz="1200" dirty="0"/>
          </a:p>
        </p:txBody>
      </p:sp>
      <p:sp>
        <p:nvSpPr>
          <p:cNvPr id="19" name="Text 17"/>
          <p:cNvSpPr txBox="1"/>
          <p:nvPr/>
        </p:nvSpPr>
        <p:spPr>
          <a:xfrm>
            <a:off x="5870448" y="1755648"/>
            <a:ext cx="2615184" cy="2514600"/>
          </a:xfrm>
          <a:prstGeom prst="rect">
            <a:avLst/>
          </a:prstGeom>
          <a:noFill/>
          <a:ln/>
        </p:spPr>
        <p:txBody>
          <a:bodyPr wrap="square" lIns="0" tIns="0" rIns="0" bIns="0" rtlCol="0" anchor="t"/>
          <a:lstStyle/>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PayPal has said it will put savings back into marketing, and holiday is the biggest checkout moment of the year.</a:t>
            </a:r>
            <a:endParaRPr lang="en-US" sz="950" dirty="0"/>
          </a:p>
          <a:p>
            <a:pPr indent="0" marL="0">
              <a:spcAft>
                <a:spcPts val="600"/>
              </a:spcAft>
              <a:buNone/>
            </a:pPr>
            <a:endParaRPr lang="en-US" sz="950" dirty="0"/>
          </a:p>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We think the fastest win is the homes already paying with something else.</a:t>
            </a:r>
            <a:endParaRPr lang="en-US" sz="950" dirty="0"/>
          </a:p>
          <a:p>
            <a:pPr indent="0" marL="0">
              <a:spcAft>
                <a:spcPts val="600"/>
              </a:spcAft>
              <a:buNone/>
            </a:pPr>
            <a:endParaRPr lang="en-US" sz="950" dirty="0"/>
          </a:p>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That said, the Venmo card offer is brand new, so we'd want to confirm which product leads before we size anything.</a:t>
            </a:r>
            <a:endParaRPr lang="en-US" sz="9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WHERE WE GO NEXT</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THREE MOVES TO BE LIVE BY NOV 2</a:t>
            </a:r>
            <a:endParaRPr lang="en-US" sz="850" dirty="0"/>
          </a:p>
        </p:txBody>
      </p:sp>
      <p:sp>
        <p:nvSpPr>
          <p:cNvPr id="4" name="Shape 2"/>
          <p:cNvSpPr/>
          <p:nvPr/>
        </p:nvSpPr>
        <p:spPr>
          <a:xfrm>
            <a:off x="457200" y="1188720"/>
            <a:ext cx="2645664" cy="2743200"/>
          </a:xfrm>
          <a:prstGeom prst="rect">
            <a:avLst/>
          </a:prstGeom>
          <a:solidFill>
            <a:srgbClr val="262626"/>
          </a:solidFill>
          <a:ln w="12700">
            <a:solidFill>
              <a:srgbClr val="262626"/>
            </a:solidFill>
            <a:prstDash val="solid"/>
          </a:ln>
        </p:spPr>
      </p:sp>
      <p:sp>
        <p:nvSpPr>
          <p:cNvPr id="5" name="Text 3"/>
          <p:cNvSpPr txBox="1"/>
          <p:nvPr/>
        </p:nvSpPr>
        <p:spPr>
          <a:xfrm>
            <a:off x="621792"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1</a:t>
            </a:r>
            <a:endParaRPr lang="en-US" sz="3000" dirty="0"/>
          </a:p>
        </p:txBody>
      </p:sp>
      <p:sp>
        <p:nvSpPr>
          <p:cNvPr id="6" name="Text 4"/>
          <p:cNvSpPr txBox="1"/>
          <p:nvPr/>
        </p:nvSpPr>
        <p:spPr>
          <a:xfrm>
            <a:off x="621792"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PICK THE PRODUCT</a:t>
            </a:r>
            <a:endParaRPr lang="en-US" sz="1150" dirty="0"/>
          </a:p>
        </p:txBody>
      </p:sp>
      <p:sp>
        <p:nvSpPr>
          <p:cNvPr id="7" name="Text 5"/>
          <p:cNvSpPr txBox="1"/>
          <p:nvPr/>
        </p:nvSpPr>
        <p:spPr>
          <a:xfrm>
            <a:off x="621792"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Zenith confirms which leads: checkout rewards, Pay Later, or the Venmo Credit Card.</a:t>
            </a:r>
            <a:endParaRPr lang="en-US" sz="850" dirty="0"/>
          </a:p>
        </p:txBody>
      </p:sp>
      <p:sp>
        <p:nvSpPr>
          <p:cNvPr id="8" name="Shape 6"/>
          <p:cNvSpPr/>
          <p:nvPr/>
        </p:nvSpPr>
        <p:spPr>
          <a:xfrm>
            <a:off x="621792" y="3429000"/>
            <a:ext cx="2316480" cy="384048"/>
          </a:xfrm>
          <a:prstGeom prst="rect">
            <a:avLst/>
          </a:prstGeom>
          <a:solidFill>
            <a:srgbClr val="2F2F2F"/>
          </a:solidFill>
          <a:ln w="12700">
            <a:solidFill>
              <a:srgbClr val="2F2F2F"/>
            </a:solidFill>
            <a:prstDash val="solid"/>
          </a:ln>
        </p:spPr>
      </p:sp>
      <p:sp>
        <p:nvSpPr>
          <p:cNvPr id="9" name="Text 7"/>
          <p:cNvSpPr txBox="1"/>
          <p:nvPr/>
        </p:nvSpPr>
        <p:spPr>
          <a:xfrm>
            <a:off x="713232"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Zenith · by Oct 23</a:t>
            </a:r>
            <a:endParaRPr lang="en-US" sz="750" dirty="0"/>
          </a:p>
        </p:txBody>
      </p:sp>
      <p:sp>
        <p:nvSpPr>
          <p:cNvPr id="10" name="Shape 8"/>
          <p:cNvSpPr/>
          <p:nvPr/>
        </p:nvSpPr>
        <p:spPr>
          <a:xfrm>
            <a:off x="3249168" y="1188720"/>
            <a:ext cx="2645664" cy="2743200"/>
          </a:xfrm>
          <a:prstGeom prst="rect">
            <a:avLst/>
          </a:prstGeom>
          <a:solidFill>
            <a:srgbClr val="262626"/>
          </a:solidFill>
          <a:ln w="12700">
            <a:solidFill>
              <a:srgbClr val="262626"/>
            </a:solidFill>
            <a:prstDash val="solid"/>
          </a:ln>
        </p:spPr>
      </p:sp>
      <p:sp>
        <p:nvSpPr>
          <p:cNvPr id="11" name="Text 9"/>
          <p:cNvSpPr txBox="1"/>
          <p:nvPr/>
        </p:nvSpPr>
        <p:spPr>
          <a:xfrm>
            <a:off x="3413760"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2</a:t>
            </a:r>
            <a:endParaRPr lang="en-US" sz="3000" dirty="0"/>
          </a:p>
        </p:txBody>
      </p:sp>
      <p:sp>
        <p:nvSpPr>
          <p:cNvPr id="12" name="Text 10"/>
          <p:cNvSpPr txBox="1"/>
          <p:nvPr/>
        </p:nvSpPr>
        <p:spPr>
          <a:xfrm>
            <a:off x="3413760"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SIZE THE AUDIENCES</a:t>
            </a:r>
            <a:endParaRPr lang="en-US" sz="1150" dirty="0"/>
          </a:p>
        </p:txBody>
      </p:sp>
      <p:sp>
        <p:nvSpPr>
          <p:cNvPr id="13" name="Text 11"/>
          <p:cNvSpPr txBox="1"/>
          <p:nvPr/>
        </p:nvSpPr>
        <p:spPr>
          <a:xfrm>
            <a:off x="3413760"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Sabio sizes the three audiences and returns reach and the app list behind each one.</a:t>
            </a:r>
            <a:endParaRPr lang="en-US" sz="850" dirty="0"/>
          </a:p>
        </p:txBody>
      </p:sp>
      <p:sp>
        <p:nvSpPr>
          <p:cNvPr id="14" name="Shape 12"/>
          <p:cNvSpPr/>
          <p:nvPr/>
        </p:nvSpPr>
        <p:spPr>
          <a:xfrm>
            <a:off x="3413760" y="3429000"/>
            <a:ext cx="2316480" cy="384048"/>
          </a:xfrm>
          <a:prstGeom prst="rect">
            <a:avLst/>
          </a:prstGeom>
          <a:solidFill>
            <a:srgbClr val="2F2F2F"/>
          </a:solidFill>
          <a:ln w="12700">
            <a:solidFill>
              <a:srgbClr val="2F2F2F"/>
            </a:solidFill>
            <a:prstDash val="solid"/>
          </a:ln>
        </p:spPr>
      </p:sp>
      <p:sp>
        <p:nvSpPr>
          <p:cNvPr id="15" name="Text 13"/>
          <p:cNvSpPr txBox="1"/>
          <p:nvPr/>
        </p:nvSpPr>
        <p:spPr>
          <a:xfrm>
            <a:off x="3505200"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Sabio · 48 hours after the brief</a:t>
            </a:r>
            <a:endParaRPr lang="en-US" sz="750" dirty="0"/>
          </a:p>
        </p:txBody>
      </p:sp>
      <p:sp>
        <p:nvSpPr>
          <p:cNvPr id="16" name="Shape 14"/>
          <p:cNvSpPr/>
          <p:nvPr/>
        </p:nvSpPr>
        <p:spPr>
          <a:xfrm>
            <a:off x="6041136" y="1188720"/>
            <a:ext cx="2645664" cy="2743200"/>
          </a:xfrm>
          <a:prstGeom prst="rect">
            <a:avLst/>
          </a:prstGeom>
          <a:solidFill>
            <a:srgbClr val="262626"/>
          </a:solidFill>
          <a:ln w="12700">
            <a:solidFill>
              <a:srgbClr val="262626"/>
            </a:solidFill>
            <a:prstDash val="solid"/>
          </a:ln>
        </p:spPr>
      </p:sp>
      <p:sp>
        <p:nvSpPr>
          <p:cNvPr id="17" name="Text 15"/>
          <p:cNvSpPr txBox="1"/>
          <p:nvPr/>
        </p:nvSpPr>
        <p:spPr>
          <a:xfrm>
            <a:off x="6205728"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3</a:t>
            </a:r>
            <a:endParaRPr lang="en-US" sz="3000" dirty="0"/>
          </a:p>
        </p:txBody>
      </p:sp>
      <p:sp>
        <p:nvSpPr>
          <p:cNvPr id="18" name="Text 16"/>
          <p:cNvSpPr txBox="1"/>
          <p:nvPr/>
        </p:nvSpPr>
        <p:spPr>
          <a:xfrm>
            <a:off x="6205728"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CHOOSE THE ROUTE</a:t>
            </a:r>
            <a:endParaRPr lang="en-US" sz="1150" dirty="0"/>
          </a:p>
        </p:txBody>
      </p:sp>
      <p:sp>
        <p:nvSpPr>
          <p:cNvPr id="19" name="Text 17"/>
          <p:cNvSpPr txBox="1"/>
          <p:nvPr/>
        </p:nvSpPr>
        <p:spPr>
          <a:xfrm>
            <a:off x="6205728"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Direct IO, or a deal ID matched into CoreAI and Epsilon. Creative and QR specs locked.</a:t>
            </a:r>
            <a:endParaRPr lang="en-US" sz="850" dirty="0"/>
          </a:p>
        </p:txBody>
      </p:sp>
      <p:sp>
        <p:nvSpPr>
          <p:cNvPr id="20" name="Shape 18"/>
          <p:cNvSpPr/>
          <p:nvPr/>
        </p:nvSpPr>
        <p:spPr>
          <a:xfrm>
            <a:off x="6205728" y="3429000"/>
            <a:ext cx="2316480" cy="384048"/>
          </a:xfrm>
          <a:prstGeom prst="rect">
            <a:avLst/>
          </a:prstGeom>
          <a:solidFill>
            <a:srgbClr val="2F2F2F"/>
          </a:solidFill>
          <a:ln w="12700">
            <a:solidFill>
              <a:srgbClr val="2F2F2F"/>
            </a:solidFill>
            <a:prstDash val="solid"/>
          </a:ln>
        </p:spPr>
      </p:sp>
      <p:sp>
        <p:nvSpPr>
          <p:cNvPr id="21" name="Text 19"/>
          <p:cNvSpPr txBox="1"/>
          <p:nvPr/>
        </p:nvSpPr>
        <p:spPr>
          <a:xfrm>
            <a:off x="6297168"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Zenith investment · by Oct 30</a:t>
            </a:r>
            <a:endParaRPr lang="en-US" sz="750" dirty="0"/>
          </a:p>
        </p:txBody>
      </p:sp>
      <p:sp>
        <p:nvSpPr>
          <p:cNvPr id="22" name="Text 20"/>
          <p:cNvSpPr txBox="1"/>
          <p:nvPr/>
        </p:nvSpPr>
        <p:spPr>
          <a:xfrm>
            <a:off x="457200" y="4096512"/>
            <a:ext cx="8229600" cy="292608"/>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Happy to walk the team through it this week. Please LMK what else would help.</a:t>
            </a:r>
            <a:endParaRPr lang="en-US" sz="9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SOURCES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MARKET CLAIMS IN THIS DECK, AS REPORTED · RETRIEVED OCT 16, 2026</a:t>
            </a:r>
            <a:endParaRPr lang="en-US" sz="850" dirty="0"/>
          </a:p>
        </p:txBody>
      </p:sp>
      <p:sp>
        <p:nvSpPr>
          <p:cNvPr id="4" name="Text 2"/>
          <p:cNvSpPr txBox="1"/>
          <p:nvPr/>
        </p:nvSpPr>
        <p:spPr>
          <a:xfrm>
            <a:off x="45720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1.  PayPal Q2 2026 earnings call highlights, MarketBeat, Jul 28, 2026.</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2.  PayPal 2026 Holiday Shopping Survey, Sep 30, 2026.</a:t>
            </a:r>
            <a:endParaRPr lang="en-US" sz="850" dirty="0"/>
          </a:p>
        </p:txBody>
      </p:sp>
      <p:sp>
        <p:nvSpPr>
          <p:cNvPr id="5" name="Text 3"/>
          <p:cNvSpPr txBox="1"/>
          <p:nvPr/>
        </p:nvSpPr>
        <p:spPr>
          <a:xfrm>
            <a:off x="466344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3.  PayPal Newsroom, The Venmo Credit Card Now Pays Up to 4% Cash Back When You Split with Friends, Oct 5, 2026.</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4.  Sabio 2026 Master Case Study Deck.</a:t>
            </a:r>
            <a:endParaRPr lang="en-US" sz="850" dirty="0"/>
          </a:p>
        </p:txBody>
      </p:sp>
      <p:sp>
        <p:nvSpPr>
          <p:cNvPr id="25" name="Slide Number Placeholder 0"/>
          <p:cNvSpPr>
            <a:spLocks noGrp="1"/>
          </p:cNvSpPr>
          <p:nvPr>
            <p:ph type="sldNum" sz="quarter" idx="4294967295"/>
          </p:nvPr>
        </p:nvSpPr>
        <p:spPr>
          <a:xfrm>
            <a:off x="457200" y="4832604"/>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E7E7E"/>
                </a:solidFill>
                <a:latin typeface="Poppins SemiBold"/>
                <a:ea typeface="Poppins SemiBold"/>
                <a:cs typeface="Poppins SemiBold"/>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Sabio Holdings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Sabio x PayPal: Win the Holiday Checkout</dc:title>
  <dc:subject>PptxGenJS Presentation</dc:subject>
  <dc:creator>Ben Bring, Sabio</dc:creator>
  <cp:lastModifiedBy>Ben Bring, Sabio</cp:lastModifiedBy>
  <cp:revision>1</cp:revision>
  <dcterms:created xsi:type="dcterms:W3CDTF">2026-10-16T23:24:05Z</dcterms:created>
  <dcterms:modified xsi:type="dcterms:W3CDTF">2026-10-16T23:24:05Z</dcterms:modified>
</cp:coreProperties>
</file>