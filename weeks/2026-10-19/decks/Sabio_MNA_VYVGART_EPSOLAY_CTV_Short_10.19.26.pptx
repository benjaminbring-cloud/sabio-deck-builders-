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A7A7A7"/>
                </a:solidFill>
                <a:latin typeface="Poppins SemiBold"/>
              </a:defRPr>
            </a:pPr>
            <a:r>
              <a:rPr sz="900" b="0" i="0" u="none" strike="noStrike">
                <a:solidFill>
                  <a:srgbClr val="A7A7A7"/>
                </a:solidFill>
                <a:latin typeface="Poppins SemiBold"/>
              </a:rPr>
              <a:t>Net-new CTV households by audience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Net-new CTV households (MM)</c:v>
                </c:pt>
              </c:strCache>
            </c:strRef>
          </c:tx>
          <c:spPr>
            <a:solidFill>
              <a:srgbClr val="FFC63E"/>
            </a:solidFill>
            <a:effectLst/>
          </c:spPr>
          <c:invertIfNegative val="0"/>
          <c:dLbls>
            <c:numFmt formatCode="&quot;+&quot;0.0#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Poppins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Trackers</c:v>
                  </c:pt>
                  <c:pt idx="1">
                    <c:v>gMG care</c:v>
                  </c:pt>
                  <c:pt idx="2">
                    <c:v>Serotype</c:v>
                  </c:pt>
                  <c:pt idx="3">
                    <c:v>IVIg</c:v>
                  </c:pt>
                  <c:pt idx="4">
                    <c:v>New dx</c:v>
                  </c:pt>
                  <c:pt idx="5">
                    <c:v>CIDP care</c:v>
                  </c:pt>
                  <c:pt idx="6">
                    <c:v>Self-treat</c:v>
                  </c:pt>
                  <c:pt idx="7">
                    <c:v>Triggers</c:v>
                  </c:pt>
                  <c:pt idx="8">
                    <c:v>Switchers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0.35</c:v>
                </c:pt>
                <c:pt idx="1">
                  <c:v>0.5</c:v>
                </c:pt>
                <c:pt idx="2">
                  <c:v>0.15</c:v>
                </c:pt>
                <c:pt idx="3">
                  <c:v>0.25</c:v>
                </c:pt>
                <c:pt idx="4">
                  <c:v>0.3</c:v>
                </c:pt>
                <c:pt idx="5">
                  <c:v>0.4</c:v>
                </c:pt>
                <c:pt idx="6">
                  <c:v>5</c:v>
                </c:pt>
                <c:pt idx="7">
                  <c:v>4</c:v>
                </c:pt>
                <c:pt idx="8">
                  <c:v>1.5</c:v>
                </c:pt>
              </c:numCache>
            </c:numRef>
          </c:val>
        </c:ser>
        <c:dLbls>
          <c:numFmt formatCode="&quot;+&quot;0.0#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Poppins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A7A7A7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benjaminbring-cloud/sabio-deck-builders-/assets/sabio-logo-yel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1295145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051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 A B I O   ×   M I N D S   +   A S S E M B L Y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NINE AUDIENCES, ONE MOVE FROM DISPLAY TO CTV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346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short version you asked for. The App Science® audiences for VYVGART® and EPSOLAY®, and the CTV inventory they run on.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5760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Awareness strategy and $1MM CTV test | Prepared for minds + assembly | October 2026 | US only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9319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Michael Allen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 Bring · Helen Goldstein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355080" y="411480"/>
            <a:ext cx="2331720" cy="431596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731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STREAMING'S SHARE OF RX TV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23444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42%</a:t>
            </a:r>
            <a:endParaRPr lang="en-US" sz="5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OF SPEND, Q3 2026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971800"/>
            <a:ext cx="1874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 from 32% in Q1. Rx TV budgets are moving to streaming this year, and the audiences can move with them. [2]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832604"/>
            <a:ext cx="585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Holdings · TSXV: SBIO | OTCQB: SABOF    Creator TV® | App Science® | Sabio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WHY START CTV WITH APP AUDIENCES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 CLIENTS BUYING MOSTLY DISPLAY TODAY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minds + assembly  ·  VYVGART and EPSOLAY, the short version  ·  Confidential</a:t>
            </a:r>
            <a:endParaRPr lang="en-US" sz="700" dirty="0"/>
          </a:p>
        </p:txBody>
      </p:sp>
      <p:pic>
        <p:nvPicPr>
          <p:cNvPr id="6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3716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+60%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606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VYVGART net sales growth in Q2 2026, to $1.52B. The label now covers every adult gMG serotype.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977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1 (argenx H1 2026 results, Jul 23, 2026)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1887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We think the safest first step into CTV is the audience you can already see on the phone, now on the TV.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210312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SAME AUDIENCE, BIGGER SCREEN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2331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segment starts from apps opened on a phone in the last 30 days. We resolve the phone to the household and serve that home's TV.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288036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PER BRAND, NEVER SHARED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1089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audiences each for gMG, CIDP and EPSOLAY. argenx and Galderma data, reporting and learnings stay separate.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365760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PROVED WITH A HOLDOUT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886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of homes stay unexposed, so brand lift and Rx lift read cleanly for each brand.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VYVGART IN GMG: THREE AUDIENCES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EACH ONE IS AN APP ECOSYSTEM BUILT FOR THIS BRIEF · ~90K DIAGNOSED US GMG PATIENTS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Estimates; reconfirm before launch. From ~90K diagnosed US gMG patients (DelveInsight, 2025) on Sabio's 80MM-household graph, plus adjacent apps. App names are examples, not endorsements.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minds + assembly  ·  VYVGART and EPSOLAY, the short version  ·  Confidential</a:t>
            </a:r>
            <a:endParaRPr lang="en-US" sz="700" dirty="0"/>
          </a:p>
        </p:txBody>
      </p:sp>
      <p:pic>
        <p:nvPicPr>
          <p:cNvPr id="7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SYMPTOM TRACKER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Logs symptoms and sees a neurologist, often still on steroids.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MGFA myMG · myMGverse · Bearable · MyChart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Ask about VYVGART at the next visit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21792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3232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~350K homes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249168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413760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3413760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CARE PARTNER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413760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spouse or adult child managing visits and medications.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413760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CareZone · Caring Village · Medisafe · CVS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413760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Self-injection gives families time back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413760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505200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3505200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~500K homes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041136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05728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CONQUEST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6205728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SEROTYPE NEWCOMER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205728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MuSK+, LRP4+ or seronegative, newly covered in 2026.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6205728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6205728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MG patient groups · rare disease communities · MyChart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6205728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VYVGART option for every serotype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6205728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297168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37" name="Text 34"/>
          <p:cNvSpPr txBox="1"/>
          <p:nvPr/>
        </p:nvSpPr>
        <p:spPr>
          <a:xfrm>
            <a:off x="6297168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~150K homes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VYVGART IN CIDP: THREE AUDIENCES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EACH ONE IS AN APP ECOSYSTEM BUILT FOR THIS BRIEF · ~60K US CIDP PATIENTS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Estimates; reconfirm before launch. From ~60K US CIDP patients (GBS|CIDP Foundation) on Sabio's 80MM-household graph, plus adjacent apps. App names are examples, not endorsements.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minds + assembly  ·  VYVGART and EPSOLAY, the short version  ·  Confidential</a:t>
            </a:r>
            <a:endParaRPr lang="en-US" sz="700" dirty="0"/>
          </a:p>
        </p:txBody>
      </p:sp>
      <p:pic>
        <p:nvPicPr>
          <p:cNvPr id="7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IVIG-FATIGUED PATIENT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a three to four week IVIg cycle, at home or in clinic.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Option Care · CVS Specialty · Medisafe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self-injection in place of the infusion chair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21792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3232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~250K homes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249168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413760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3413760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NEWLY DIAGNOSED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413760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Researching numbness and weakness, often in their late 50s.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413760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Neuropathy trackers · MyChart · GBS|CIDP community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413760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 the treatment conversation early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413760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505200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3505200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~300K homes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041136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05728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6205728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CARE PARTNER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205728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Drives to infusion visits and runs the calendar.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6205728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6205728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CareZone · Caring Village · Life360 · CVS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6205728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Treatment that fits around family life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6205728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297168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37" name="Text 34"/>
          <p:cNvSpPr txBox="1"/>
          <p:nvPr/>
        </p:nvSpPr>
        <p:spPr>
          <a:xfrm>
            <a:off x="6297168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~400K homes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EPSOLAY IN ROSACEA: THREE AUDIENCES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SAME METHOD AT SCALE · ONLY ABOUT 18% OF 16MM AMERICANS WITH ROSACEA ARE TREATED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Estimates; reconfirm before launch. From 16MM Americans with rosacea, ~18% treated (National Rosacea Society), on Sabio's 80MM-household graph. App names are examples, not endorsements.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minds + assembly  ·  VYVGART and EPSOLAY, the short version  ·  Confidential</a:t>
            </a:r>
            <a:endParaRPr lang="en-US" sz="700" dirty="0"/>
          </a:p>
        </p:txBody>
      </p:sp>
      <p:pic>
        <p:nvPicPr>
          <p:cNvPr id="7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SELF-TREATER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Treats bumps and redness with OTC skin care. No dermatologist yet.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Skinsort · Yuka · Ulta Beauty · CVS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Bumps need a prescription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21792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3232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~5MM homes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249168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413760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3413760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TRIGGER MANAGER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413760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Tracks sun, heat and diet triggers. Often women aged 45 to 60.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413760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UV index apps · Bearable · MyFitnessPal · Skinsort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413760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Gentle on sensitive skin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413760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505200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3505200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~4MM homes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041136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05728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CONQUEST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6205728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TOPICAL SWITCHER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205728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a prescription rosacea topical and still breaking out.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6205728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6205728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Curology · Musely · GoodRx · CVS / Walgreens Rx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6205728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 to 70% fewer bumps in 12 weeks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6205728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297168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37" name="Text 34"/>
          <p:cNvSpPr txBox="1"/>
          <p:nvPr/>
        </p:nvSpPr>
        <p:spPr>
          <a:xfrm>
            <a:off x="6297168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~1.5MM homes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NINE AUDIENCES BUILD TO ABOUT 12.5MM HOMES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CTV HOUSEHOLDS AS EACH AUDIENCE IS ADDED · DEDUPLICATED · ILLUSTRATIVE UNTIL THE BUILD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show incremental, deduplicated households. Final sizes are confirmed at the build [CONFIRM].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minds + assembly  ·  VYVGART and EPSOLAY, the short version  ·  Confidential</a:t>
            </a:r>
            <a:endParaRPr lang="en-US" sz="700" dirty="0"/>
          </a:p>
        </p:txBody>
      </p:sp>
      <p:pic>
        <p:nvPicPr>
          <p:cNvPr id="7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5120640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548640" y="1280160"/>
          <a:ext cx="49377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852160" y="11887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12.5MM</a:t>
            </a:r>
            <a:endParaRPr lang="en-US" sz="4600" dirty="0"/>
          </a:p>
        </p:txBody>
      </p:sp>
      <p:sp>
        <p:nvSpPr>
          <p:cNvPr id="11" name="Text 7"/>
          <p:cNvSpPr txBox="1"/>
          <p:nvPr/>
        </p:nvSpPr>
        <p:spPr>
          <a:xfrm>
            <a:off x="5852160" y="2103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CTV households across nine audiences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852160" y="26974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$1MM test reaches about 9MM of them at an average frequency of about 6.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VYVGART adds about 2MM precise homes. EPSOLAY adds the scale.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CTV INVENTORY WE'D SERVE ON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PLATFORM-AGNOSTIC CTV, PLUS OUR OWN CHANNEL · YOUR LISTS, OUR CONTROLS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Creator TV distribution from Sabio's Q4 2026 overview. The full publisher list is shared at the build and cleared with each brand's MLR team [CONFIRM].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minds + assembly  ·  VYVGART and EPSOLAY, the short version  ·  Confidential</a:t>
            </a:r>
            <a:endParaRPr lang="en-US" sz="700" dirty="0"/>
          </a:p>
        </p:txBody>
      </p:sp>
      <p:pic>
        <p:nvPicPr>
          <p:cNvPr id="7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5331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PREMIUM STREAMING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66420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major CTV platform, box and stick. We add your approved publishers and block the ones you already buy, so reach stays incremental.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962656" y="118872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27248" y="135331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CREATOR TV®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127248" y="166420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Sabio's own channel: 88MM households can watch it on VIZIO WatchFree+, TCLtv+, Xumo Play, Sling Freestream, Fire TV Channels, Plex and LiveTVx.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57200" y="283464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299923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HEALTH-SAFE SUPPLY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" y="331012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Category blocklists for each brand. DoubleVerify on every impression and a 70% viewability guarantee.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962656" y="283464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27248" y="299923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MOBILE FOLLOW-THROUGH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127248" y="331012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CTV-exposed homes on their phones, pointing to vyvgart.com or epsolay.com and the doctor discussion guide.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486400" y="1188720"/>
            <a:ext cx="3200400" cy="3182112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87568" y="137160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INVENTORY CONTROLS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687568" y="1755648"/>
            <a:ext cx="27980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Your approved publisher list, honored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Publishers you already buy, blocked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Frequency capped per household and brand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95%+ CTV completion benchmark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Separate delivery reports for argenx and Galderma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$1MM TEST AND THE GUARDRAILS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EIGHT WEEKS LIVE · $600K VYVGART, $400K EPSOLAY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Rx lift partner to be confirmed with argenx and Galderma; claims data stays de-identified. Sabio CTV privacy FAQ, 2026.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8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minds + assembly  ·  VYVGART and EPSOLAY, the short version  ·  Confidential</a:t>
            </a:r>
            <a:endParaRPr lang="en-US" sz="700" dirty="0"/>
          </a:p>
        </p:txBody>
      </p:sp>
      <p:pic>
        <p:nvPicPr>
          <p:cNvPr id="7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BUDGET BY BRAND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VYVGART $350K gMG and $250K CIDP. EPSOLAY $400K. Budgets never move between brands without client approval.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3072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07664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CHANNEL MIX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07664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CTV 59% ($590K), mobile 29% ($290K), Creator TV® 12% ($120K).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28944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93536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MEASUREMENT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6193536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Brand lift for awareness and new-to-brand Rx lift, each read by brand against a 10% unexposed holdout.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57200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WE OBSERVE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apps are on a device and when they were used. Never what a person types, logs or reads inside an app.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243072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07664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 DATA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407664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ownership is a behavior signal. We don't infer a diagnosis, and copy never implies we know one.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28944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93536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LEAVES SABIO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193536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raw device IDs. Reporting is aggregated by audience and kept separate for each client.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WHERE WE GO NEXT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THREE STEPS TO A LIVE TEST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minds + assembly  ·  VYVGART and EPSOLAY, the short version  ·  Confidential</a:t>
            </a:r>
            <a:endParaRPr lang="en-US" sz="700" dirty="0"/>
          </a:p>
        </p:txBody>
      </p:sp>
      <p:pic>
        <p:nvPicPr>
          <p:cNvPr id="6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PICK THE LEAD BRAND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minds + assembly chooses whether VYVGART, EPSOLAY or both go to clients first.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21792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Michael Allen · when we meet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249168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1376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3413760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SIZE AND LIST INVENTORY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13760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returns final audience sizes and the publisher list for that brand.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3413760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05200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Sabio · within a week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041136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0572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6205728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LOCK THE TEST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205728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 date, budget split and the Rx lift partner agreed with the client.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205728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97168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minds + assembly and Sabio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0965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Happy to keep trimming. If one brand is the better first conversation with your clients, we'll lead with that one.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SOURCES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MARKET CLAIMS IN THIS DECK, AS REPORTED · RETRIEVED OCT 16, 2026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minds + assembly  ·  VYVGART and EPSOLAY, the short version  ·  Confidential</a:t>
            </a:r>
            <a:endParaRPr lang="en-US" sz="700" dirty="0"/>
          </a:p>
        </p:txBody>
      </p:sp>
      <p:pic>
        <p:nvPicPr>
          <p:cNvPr id="6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 argenx half year 2026 results and Q2 business update, Jul 23, 2026, via BioSpace.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 EMARKETER, Pharma Rx TV ad spending and streaming share, iSpot.tv data, Oct 9, 2026.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 National Rosacea Society; Baylor College of Medicine (as cited in the 10.15 Sabio plan).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  DelveInsight, 2025 (US gMG prevalence); GBS|CIDP Foundation International.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  Sabio Q4 2026 Overview (Creator TV distribution); Sabio CTV privacy FAQ, 2026.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Sabio Holdings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Sabio x minds + assembly: VYVGART and EPSOLAY on CTV (short version)</dc:title>
  <dc:subject>PptxGenJS Presentation</dc:subject>
  <dc:creator>Ben Bring, Sabio</dc:creator>
  <cp:lastModifiedBy>Ben Bring, Sabio</cp:lastModifiedBy>
  <cp:revision>1</cp:revision>
  <dcterms:created xsi:type="dcterms:W3CDTF">2026-10-16T23:18:52Z</dcterms:created>
  <dcterms:modified xsi:type="dcterms:W3CDTF">2026-10-16T23:18:52Z</dcterms:modified>
</cp:coreProperties>
</file>