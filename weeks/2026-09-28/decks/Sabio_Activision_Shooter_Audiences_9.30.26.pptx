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A7A7A7"/>
                </a:solidFill>
                <a:latin typeface="Poppins SemiBold"/>
              </a:defRPr>
            </a:pPr>
            <a:r>
              <a:rPr sz="900" b="0" i="0" u="none" strike="noStrike">
                <a:solidFill>
                  <a:srgbClr val="A7A7A7"/>
                </a:solidFill>
                <a:latin typeface="Poppins SemiBold"/>
              </a:rPr>
              <a:t>Net-new CTV households by audience (MM)</a:t>
            </a:r>
          </a:p>
        </c:rich>
      </c:tx>
      <c:layout/>
      <c:overlay val="0"/>
    </c:title>
    <c:autoTitleDeleted val="0"/>
    <c:plotArea>
      <c:layout/>
      <c:barChart>
        <c:barDir val="col"/>
        <c:grouping val="clustered"/>
        <c:varyColors val="0"/>
        <c:ser>
          <c:idx val="0"/>
          <c:order val="0"/>
          <c:tx>
            <c:strRef>
              <c:f>Sheet1!$B$1</c:f>
              <c:strCache>
                <c:ptCount val="1"/>
                <c:pt idx="0">
                  <c:v>Net-new CTV households (MM)</c:v>
                </c:pt>
              </c:strCache>
            </c:strRef>
          </c:tx>
          <c:spPr>
            <a:solidFill>
              <a:srgbClr val="FFC63E"/>
            </a:solidFill>
            <a:effectLst/>
          </c:spPr>
          <c:invertIfNegative val="0"/>
          <c:dLbls>
            <c:numFmt formatCode="&quot;+&quot;0&quot;MM&quot;" sourceLinked="0"/>
            <c:txPr>
              <a:bodyPr/>
              <a:lstStyle/>
              <a:p>
                <a:pPr>
                  <a:defRPr b="0" i="0" strike="noStrike" sz="1100" u="none">
                    <a:solidFill>
                      <a:srgbClr val="FFFFFF"/>
                    </a:solidFill>
                    <a:latin typeface="Poppins SemiBold"/>
                  </a:defRPr>
                </a:pPr>
              </a:p>
            </c:txPr>
            <c:showLegendKey val="0"/>
            <c:showVal val="1"/>
            <c:showCatName val="0"/>
            <c:showSerName val="0"/>
            <c:showPercent val="0"/>
            <c:showBubbleSize val="0"/>
            <c:showLeaderLines val="0"/>
          </c:dLbls>
          <c:cat>
            <c:multiLvlStrRef>
              <c:f>Sheet1!$A$2:$A$4</c:f>
              <c:multiLvlStrCache>
                <c:ptCount val="3"/>
                <c:lvl>
                  <c:pt idx="0">
                    <c:v>Battlefield players</c:v>
                  </c:pt>
                  <c:pt idx="1">
                    <c:v>Lapsed CoD homes</c:v>
                  </c:pt>
                  <c:pt idx="2">
                    <c:v>Switch 2 households</c:v>
                  </c:pt>
                </c:lvl>
              </c:multiLvlStrCache>
            </c:multiLvlStrRef>
          </c:cat>
          <c:val>
            <c:numRef>
              <c:f>Sheet1!$B$2:$B$4</c:f>
              <c:numCache>
                <c:formatCode>General</c:formatCode>
                <c:ptCount val="3"/>
                <c:pt idx="0">
                  <c:v>12</c:v>
                </c:pt>
                <c:pt idx="1">
                  <c:v>7</c:v>
                </c:pt>
                <c:pt idx="2">
                  <c:v>4</c:v>
                </c:pt>
              </c:numCache>
            </c:numRef>
          </c:val>
        </c:ser>
        <c:dLbls>
          <c:numFmt formatCode="&quot;+&quot;0&quot;MM&quot;" sourceLinked="0"/>
          <c:txPr>
            <a:bodyPr/>
            <a:lstStyle/>
            <a:p>
              <a:pPr>
                <a:defRPr b="0" i="0" strike="noStrike" sz="1100" u="none">
                  <a:solidFill>
                    <a:srgbClr val="FFFFFF"/>
                  </a:solidFill>
                  <a:latin typeface="Poppins SemiBold"/>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850" b="0" i="0" u="none" strike="noStrike">
                <a:solidFill>
                  <a:srgbClr val="A7A7A7"/>
                </a:solidFill>
                <a:latin typeface="Poppins"/>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pic>
        <p:nvPicPr>
          <p:cNvPr id="2" name="Image 0" descr="/home/user/Sabio-Deck-Builders-/assets/sabio-logo-yellow.png">    </p:cNvPr>
          <p:cNvPicPr>
            <a:picLocks noChangeAspect="1"/>
          </p:cNvPicPr>
          <p:nvPr/>
        </p:nvPicPr>
        <p:blipFill>
          <a:blip r:embed="rId1"/>
          <a:stretch>
            <a:fillRect/>
          </a:stretch>
        </p:blipFill>
        <p:spPr>
          <a:xfrm>
            <a:off x="457200" y="411480"/>
            <a:ext cx="1295145" cy="310896"/>
          </a:xfrm>
          <a:prstGeom prst="rect">
            <a:avLst/>
          </a:prstGeom>
        </p:spPr>
      </p:pic>
      <p:sp>
        <p:nvSpPr>
          <p:cNvPr id="3" name="Text 0"/>
          <p:cNvSpPr txBox="1"/>
          <p:nvPr/>
        </p:nvSpPr>
        <p:spPr>
          <a:xfrm>
            <a:off x="457200" y="1051560"/>
            <a:ext cx="5669280" cy="274320"/>
          </a:xfrm>
          <a:prstGeom prst="rect">
            <a:avLst/>
          </a:prstGeom>
          <a:noFill/>
          <a:ln/>
        </p:spPr>
        <p:txBody>
          <a:bodyPr wrap="square" lIns="0" tIns="0" rIns="0" bIns="0" rtlCol="0" anchor="t"/>
          <a:lstStyle/>
          <a:p>
            <a:pPr indent="0" marL="0">
              <a:buNone/>
            </a:pPr>
            <a:r>
              <a:rPr lang="en-US" sz="1050" dirty="0">
                <a:solidFill>
                  <a:srgbClr val="FFC63E"/>
                </a:solidFill>
                <a:latin typeface="Poppins SemiBold" pitchFamily="34" charset="0"/>
                <a:ea typeface="Poppins SemiBold" pitchFamily="34" charset="-122"/>
                <a:cs typeface="Poppins SemiBold" pitchFamily="34" charset="-120"/>
              </a:rPr>
              <a:t>S A B I O   ×   A C T I V I S I O N</a:t>
            </a:r>
            <a:endParaRPr lang="en-US" sz="1050" dirty="0"/>
          </a:p>
        </p:txBody>
      </p:sp>
      <p:sp>
        <p:nvSpPr>
          <p:cNvPr id="4" name="Text 1"/>
          <p:cNvSpPr txBox="1"/>
          <p:nvPr/>
        </p:nvSpPr>
        <p:spPr>
          <a:xfrm>
            <a:off x="457200" y="1371600"/>
            <a:ext cx="5669280" cy="1417320"/>
          </a:xfrm>
          <a:prstGeom prst="rect">
            <a:avLst/>
          </a:prstGeom>
          <a:noFill/>
          <a:ln/>
        </p:spPr>
        <p:txBody>
          <a:bodyPr wrap="square" lIns="0" tIns="0" rIns="0" bIns="0" rtlCol="0" anchor="ctr"/>
          <a:lstStyle/>
          <a:p>
            <a:pPr indent="0" marL="0">
              <a:lnSpc>
                <a:spcPct val="95000"/>
              </a:lnSpc>
              <a:buNone/>
            </a:pPr>
            <a:r>
              <a:rPr lang="en-US" sz="2800" dirty="0">
                <a:solidFill>
                  <a:srgbClr val="FFFFFF"/>
                </a:solidFill>
                <a:latin typeface="Poppins ExtraBold" pitchFamily="34" charset="0"/>
                <a:ea typeface="Poppins ExtraBold" pitchFamily="34" charset="-122"/>
                <a:cs typeface="Poppins ExtraBold" pitchFamily="34" charset="-120"/>
              </a:rPr>
              <a:t>WIN THE 27 DAYS BEFORE GTA VI</a:t>
            </a:r>
            <a:endParaRPr lang="en-US" sz="2800" dirty="0"/>
          </a:p>
        </p:txBody>
      </p:sp>
      <p:sp>
        <p:nvSpPr>
          <p:cNvPr id="5" name="Text 2"/>
          <p:cNvSpPr txBox="1"/>
          <p:nvPr/>
        </p:nvSpPr>
        <p:spPr>
          <a:xfrm>
            <a:off x="457200" y="2834640"/>
            <a:ext cx="5486400" cy="685800"/>
          </a:xfrm>
          <a:prstGeom prst="rect">
            <a:avLst/>
          </a:prstGeom>
          <a:noFill/>
          <a:ln/>
        </p:spPr>
        <p:txBody>
          <a:bodyPr wrap="square" lIns="0" tIns="0" rIns="0" bIns="0" rtlCol="0" anchor="t"/>
          <a:lstStyle/>
          <a:p>
            <a:pPr indent="0" marL="0">
              <a:buNone/>
            </a:pPr>
            <a:r>
              <a:rPr lang="en-US" sz="1150" dirty="0">
                <a:solidFill>
                  <a:srgbClr val="E3E3E3"/>
                </a:solidFill>
                <a:latin typeface="Poppins" pitchFamily="34" charset="0"/>
                <a:ea typeface="Poppins" pitchFamily="34" charset="-122"/>
                <a:cs typeface="Poppins" pitchFamily="34" charset="-120"/>
              </a:rPr>
              <a:t>Modern Warfare 4 launches Oct 23 at $70, with no Game Pass on day one. App Science® finds the Battlefield, Switch 2 and lapsed Call of Duty homes that now have to be sold, not unlocked, and reaches them on the TV they'll play on.</a:t>
            </a:r>
            <a:endParaRPr lang="en-US" sz="1150" dirty="0"/>
          </a:p>
        </p:txBody>
      </p:sp>
      <p:sp>
        <p:nvSpPr>
          <p:cNvPr id="6" name="Text 3"/>
          <p:cNvSpPr txBox="1"/>
          <p:nvPr/>
        </p:nvSpPr>
        <p:spPr>
          <a:xfrm>
            <a:off x="457200" y="3657600"/>
            <a:ext cx="5669280" cy="228600"/>
          </a:xfrm>
          <a:prstGeom prst="rect">
            <a:avLst/>
          </a:prstGeom>
          <a:noFill/>
          <a:ln/>
        </p:spPr>
        <p:txBody>
          <a:bodyPr wrap="square" lIns="0" tIns="0" rIns="0" bIns="0" rtlCol="0" anchor="t"/>
          <a:lstStyle/>
          <a:p>
            <a:pPr indent="0" marL="0">
              <a:buNone/>
            </a:pPr>
            <a:r>
              <a:rPr lang="en-US" sz="900" dirty="0">
                <a:solidFill>
                  <a:srgbClr val="FFFFFF"/>
                </a:solidFill>
                <a:latin typeface="Poppins SemiBold" pitchFamily="34" charset="0"/>
                <a:ea typeface="Poppins SemiBold" pitchFamily="34" charset="-122"/>
                <a:cs typeface="Poppins SemiBold" pitchFamily="34" charset="-120"/>
              </a:rPr>
              <a:t>Proactive point of view | Prepared for Omnicom | October 2026 | US only</a:t>
            </a:r>
            <a:endParaRPr lang="en-US" sz="900" dirty="0"/>
          </a:p>
        </p:txBody>
      </p:sp>
      <p:sp>
        <p:nvSpPr>
          <p:cNvPr id="7" name="Text 4"/>
          <p:cNvSpPr txBox="1"/>
          <p:nvPr/>
        </p:nvSpPr>
        <p:spPr>
          <a:xfrm>
            <a:off x="457200" y="3931920"/>
            <a:ext cx="5669280" cy="457200"/>
          </a:xfrm>
          <a:prstGeom prst="rect">
            <a:avLst/>
          </a:prstGeom>
          <a:noFill/>
          <a:ln/>
        </p:spPr>
        <p:txBody>
          <a:bodyPr wrap="square" lIns="0" tIns="0" rIns="0" bIns="0" rtlCol="0" anchor="t"/>
          <a:lstStyle/>
          <a:p>
            <a:pPr indent="0" marL="0">
              <a:buNone/>
            </a:pPr>
            <a:r>
              <a:rPr lang="en-US" sz="850" dirty="0">
                <a:solidFill>
                  <a:srgbClr val="A7A7A7"/>
                </a:solidFill>
                <a:latin typeface="Poppins" pitchFamily="34" charset="0"/>
                <a:ea typeface="Poppins" pitchFamily="34" charset="-122"/>
                <a:cs typeface="Poppins" pitchFamily="34" charset="-120"/>
              </a:rPr>
              <a:t>Josh Mallalieu</a:t>
            </a:r>
            <a:endParaRPr lang="en-US" sz="850" dirty="0"/>
          </a:p>
          <a:p>
            <a:pPr indent="0" marL="0">
              <a:buNone/>
            </a:pPr>
            <a:r>
              <a:rPr lang="en-US" sz="850" dirty="0">
                <a:solidFill>
                  <a:srgbClr val="A7A7A7"/>
                </a:solidFill>
                <a:latin typeface="Poppins" pitchFamily="34" charset="0"/>
                <a:ea typeface="Poppins" pitchFamily="34" charset="-122"/>
                <a:cs typeface="Poppins" pitchFamily="34" charset="-120"/>
              </a:rPr>
              <a:t>Ben Bring · Shae Mackey · Janis Ciuffini</a:t>
            </a:r>
            <a:endParaRPr lang="en-US" sz="850" dirty="0"/>
          </a:p>
        </p:txBody>
      </p:sp>
      <p:sp>
        <p:nvSpPr>
          <p:cNvPr id="8" name="Shape 5"/>
          <p:cNvSpPr/>
          <p:nvPr/>
        </p:nvSpPr>
        <p:spPr>
          <a:xfrm>
            <a:off x="6355080" y="411480"/>
            <a:ext cx="2331720" cy="4315968"/>
          </a:xfrm>
          <a:prstGeom prst="rect">
            <a:avLst/>
          </a:prstGeom>
          <a:solidFill>
            <a:srgbClr val="262626"/>
          </a:solidFill>
          <a:ln w="12700">
            <a:solidFill>
              <a:srgbClr val="262626"/>
            </a:solidFill>
            <a:prstDash val="solid"/>
          </a:ln>
        </p:spPr>
      </p:sp>
      <p:sp>
        <p:nvSpPr>
          <p:cNvPr id="9" name="Text 6"/>
          <p:cNvSpPr txBox="1"/>
          <p:nvPr/>
        </p:nvSpPr>
        <p:spPr>
          <a:xfrm>
            <a:off x="6583680" y="731520"/>
            <a:ext cx="1920240" cy="457200"/>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FROM MW4 LAUNCH TO GTA VI</a:t>
            </a:r>
            <a:endParaRPr lang="en-US" sz="850" dirty="0"/>
          </a:p>
        </p:txBody>
      </p:sp>
      <p:sp>
        <p:nvSpPr>
          <p:cNvPr id="10" name="Text 7"/>
          <p:cNvSpPr txBox="1"/>
          <p:nvPr/>
        </p:nvSpPr>
        <p:spPr>
          <a:xfrm>
            <a:off x="6583680" y="1234440"/>
            <a:ext cx="1965960" cy="1097280"/>
          </a:xfrm>
          <a:prstGeom prst="rect">
            <a:avLst/>
          </a:prstGeom>
          <a:noFill/>
          <a:ln/>
        </p:spPr>
        <p:txBody>
          <a:bodyPr wrap="square" lIns="0" tIns="0" rIns="0" bIns="0" rtlCol="0" anchor="ctr"/>
          <a:lstStyle/>
          <a:p>
            <a:pPr indent="0" marL="0">
              <a:buNone/>
            </a:pPr>
            <a:r>
              <a:rPr lang="en-US" sz="6400" dirty="0">
                <a:solidFill>
                  <a:srgbClr val="FFC63E"/>
                </a:solidFill>
                <a:latin typeface="Poppins ExtraBold" pitchFamily="34" charset="0"/>
                <a:ea typeface="Poppins ExtraBold" pitchFamily="34" charset="-122"/>
                <a:cs typeface="Poppins ExtraBold" pitchFamily="34" charset="-120"/>
              </a:rPr>
              <a:t>27</a:t>
            </a:r>
            <a:endParaRPr lang="en-US" sz="6400" dirty="0"/>
          </a:p>
        </p:txBody>
      </p:sp>
      <p:sp>
        <p:nvSpPr>
          <p:cNvPr id="11" name="Text 8"/>
          <p:cNvSpPr txBox="1"/>
          <p:nvPr/>
        </p:nvSpPr>
        <p:spPr>
          <a:xfrm>
            <a:off x="6583680" y="2377440"/>
            <a:ext cx="1920240" cy="45720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DAYS</a:t>
            </a:r>
            <a:endParaRPr lang="en-US" sz="1200" dirty="0"/>
          </a:p>
        </p:txBody>
      </p:sp>
      <p:sp>
        <p:nvSpPr>
          <p:cNvPr id="12" name="Text 9"/>
          <p:cNvSpPr txBox="1"/>
          <p:nvPr/>
        </p:nvSpPr>
        <p:spPr>
          <a:xfrm>
            <a:off x="6583680" y="2971800"/>
            <a:ext cx="1874520" cy="1600200"/>
          </a:xfrm>
          <a:prstGeom prst="rect">
            <a:avLst/>
          </a:prstGeom>
          <a:noFill/>
          <a:ln/>
        </p:spPr>
        <p:txBody>
          <a:bodyPr wrap="square" lIns="0" tIns="0" rIns="0" bIns="0" rtlCol="0" anchor="t"/>
          <a:lstStyle/>
          <a:p>
            <a:pPr indent="0" marL="0">
              <a:buNone/>
            </a:pPr>
            <a:r>
              <a:rPr lang="en-US" sz="900" dirty="0">
                <a:solidFill>
                  <a:srgbClr val="E3E3E3"/>
                </a:solidFill>
                <a:latin typeface="Poppins" pitchFamily="34" charset="0"/>
                <a:ea typeface="Poppins" pitchFamily="34" charset="-122"/>
                <a:cs typeface="Poppins" pitchFamily="34" charset="-120"/>
              </a:rPr>
              <a:t>Pre-orders unlock the campaign Oct 16. MW4 launches Oct 23. GTA VI lands Nov 19. Every player Activision wants has to be won before then. [3, 6]</a:t>
            </a:r>
            <a:endParaRPr lang="en-US" sz="900" dirty="0"/>
          </a:p>
        </p:txBody>
      </p:sp>
      <p:sp>
        <p:nvSpPr>
          <p:cNvPr id="13" name="Text 10"/>
          <p:cNvSpPr txBox="1"/>
          <p:nvPr/>
        </p:nvSpPr>
        <p:spPr>
          <a:xfrm>
            <a:off x="457200" y="4832604"/>
            <a:ext cx="585216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Holdings · TSXV: SBIO | OTCQB: SABOF    Creator TV® | App Science® | Sabio</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AGENDA</a:t>
            </a:r>
            <a:endParaRPr lang="en-US" sz="2300" dirty="0"/>
          </a:p>
        </p:txBody>
      </p:sp>
      <p:sp>
        <p:nvSpPr>
          <p:cNvPr id="3" name="Text 1"/>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2</a:t>
            </a:r>
            <a:endParaRPr lang="en-US" sz="800" dirty="0"/>
          </a:p>
        </p:txBody>
      </p:sp>
      <p:sp>
        <p:nvSpPr>
          <p:cNvPr id="4" name="Text 2"/>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5"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6" name="Text 3"/>
          <p:cNvSpPr txBox="1"/>
          <p:nvPr/>
        </p:nvSpPr>
        <p:spPr>
          <a:xfrm>
            <a:off x="457200" y="1097280"/>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01</a:t>
            </a:r>
            <a:endParaRPr lang="en-US" sz="1800" dirty="0"/>
          </a:p>
        </p:txBody>
      </p:sp>
      <p:sp>
        <p:nvSpPr>
          <p:cNvPr id="7" name="Text 4"/>
          <p:cNvSpPr txBox="1"/>
          <p:nvPr/>
        </p:nvSpPr>
        <p:spPr>
          <a:xfrm>
            <a:off x="1097280" y="1097280"/>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What's happening at Activision right now</a:t>
            </a:r>
            <a:endParaRPr lang="en-US" sz="1300" dirty="0"/>
          </a:p>
        </p:txBody>
      </p:sp>
      <p:sp>
        <p:nvSpPr>
          <p:cNvPr id="8" name="Shape 5"/>
          <p:cNvSpPr/>
          <p:nvPr/>
        </p:nvSpPr>
        <p:spPr>
          <a:xfrm>
            <a:off x="1097280" y="1545336"/>
            <a:ext cx="7589520" cy="0"/>
          </a:xfrm>
          <a:prstGeom prst="line">
            <a:avLst/>
          </a:prstGeom>
          <a:noFill/>
          <a:ln w="9525">
            <a:solidFill>
              <a:srgbClr val="3A3A3A"/>
            </a:solidFill>
            <a:prstDash val="solid"/>
          </a:ln>
        </p:spPr>
      </p:sp>
      <p:sp>
        <p:nvSpPr>
          <p:cNvPr id="9" name="Text 6"/>
          <p:cNvSpPr txBox="1"/>
          <p:nvPr/>
        </p:nvSpPr>
        <p:spPr>
          <a:xfrm>
            <a:off x="457200" y="1572768"/>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02</a:t>
            </a:r>
            <a:endParaRPr lang="en-US" sz="1800" dirty="0"/>
          </a:p>
        </p:txBody>
      </p:sp>
      <p:sp>
        <p:nvSpPr>
          <p:cNvPr id="10" name="Text 7"/>
          <p:cNvSpPr txBox="1"/>
          <p:nvPr/>
        </p:nvSpPr>
        <p:spPr>
          <a:xfrm>
            <a:off x="1097280" y="1572768"/>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The opening: conquest and win-back, not the core</a:t>
            </a:r>
            <a:endParaRPr lang="en-US" sz="1300" dirty="0"/>
          </a:p>
        </p:txBody>
      </p:sp>
      <p:sp>
        <p:nvSpPr>
          <p:cNvPr id="11" name="Shape 8"/>
          <p:cNvSpPr/>
          <p:nvPr/>
        </p:nvSpPr>
        <p:spPr>
          <a:xfrm>
            <a:off x="1097280" y="2020824"/>
            <a:ext cx="7589520" cy="0"/>
          </a:xfrm>
          <a:prstGeom prst="line">
            <a:avLst/>
          </a:prstGeom>
          <a:noFill/>
          <a:ln w="9525">
            <a:solidFill>
              <a:srgbClr val="3A3A3A"/>
            </a:solidFill>
            <a:prstDash val="solid"/>
          </a:ln>
        </p:spPr>
      </p:sp>
      <p:sp>
        <p:nvSpPr>
          <p:cNvPr id="12" name="Text 9"/>
          <p:cNvSpPr txBox="1"/>
          <p:nvPr/>
        </p:nvSpPr>
        <p:spPr>
          <a:xfrm>
            <a:off x="457200" y="2048256"/>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03</a:t>
            </a:r>
            <a:endParaRPr lang="en-US" sz="1800" dirty="0"/>
          </a:p>
        </p:txBody>
      </p:sp>
      <p:sp>
        <p:nvSpPr>
          <p:cNvPr id="13" name="Text 10"/>
          <p:cNvSpPr txBox="1"/>
          <p:nvPr/>
        </p:nvSpPr>
        <p:spPr>
          <a:xfrm>
            <a:off x="1097280" y="2048256"/>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Who Sabio is, and what App Science® does</a:t>
            </a:r>
            <a:endParaRPr lang="en-US" sz="1300" dirty="0"/>
          </a:p>
        </p:txBody>
      </p:sp>
      <p:sp>
        <p:nvSpPr>
          <p:cNvPr id="14" name="Shape 11"/>
          <p:cNvSpPr/>
          <p:nvPr/>
        </p:nvSpPr>
        <p:spPr>
          <a:xfrm>
            <a:off x="1097280" y="2496312"/>
            <a:ext cx="7589520" cy="0"/>
          </a:xfrm>
          <a:prstGeom prst="line">
            <a:avLst/>
          </a:prstGeom>
          <a:noFill/>
          <a:ln w="9525">
            <a:solidFill>
              <a:srgbClr val="3A3A3A"/>
            </a:solidFill>
            <a:prstDash val="solid"/>
          </a:ln>
        </p:spPr>
      </p:sp>
      <p:sp>
        <p:nvSpPr>
          <p:cNvPr id="15" name="Text 12"/>
          <p:cNvSpPr txBox="1"/>
          <p:nvPr/>
        </p:nvSpPr>
        <p:spPr>
          <a:xfrm>
            <a:off x="457200" y="2523744"/>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04</a:t>
            </a:r>
            <a:endParaRPr lang="en-US" sz="1800" dirty="0"/>
          </a:p>
        </p:txBody>
      </p:sp>
      <p:sp>
        <p:nvSpPr>
          <p:cNvPr id="16" name="Text 13"/>
          <p:cNvSpPr txBox="1"/>
          <p:nvPr/>
        </p:nvSpPr>
        <p:spPr>
          <a:xfrm>
            <a:off x="1097280" y="2523744"/>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Three audiences for the launch window</a:t>
            </a:r>
            <a:endParaRPr lang="en-US" sz="1300" dirty="0"/>
          </a:p>
        </p:txBody>
      </p:sp>
      <p:sp>
        <p:nvSpPr>
          <p:cNvPr id="17" name="Shape 14"/>
          <p:cNvSpPr/>
          <p:nvPr/>
        </p:nvSpPr>
        <p:spPr>
          <a:xfrm>
            <a:off x="1097280" y="2971800"/>
            <a:ext cx="7589520" cy="0"/>
          </a:xfrm>
          <a:prstGeom prst="line">
            <a:avLst/>
          </a:prstGeom>
          <a:noFill/>
          <a:ln w="9525">
            <a:solidFill>
              <a:srgbClr val="3A3A3A"/>
            </a:solidFill>
            <a:prstDash val="solid"/>
          </a:ln>
        </p:spPr>
      </p:sp>
      <p:sp>
        <p:nvSpPr>
          <p:cNvPr id="18" name="Text 15"/>
          <p:cNvSpPr txBox="1"/>
          <p:nvPr/>
        </p:nvSpPr>
        <p:spPr>
          <a:xfrm>
            <a:off x="457200" y="2999232"/>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05</a:t>
            </a:r>
            <a:endParaRPr lang="en-US" sz="1800" dirty="0"/>
          </a:p>
        </p:txBody>
      </p:sp>
      <p:sp>
        <p:nvSpPr>
          <p:cNvPr id="19" name="Text 16"/>
          <p:cNvSpPr txBox="1"/>
          <p:nvPr/>
        </p:nvSpPr>
        <p:spPr>
          <a:xfrm>
            <a:off x="1097280" y="2999232"/>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How it runs, and how we read it</a:t>
            </a:r>
            <a:endParaRPr lang="en-US" sz="1300" dirty="0"/>
          </a:p>
        </p:txBody>
      </p:sp>
      <p:sp>
        <p:nvSpPr>
          <p:cNvPr id="20" name="Shape 17"/>
          <p:cNvSpPr/>
          <p:nvPr/>
        </p:nvSpPr>
        <p:spPr>
          <a:xfrm>
            <a:off x="1097280" y="3447288"/>
            <a:ext cx="7589520" cy="0"/>
          </a:xfrm>
          <a:prstGeom prst="line">
            <a:avLst/>
          </a:prstGeom>
          <a:noFill/>
          <a:ln w="9525">
            <a:solidFill>
              <a:srgbClr val="3A3A3A"/>
            </a:solidFill>
            <a:prstDash val="solid"/>
          </a:ln>
        </p:spPr>
      </p:sp>
      <p:sp>
        <p:nvSpPr>
          <p:cNvPr id="21" name="Text 18"/>
          <p:cNvSpPr txBox="1"/>
          <p:nvPr/>
        </p:nvSpPr>
        <p:spPr>
          <a:xfrm>
            <a:off x="457200" y="3474720"/>
            <a:ext cx="548640" cy="420624"/>
          </a:xfrm>
          <a:prstGeom prst="rect">
            <a:avLst/>
          </a:prstGeom>
          <a:noFill/>
          <a:ln/>
        </p:spPr>
        <p:txBody>
          <a:bodyPr wrap="square" lIns="0" tIns="0" rIns="0" bIns="0" rtlCol="0" anchor="ctr"/>
          <a:lstStyle/>
          <a:p>
            <a:pPr indent="0" marL="0">
              <a:buNone/>
            </a:pPr>
            <a:r>
              <a:rPr lang="en-US" sz="1800" dirty="0">
                <a:solidFill>
                  <a:srgbClr val="FFC63E"/>
                </a:solidFill>
                <a:latin typeface="Poppins ExtraBold" pitchFamily="34" charset="0"/>
                <a:ea typeface="Poppins ExtraBold" pitchFamily="34" charset="-122"/>
                <a:cs typeface="Poppins ExtraBold" pitchFamily="34" charset="-120"/>
              </a:rPr>
              <a:t>06</a:t>
            </a:r>
            <a:endParaRPr lang="en-US" sz="1800" dirty="0"/>
          </a:p>
        </p:txBody>
      </p:sp>
      <p:sp>
        <p:nvSpPr>
          <p:cNvPr id="22" name="Text 19"/>
          <p:cNvSpPr txBox="1"/>
          <p:nvPr/>
        </p:nvSpPr>
        <p:spPr>
          <a:xfrm>
            <a:off x="1097280" y="3474720"/>
            <a:ext cx="6858000" cy="420624"/>
          </a:xfrm>
          <a:prstGeom prst="rect">
            <a:avLst/>
          </a:prstGeom>
          <a:noFill/>
          <a:ln/>
        </p:spPr>
        <p:txBody>
          <a:bodyPr wrap="square" lIns="0" tIns="0" rIns="0" bIns="0" rtlCol="0" anchor="ctr"/>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Where we go next</a:t>
            </a:r>
            <a:endParaRPr lang="en-US" sz="1300" dirty="0"/>
          </a:p>
        </p:txBody>
      </p:sp>
      <p:sp>
        <p:nvSpPr>
          <p:cNvPr id="23" name="Text 20"/>
          <p:cNvSpPr txBox="1"/>
          <p:nvPr/>
        </p:nvSpPr>
        <p:spPr>
          <a:xfrm>
            <a:off x="1097280" y="4059936"/>
            <a:ext cx="6949440" cy="365760"/>
          </a:xfrm>
          <a:prstGeom prst="rect">
            <a:avLst/>
          </a:prstGeom>
          <a:noFill/>
          <a:ln/>
        </p:spPr>
        <p:txBody>
          <a:bodyPr wrap="square" lIns="0" tIns="0" rIns="0" bIns="0" rtlCol="0" anchor="t"/>
          <a:lstStyle/>
          <a:p>
            <a:pPr indent="0" marL="0">
              <a:buNone/>
            </a:pPr>
            <a:r>
              <a:rPr lang="en-US" sz="950" i="1" dirty="0">
                <a:solidFill>
                  <a:srgbClr val="A7A7A7"/>
                </a:solidFill>
                <a:latin typeface="Poppins" pitchFamily="34" charset="0"/>
                <a:ea typeface="Poppins" pitchFamily="34" charset="-122"/>
                <a:cs typeface="Poppins" pitchFamily="34" charset="-120"/>
              </a:rPr>
              <a:t>Twenty minutes at Adweek is enough. The audiences and the calendar are what carry it.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WHAT'S HAPPENING AT ACTIVISION RIGHT NOW</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FOUR SIGNALS FROM THE LAST NINE MONTHS · NUMBERED SOURCES ON PAGE 15</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3</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7" name="Shape 4"/>
          <p:cNvSpPr/>
          <p:nvPr/>
        </p:nvSpPr>
        <p:spPr>
          <a:xfrm>
            <a:off x="457200" y="1188720"/>
            <a:ext cx="1947672" cy="3246120"/>
          </a:xfrm>
          <a:prstGeom prst="rect">
            <a:avLst/>
          </a:prstGeom>
          <a:solidFill>
            <a:srgbClr val="262626"/>
          </a:solidFill>
          <a:ln w="12700">
            <a:solidFill>
              <a:srgbClr val="262626"/>
            </a:solidFill>
            <a:prstDash val="solid"/>
          </a:ln>
        </p:spPr>
      </p:sp>
      <p:sp>
        <p:nvSpPr>
          <p:cNvPr id="8" name="Text 5"/>
          <p:cNvSpPr txBox="1"/>
          <p:nvPr/>
        </p:nvSpPr>
        <p:spPr>
          <a:xfrm>
            <a:off x="603504"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JAN 2026</a:t>
            </a:r>
            <a:endParaRPr lang="en-US" sz="800" dirty="0"/>
          </a:p>
        </p:txBody>
      </p:sp>
      <p:sp>
        <p:nvSpPr>
          <p:cNvPr id="9" name="Text 6"/>
          <p:cNvSpPr txBox="1"/>
          <p:nvPr/>
        </p:nvSpPr>
        <p:spPr>
          <a:xfrm>
            <a:off x="603504"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Battlefield outsold Call of Duty in the US for the first time</a:t>
            </a:r>
            <a:endParaRPr lang="en-US" sz="1050" dirty="0"/>
          </a:p>
        </p:txBody>
      </p:sp>
      <p:sp>
        <p:nvSpPr>
          <p:cNvPr id="10" name="Text 7"/>
          <p:cNvSpPr txBox="1"/>
          <p:nvPr/>
        </p:nvSpPr>
        <p:spPr>
          <a:xfrm>
            <a:off x="603504"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Circana ranked Black Ops 7 fifth for 2025. Battlefield 6 was number one, after the biggest launch in its history. [1, 2]</a:t>
            </a:r>
            <a:endParaRPr lang="en-US" sz="800" dirty="0"/>
          </a:p>
        </p:txBody>
      </p:sp>
      <p:sp>
        <p:nvSpPr>
          <p:cNvPr id="11" name="Shape 8"/>
          <p:cNvSpPr/>
          <p:nvPr/>
        </p:nvSpPr>
        <p:spPr>
          <a:xfrm>
            <a:off x="566928" y="3364992"/>
            <a:ext cx="1728216" cy="960120"/>
          </a:xfrm>
          <a:prstGeom prst="rect">
            <a:avLst/>
          </a:prstGeom>
          <a:solidFill>
            <a:srgbClr val="2F2F2F"/>
          </a:solidFill>
          <a:ln w="12700">
            <a:solidFill>
              <a:srgbClr val="2F2F2F"/>
            </a:solidFill>
            <a:prstDash val="solid"/>
          </a:ln>
        </p:spPr>
      </p:sp>
      <p:sp>
        <p:nvSpPr>
          <p:cNvPr id="12" name="Text 9"/>
          <p:cNvSpPr txBox="1"/>
          <p:nvPr/>
        </p:nvSpPr>
        <p:spPr>
          <a:xfrm>
            <a:off x="658368"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13" name="Text 10"/>
          <p:cNvSpPr txBox="1"/>
          <p:nvPr/>
        </p:nvSpPr>
        <p:spPr>
          <a:xfrm>
            <a:off x="658368"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The conquest pool has a name: Battlefield players. They're on their phones every day.</a:t>
            </a:r>
            <a:endParaRPr lang="en-US" sz="800" dirty="0"/>
          </a:p>
        </p:txBody>
      </p:sp>
      <p:sp>
        <p:nvSpPr>
          <p:cNvPr id="14" name="Shape 11"/>
          <p:cNvSpPr/>
          <p:nvPr/>
        </p:nvSpPr>
        <p:spPr>
          <a:xfrm>
            <a:off x="2551176" y="1188720"/>
            <a:ext cx="1947672" cy="3246120"/>
          </a:xfrm>
          <a:prstGeom prst="rect">
            <a:avLst/>
          </a:prstGeom>
          <a:solidFill>
            <a:srgbClr val="262626"/>
          </a:solidFill>
          <a:ln w="12700">
            <a:solidFill>
              <a:srgbClr val="262626"/>
            </a:solidFill>
            <a:prstDash val="solid"/>
          </a:ln>
        </p:spPr>
      </p:sp>
      <p:sp>
        <p:nvSpPr>
          <p:cNvPr id="15" name="Text 12"/>
          <p:cNvSpPr txBox="1"/>
          <p:nvPr/>
        </p:nvSpPr>
        <p:spPr>
          <a:xfrm>
            <a:off x="2697480"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OCT 23, 2026</a:t>
            </a:r>
            <a:endParaRPr lang="en-US" sz="800" dirty="0"/>
          </a:p>
        </p:txBody>
      </p:sp>
      <p:sp>
        <p:nvSpPr>
          <p:cNvPr id="16" name="Text 13"/>
          <p:cNvSpPr txBox="1"/>
          <p:nvPr/>
        </p:nvSpPr>
        <p:spPr>
          <a:xfrm>
            <a:off x="2697480"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MW4 at $70, and no Game Pass on day one</a:t>
            </a:r>
            <a:endParaRPr lang="en-US" sz="1050" dirty="0"/>
          </a:p>
        </p:txBody>
      </p:sp>
      <p:sp>
        <p:nvSpPr>
          <p:cNvPr id="17" name="Text 14"/>
          <p:cNvSpPr txBox="1"/>
          <p:nvPr/>
        </p:nvSpPr>
        <p:spPr>
          <a:xfrm>
            <a:off x="2697480"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It's the first mainline Call of Duty since the Microsoft deal to skip Game Pass at launch. Pre-orders unlock the campaign Oct 16. [3, 4]</a:t>
            </a:r>
            <a:endParaRPr lang="en-US" sz="800" dirty="0"/>
          </a:p>
        </p:txBody>
      </p:sp>
      <p:sp>
        <p:nvSpPr>
          <p:cNvPr id="18" name="Shape 15"/>
          <p:cNvSpPr/>
          <p:nvPr/>
        </p:nvSpPr>
        <p:spPr>
          <a:xfrm>
            <a:off x="2660904" y="3364992"/>
            <a:ext cx="1728216" cy="960120"/>
          </a:xfrm>
          <a:prstGeom prst="rect">
            <a:avLst/>
          </a:prstGeom>
          <a:solidFill>
            <a:srgbClr val="2F2F2F"/>
          </a:solidFill>
          <a:ln w="12700">
            <a:solidFill>
              <a:srgbClr val="2F2F2F"/>
            </a:solidFill>
            <a:prstDash val="solid"/>
          </a:ln>
        </p:spPr>
      </p:sp>
      <p:sp>
        <p:nvSpPr>
          <p:cNvPr id="19" name="Text 16"/>
          <p:cNvSpPr txBox="1"/>
          <p:nvPr/>
        </p:nvSpPr>
        <p:spPr>
          <a:xfrm>
            <a:off x="2752344"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20" name="Text 17"/>
          <p:cNvSpPr txBox="1"/>
          <p:nvPr/>
        </p:nvSpPr>
        <p:spPr>
          <a:xfrm>
            <a:off x="2752344"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Lapsed Game Pass players now have to buy. That's a persuasion job, and a household one.</a:t>
            </a:r>
            <a:endParaRPr lang="en-US" sz="800" dirty="0"/>
          </a:p>
        </p:txBody>
      </p:sp>
      <p:sp>
        <p:nvSpPr>
          <p:cNvPr id="21" name="Shape 18"/>
          <p:cNvSpPr/>
          <p:nvPr/>
        </p:nvSpPr>
        <p:spPr>
          <a:xfrm>
            <a:off x="4645152" y="1188720"/>
            <a:ext cx="1947672" cy="3246120"/>
          </a:xfrm>
          <a:prstGeom prst="rect">
            <a:avLst/>
          </a:prstGeom>
          <a:solidFill>
            <a:srgbClr val="262626"/>
          </a:solidFill>
          <a:ln w="12700">
            <a:solidFill>
              <a:srgbClr val="262626"/>
            </a:solidFill>
            <a:prstDash val="solid"/>
          </a:ln>
        </p:spPr>
      </p:sp>
      <p:sp>
        <p:nvSpPr>
          <p:cNvPr id="22" name="Text 19"/>
          <p:cNvSpPr txBox="1"/>
          <p:nvPr/>
        </p:nvSpPr>
        <p:spPr>
          <a:xfrm>
            <a:off x="4791456"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OCT 16, 2026</a:t>
            </a:r>
            <a:endParaRPr lang="en-US" sz="800" dirty="0"/>
          </a:p>
        </p:txBody>
      </p:sp>
      <p:sp>
        <p:nvSpPr>
          <p:cNvPr id="23" name="Text 20"/>
          <p:cNvSpPr txBox="1"/>
          <p:nvPr/>
        </p:nvSpPr>
        <p:spPr>
          <a:xfrm>
            <a:off x="4791456"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Call of Duty returns to Nintendo after 13 years</a:t>
            </a:r>
            <a:endParaRPr lang="en-US" sz="1050" dirty="0"/>
          </a:p>
        </p:txBody>
      </p:sp>
      <p:sp>
        <p:nvSpPr>
          <p:cNvPr id="24" name="Text 21"/>
          <p:cNvSpPr txBox="1"/>
          <p:nvPr/>
        </p:nvSpPr>
        <p:spPr>
          <a:xfrm>
            <a:off x="4791456"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MW4 is the series' first Nintendo release since 2013. It's a code-in-box launch on Switch 2, after an open beta there in August. [5]</a:t>
            </a:r>
            <a:endParaRPr lang="en-US" sz="800" dirty="0"/>
          </a:p>
        </p:txBody>
      </p:sp>
      <p:sp>
        <p:nvSpPr>
          <p:cNvPr id="25" name="Shape 22"/>
          <p:cNvSpPr/>
          <p:nvPr/>
        </p:nvSpPr>
        <p:spPr>
          <a:xfrm>
            <a:off x="4754880" y="3364992"/>
            <a:ext cx="1728216" cy="960120"/>
          </a:xfrm>
          <a:prstGeom prst="rect">
            <a:avLst/>
          </a:prstGeom>
          <a:solidFill>
            <a:srgbClr val="2F2F2F"/>
          </a:solidFill>
          <a:ln w="12700">
            <a:solidFill>
              <a:srgbClr val="2F2F2F"/>
            </a:solidFill>
            <a:prstDash val="solid"/>
          </a:ln>
        </p:spPr>
      </p:sp>
      <p:sp>
        <p:nvSpPr>
          <p:cNvPr id="26" name="Text 23"/>
          <p:cNvSpPr txBox="1"/>
          <p:nvPr/>
        </p:nvSpPr>
        <p:spPr>
          <a:xfrm>
            <a:off x="4846320"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27" name="Text 24"/>
          <p:cNvSpPr txBox="1"/>
          <p:nvPr/>
        </p:nvSpPr>
        <p:spPr>
          <a:xfrm>
            <a:off x="4846320"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A brand-new buyer who has never owned Call of Duty. Sabio already builds Switch 2 player audiences.</a:t>
            </a:r>
            <a:endParaRPr lang="en-US" sz="800" dirty="0"/>
          </a:p>
        </p:txBody>
      </p:sp>
      <p:sp>
        <p:nvSpPr>
          <p:cNvPr id="28" name="Shape 25"/>
          <p:cNvSpPr/>
          <p:nvPr/>
        </p:nvSpPr>
        <p:spPr>
          <a:xfrm>
            <a:off x="6739128" y="1188720"/>
            <a:ext cx="1947672" cy="3246120"/>
          </a:xfrm>
          <a:prstGeom prst="rect">
            <a:avLst/>
          </a:prstGeom>
          <a:solidFill>
            <a:srgbClr val="262626"/>
          </a:solidFill>
          <a:ln w="12700">
            <a:solidFill>
              <a:srgbClr val="262626"/>
            </a:solidFill>
            <a:prstDash val="solid"/>
          </a:ln>
        </p:spPr>
      </p:sp>
      <p:sp>
        <p:nvSpPr>
          <p:cNvPr id="29" name="Text 26"/>
          <p:cNvSpPr txBox="1"/>
          <p:nvPr/>
        </p:nvSpPr>
        <p:spPr>
          <a:xfrm>
            <a:off x="6885432" y="1335024"/>
            <a:ext cx="1655064" cy="201168"/>
          </a:xfrm>
          <a:prstGeom prst="rect">
            <a:avLst/>
          </a:prstGeom>
          <a:noFill/>
          <a:ln/>
        </p:spPr>
        <p:txBody>
          <a:bodyPr wrap="square" lIns="0" tIns="0" rIns="0" bIns="0" rtlCol="0" anchor="t"/>
          <a:lstStyle/>
          <a:p>
            <a:pPr indent="0" marL="0">
              <a:buNone/>
            </a:pPr>
            <a:r>
              <a:rPr lang="en-US" sz="800" spc="100" kern="0" dirty="0">
                <a:solidFill>
                  <a:srgbClr val="FFC63E"/>
                </a:solidFill>
                <a:latin typeface="Poppins SemiBold" pitchFamily="34" charset="0"/>
                <a:ea typeface="Poppins SemiBold" pitchFamily="34" charset="-122"/>
                <a:cs typeface="Poppins SemiBold" pitchFamily="34" charset="-120"/>
              </a:rPr>
              <a:t>NOV 19, 2026</a:t>
            </a:r>
            <a:endParaRPr lang="en-US" sz="800" dirty="0"/>
          </a:p>
        </p:txBody>
      </p:sp>
      <p:sp>
        <p:nvSpPr>
          <p:cNvPr id="30" name="Text 27"/>
          <p:cNvSpPr txBox="1"/>
          <p:nvPr/>
        </p:nvSpPr>
        <p:spPr>
          <a:xfrm>
            <a:off x="6885432" y="1572768"/>
            <a:ext cx="1655064" cy="658368"/>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GTA VI launches into an otherwise empty November</a:t>
            </a:r>
            <a:endParaRPr lang="en-US" sz="1050" dirty="0"/>
          </a:p>
        </p:txBody>
      </p:sp>
      <p:sp>
        <p:nvSpPr>
          <p:cNvPr id="31" name="Text 28"/>
          <p:cNvSpPr txBox="1"/>
          <p:nvPr/>
        </p:nvSpPr>
        <p:spPr>
          <a:xfrm>
            <a:off x="6885432" y="2258568"/>
            <a:ext cx="1655064" cy="105156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Activision moved MW4 into October to stay out of its way. It's the only major release in the month. [6]</a:t>
            </a:r>
            <a:endParaRPr lang="en-US" sz="800" dirty="0"/>
          </a:p>
        </p:txBody>
      </p:sp>
      <p:sp>
        <p:nvSpPr>
          <p:cNvPr id="32" name="Shape 29"/>
          <p:cNvSpPr/>
          <p:nvPr/>
        </p:nvSpPr>
        <p:spPr>
          <a:xfrm>
            <a:off x="6848856" y="3364992"/>
            <a:ext cx="1728216" cy="960120"/>
          </a:xfrm>
          <a:prstGeom prst="rect">
            <a:avLst/>
          </a:prstGeom>
          <a:solidFill>
            <a:srgbClr val="2F2F2F"/>
          </a:solidFill>
          <a:ln w="12700">
            <a:solidFill>
              <a:srgbClr val="2F2F2F"/>
            </a:solidFill>
            <a:prstDash val="solid"/>
          </a:ln>
        </p:spPr>
      </p:sp>
      <p:sp>
        <p:nvSpPr>
          <p:cNvPr id="33" name="Text 30"/>
          <p:cNvSpPr txBox="1"/>
          <p:nvPr/>
        </p:nvSpPr>
        <p:spPr>
          <a:xfrm>
            <a:off x="6940296" y="3438144"/>
            <a:ext cx="1545336" cy="164592"/>
          </a:xfrm>
          <a:prstGeom prst="rect">
            <a:avLst/>
          </a:prstGeom>
          <a:noFill/>
          <a:ln/>
        </p:spPr>
        <p:txBody>
          <a:bodyPr wrap="square" lIns="0" tIns="0" rIns="0" bIns="0" rtlCol="0" anchor="t"/>
          <a:lstStyle/>
          <a:p>
            <a:pPr indent="0" marL="0">
              <a:buNone/>
            </a:pPr>
            <a:r>
              <a:rPr lang="en-US" sz="700" spc="100" kern="0" dirty="0">
                <a:solidFill>
                  <a:srgbClr val="FFC63E"/>
                </a:solidFill>
                <a:latin typeface="Poppins SemiBold" pitchFamily="34" charset="0"/>
                <a:ea typeface="Poppins SemiBold" pitchFamily="34" charset="-122"/>
                <a:cs typeface="Poppins SemiBold" pitchFamily="34" charset="-120"/>
              </a:rPr>
              <a:t>WHAT IT MEANS</a:t>
            </a:r>
            <a:endParaRPr lang="en-US" sz="700" dirty="0"/>
          </a:p>
        </p:txBody>
      </p:sp>
      <p:sp>
        <p:nvSpPr>
          <p:cNvPr id="34" name="Text 31"/>
          <p:cNvSpPr txBox="1"/>
          <p:nvPr/>
        </p:nvSpPr>
        <p:spPr>
          <a:xfrm>
            <a:off x="6940296" y="3621024"/>
            <a:ext cx="1545336" cy="676656"/>
          </a:xfrm>
          <a:prstGeom prst="rect">
            <a:avLst/>
          </a:prstGeom>
          <a:noFill/>
          <a:ln/>
        </p:spPr>
        <p:txBody>
          <a:bodyPr wrap="square" lIns="0" tIns="0" rIns="0" bIns="0" rtlCol="0" anchor="t"/>
          <a:lstStyle/>
          <a:p>
            <a:pPr indent="0" marL="0">
              <a:buNone/>
            </a:pPr>
            <a:r>
              <a:rPr lang="en-US" sz="800" dirty="0">
                <a:solidFill>
                  <a:srgbClr val="FFFFFF"/>
                </a:solidFill>
                <a:latin typeface="Poppins" pitchFamily="34" charset="0"/>
                <a:ea typeface="Poppins" pitchFamily="34" charset="-122"/>
                <a:cs typeface="Poppins" pitchFamily="34" charset="-120"/>
              </a:rPr>
              <a:t>The window to win players, and keep them playing, closes in 27 days.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THE OPENING: CONQUEST AND WIN-BACK</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WHY MW4'S MEDIA SHOULD CHASE THE SWING HOUSEHOLDS, NOT THE LOYAL ONES</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4</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7" name="Shape 4"/>
          <p:cNvSpPr/>
          <p:nvPr/>
        </p:nvSpPr>
        <p:spPr>
          <a:xfrm>
            <a:off x="457200" y="1188720"/>
            <a:ext cx="3291840" cy="3246120"/>
          </a:xfrm>
          <a:prstGeom prst="rect">
            <a:avLst/>
          </a:prstGeom>
          <a:solidFill>
            <a:srgbClr val="262626"/>
          </a:solidFill>
          <a:ln w="12700">
            <a:solidFill>
              <a:srgbClr val="262626"/>
            </a:solidFill>
            <a:prstDash val="solid"/>
          </a:ln>
        </p:spPr>
      </p:sp>
      <p:sp>
        <p:nvSpPr>
          <p:cNvPr id="8" name="Text 5"/>
          <p:cNvSpPr txBox="1"/>
          <p:nvPr/>
        </p:nvSpPr>
        <p:spPr>
          <a:xfrm>
            <a:off x="685800" y="1371600"/>
            <a:ext cx="2926080" cy="1188720"/>
          </a:xfrm>
          <a:prstGeom prst="rect">
            <a:avLst/>
          </a:prstGeom>
          <a:noFill/>
          <a:ln/>
        </p:spPr>
        <p:txBody>
          <a:bodyPr wrap="square" lIns="0" tIns="0" rIns="0" bIns="0" rtlCol="0" anchor="ctr"/>
          <a:lstStyle/>
          <a:p>
            <a:pPr indent="0" marL="0">
              <a:buNone/>
            </a:pPr>
            <a:r>
              <a:rPr lang="en-US" sz="5400" dirty="0">
                <a:solidFill>
                  <a:srgbClr val="FFC63E"/>
                </a:solidFill>
                <a:latin typeface="Poppins ExtraBold" pitchFamily="34" charset="0"/>
                <a:ea typeface="Poppins ExtraBold" pitchFamily="34" charset="-122"/>
                <a:cs typeface="Poppins ExtraBold" pitchFamily="34" charset="-120"/>
              </a:rPr>
              <a:t>#5</a:t>
            </a:r>
            <a:endParaRPr lang="en-US" sz="5400" dirty="0"/>
          </a:p>
        </p:txBody>
      </p:sp>
      <p:sp>
        <p:nvSpPr>
          <p:cNvPr id="9" name="Text 6"/>
          <p:cNvSpPr txBox="1"/>
          <p:nvPr/>
        </p:nvSpPr>
        <p:spPr>
          <a:xfrm>
            <a:off x="685800" y="2606040"/>
            <a:ext cx="2834640" cy="914400"/>
          </a:xfrm>
          <a:prstGeom prst="rect">
            <a:avLst/>
          </a:prstGeom>
          <a:noFill/>
          <a:ln/>
        </p:spPr>
        <p:txBody>
          <a:bodyPr wrap="square" lIns="0" tIns="0" rIns="0" bIns="0" rtlCol="0" anchor="t"/>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Where Black Ops 7 finished in US 2025 sales. Battlefield 6 was number one.</a:t>
            </a:r>
            <a:endParaRPr lang="en-US" sz="1100" dirty="0"/>
          </a:p>
        </p:txBody>
      </p:sp>
      <p:sp>
        <p:nvSpPr>
          <p:cNvPr id="10" name="Text 7"/>
          <p:cNvSpPr txBox="1"/>
          <p:nvPr/>
        </p:nvSpPr>
        <p:spPr>
          <a:xfrm>
            <a:off x="685800" y="3977640"/>
            <a:ext cx="2834640" cy="365760"/>
          </a:xfrm>
          <a:prstGeom prst="rect">
            <a:avLst/>
          </a:prstGeom>
          <a:noFill/>
          <a:ln/>
        </p:spPr>
        <p:txBody>
          <a:bodyPr wrap="square" lIns="0" tIns="0" rIns="0" bIns="0" rtlCol="0" anchor="b"/>
          <a:lstStyle/>
          <a:p>
            <a:pPr indent="0" marL="0">
              <a:buNone/>
            </a:pPr>
            <a:r>
              <a:rPr lang="en-US" sz="700" dirty="0">
                <a:solidFill>
                  <a:srgbClr val="7E7E7E"/>
                </a:solidFill>
                <a:latin typeface="Poppins" pitchFamily="34" charset="0"/>
                <a:ea typeface="Poppins" pitchFamily="34" charset="-122"/>
                <a:cs typeface="Poppins" pitchFamily="34" charset="-120"/>
              </a:rPr>
              <a:t>Sources 1, 2 (Circana via VGC and Game World Observer)</a:t>
            </a:r>
            <a:endParaRPr lang="en-US" sz="700" dirty="0"/>
          </a:p>
        </p:txBody>
      </p:sp>
      <p:sp>
        <p:nvSpPr>
          <p:cNvPr id="11" name="Text 8"/>
          <p:cNvSpPr txBox="1"/>
          <p:nvPr/>
        </p:nvSpPr>
        <p:spPr>
          <a:xfrm>
            <a:off x="4023360" y="1188720"/>
            <a:ext cx="4663440" cy="822960"/>
          </a:xfrm>
          <a:prstGeom prst="rect">
            <a:avLst/>
          </a:prstGeom>
          <a:noFill/>
          <a:ln/>
        </p:spPr>
        <p:txBody>
          <a:bodyPr wrap="square" lIns="0" tIns="0" rIns="0" bIns="0" rtlCol="0" anchor="t"/>
          <a:lstStyle/>
          <a:p>
            <a:pPr indent="0" marL="0">
              <a:buNone/>
            </a:pPr>
            <a:r>
              <a:rPr lang="en-US" sz="1600" dirty="0">
                <a:solidFill>
                  <a:srgbClr val="FFFFFF"/>
                </a:solidFill>
                <a:latin typeface="Poppins ExtraBold" pitchFamily="34" charset="0"/>
                <a:ea typeface="Poppins ExtraBold" pitchFamily="34" charset="-122"/>
                <a:cs typeface="Poppins ExtraBold" pitchFamily="34" charset="-120"/>
              </a:rPr>
              <a:t>We think MW4 is won on conquest and win-back, not on the core.</a:t>
            </a:r>
            <a:endParaRPr lang="en-US" sz="1600" dirty="0"/>
          </a:p>
        </p:txBody>
      </p:sp>
      <p:sp>
        <p:nvSpPr>
          <p:cNvPr id="12" name="Text 9"/>
          <p:cNvSpPr txBox="1"/>
          <p:nvPr/>
        </p:nvSpPr>
        <p:spPr>
          <a:xfrm>
            <a:off x="4023360" y="2103120"/>
            <a:ext cx="466344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THE CORE IS LOCKED</a:t>
            </a:r>
            <a:endParaRPr lang="en-US" sz="850" dirty="0"/>
          </a:p>
        </p:txBody>
      </p:sp>
      <p:sp>
        <p:nvSpPr>
          <p:cNvPr id="13" name="Text 10"/>
          <p:cNvSpPr txBox="1"/>
          <p:nvPr/>
        </p:nvSpPr>
        <p:spPr>
          <a:xfrm>
            <a:off x="4023360" y="2331720"/>
            <a:ext cx="4663440" cy="502920"/>
          </a:xfrm>
          <a:prstGeom prst="rect">
            <a:avLst/>
          </a:prstGeom>
          <a:noFill/>
          <a:ln/>
        </p:spPr>
        <p:txBody>
          <a:bodyPr wrap="square" lIns="0" tIns="0" rIns="0" bIns="0" rtlCol="0" anchor="t"/>
          <a:lstStyle/>
          <a:p>
            <a:pPr indent="0" marL="0">
              <a:buNone/>
            </a:pPr>
            <a:r>
              <a:rPr lang="en-US" sz="950" dirty="0">
                <a:solidFill>
                  <a:srgbClr val="E3E3E3"/>
                </a:solidFill>
                <a:latin typeface="Poppins" pitchFamily="34" charset="0"/>
                <a:ea typeface="Poppins" pitchFamily="34" charset="-122"/>
                <a:cs typeface="Poppins" pitchFamily="34" charset="-120"/>
              </a:rPr>
              <a:t>Franchise players will show up on Oct 16. Budget spent re-reaching them is budget not spent on the homes that decide the launch.</a:t>
            </a:r>
            <a:endParaRPr lang="en-US" sz="950" dirty="0"/>
          </a:p>
        </p:txBody>
      </p:sp>
      <p:sp>
        <p:nvSpPr>
          <p:cNvPr id="14" name="Text 11"/>
          <p:cNvSpPr txBox="1"/>
          <p:nvPr/>
        </p:nvSpPr>
        <p:spPr>
          <a:xfrm>
            <a:off x="4023360" y="2880360"/>
            <a:ext cx="466344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THE SWING IS NAMED</a:t>
            </a:r>
            <a:endParaRPr lang="en-US" sz="850" dirty="0"/>
          </a:p>
        </p:txBody>
      </p:sp>
      <p:sp>
        <p:nvSpPr>
          <p:cNvPr id="15" name="Text 12"/>
          <p:cNvSpPr txBox="1"/>
          <p:nvPr/>
        </p:nvSpPr>
        <p:spPr>
          <a:xfrm>
            <a:off x="4023360" y="3108960"/>
            <a:ext cx="4663440" cy="502920"/>
          </a:xfrm>
          <a:prstGeom prst="rect">
            <a:avLst/>
          </a:prstGeom>
          <a:noFill/>
          <a:ln/>
        </p:spPr>
        <p:txBody>
          <a:bodyPr wrap="square" lIns="0" tIns="0" rIns="0" bIns="0" rtlCol="0" anchor="t"/>
          <a:lstStyle/>
          <a:p>
            <a:pPr indent="0" marL="0">
              <a:buNone/>
            </a:pPr>
            <a:r>
              <a:rPr lang="en-US" sz="950" dirty="0">
                <a:solidFill>
                  <a:srgbClr val="E3E3E3"/>
                </a:solidFill>
                <a:latin typeface="Poppins" pitchFamily="34" charset="0"/>
                <a:ea typeface="Poppins" pitchFamily="34" charset="-122"/>
                <a:cs typeface="Poppins" pitchFamily="34" charset="-120"/>
              </a:rPr>
              <a:t>Battlefield players, lapsed Black Ops 7 and Game Pass homes, and new Switch 2 owners. Each is an app ecosystem we can see on the phone.</a:t>
            </a:r>
            <a:endParaRPr lang="en-US" sz="950" dirty="0"/>
          </a:p>
        </p:txBody>
      </p:sp>
      <p:sp>
        <p:nvSpPr>
          <p:cNvPr id="16" name="Text 13"/>
          <p:cNvSpPr txBox="1"/>
          <p:nvPr/>
        </p:nvSpPr>
        <p:spPr>
          <a:xfrm>
            <a:off x="4023360" y="3657600"/>
            <a:ext cx="466344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THE CLOCK IS SHORT</a:t>
            </a:r>
            <a:endParaRPr lang="en-US" sz="850" dirty="0"/>
          </a:p>
        </p:txBody>
      </p:sp>
      <p:sp>
        <p:nvSpPr>
          <p:cNvPr id="17" name="Text 14"/>
          <p:cNvSpPr txBox="1"/>
          <p:nvPr/>
        </p:nvSpPr>
        <p:spPr>
          <a:xfrm>
            <a:off x="4023360" y="3886200"/>
            <a:ext cx="4663440" cy="502920"/>
          </a:xfrm>
          <a:prstGeom prst="rect">
            <a:avLst/>
          </a:prstGeom>
          <a:noFill/>
          <a:ln/>
        </p:spPr>
        <p:txBody>
          <a:bodyPr wrap="square" lIns="0" tIns="0" rIns="0" bIns="0" rtlCol="0" anchor="t"/>
          <a:lstStyle/>
          <a:p>
            <a:pPr indent="0" marL="0">
              <a:buNone/>
            </a:pPr>
            <a:r>
              <a:rPr lang="en-US" sz="950" dirty="0">
                <a:solidFill>
                  <a:srgbClr val="E3E3E3"/>
                </a:solidFill>
                <a:latin typeface="Poppins" pitchFamily="34" charset="0"/>
                <a:ea typeface="Poppins" pitchFamily="34" charset="-122"/>
                <a:cs typeface="Poppins" pitchFamily="34" charset="-120"/>
              </a:rPr>
              <a:t>Pre-order push to Oct 16, launch on Oct 23, hold players to Nov 19. Three flights, one audience plan.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SABIO AT A GLANCE</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BUILT ON OUR OWN DATA, TECH AND CONTENT SINCE 2014</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5</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7" name="Shape 4"/>
          <p:cNvSpPr/>
          <p:nvPr/>
        </p:nvSpPr>
        <p:spPr>
          <a:xfrm>
            <a:off x="457200" y="1170432"/>
            <a:ext cx="1558138" cy="1024128"/>
          </a:xfrm>
          <a:prstGeom prst="rect">
            <a:avLst/>
          </a:prstGeom>
          <a:solidFill>
            <a:srgbClr val="262626"/>
          </a:solidFill>
          <a:ln w="12700">
            <a:solidFill>
              <a:srgbClr val="262626"/>
            </a:solidFill>
            <a:prstDash val="solid"/>
          </a:ln>
        </p:spPr>
      </p:sp>
      <p:sp>
        <p:nvSpPr>
          <p:cNvPr id="8" name="Text 5"/>
          <p:cNvSpPr txBox="1"/>
          <p:nvPr/>
        </p:nvSpPr>
        <p:spPr>
          <a:xfrm>
            <a:off x="566928"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2014</a:t>
            </a:r>
            <a:endParaRPr lang="en-US" sz="2200" dirty="0"/>
          </a:p>
        </p:txBody>
      </p:sp>
      <p:sp>
        <p:nvSpPr>
          <p:cNvPr id="9" name="Text 6"/>
          <p:cNvSpPr txBox="1"/>
          <p:nvPr/>
        </p:nvSpPr>
        <p:spPr>
          <a:xfrm>
            <a:off x="566928"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Founded in LA by mobile &amp; TV veterans</a:t>
            </a:r>
            <a:endParaRPr lang="en-US" sz="750" dirty="0"/>
          </a:p>
        </p:txBody>
      </p:sp>
      <p:sp>
        <p:nvSpPr>
          <p:cNvPr id="10" name="Shape 7"/>
          <p:cNvSpPr/>
          <p:nvPr/>
        </p:nvSpPr>
        <p:spPr>
          <a:xfrm>
            <a:off x="2125066" y="1170432"/>
            <a:ext cx="1558138" cy="1024128"/>
          </a:xfrm>
          <a:prstGeom prst="rect">
            <a:avLst/>
          </a:prstGeom>
          <a:solidFill>
            <a:srgbClr val="262626"/>
          </a:solidFill>
          <a:ln w="12700">
            <a:solidFill>
              <a:srgbClr val="262626"/>
            </a:solidFill>
            <a:prstDash val="solid"/>
          </a:ln>
        </p:spPr>
      </p:sp>
      <p:sp>
        <p:nvSpPr>
          <p:cNvPr id="11" name="Text 8"/>
          <p:cNvSpPr txBox="1"/>
          <p:nvPr/>
        </p:nvSpPr>
        <p:spPr>
          <a:xfrm>
            <a:off x="2234794"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280MM</a:t>
            </a:r>
            <a:endParaRPr lang="en-US" sz="2200" dirty="0"/>
          </a:p>
        </p:txBody>
      </p:sp>
      <p:sp>
        <p:nvSpPr>
          <p:cNvPr id="12" name="Text 9"/>
          <p:cNvSpPr txBox="1"/>
          <p:nvPr/>
        </p:nvSpPr>
        <p:spPr>
          <a:xfrm>
            <a:off x="2234794"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Mobile devices observed by App Science®</a:t>
            </a:r>
            <a:endParaRPr lang="en-US" sz="750" dirty="0"/>
          </a:p>
        </p:txBody>
      </p:sp>
      <p:sp>
        <p:nvSpPr>
          <p:cNvPr id="13" name="Shape 10"/>
          <p:cNvSpPr/>
          <p:nvPr/>
        </p:nvSpPr>
        <p:spPr>
          <a:xfrm>
            <a:off x="3792931" y="1170432"/>
            <a:ext cx="1558138" cy="1024128"/>
          </a:xfrm>
          <a:prstGeom prst="rect">
            <a:avLst/>
          </a:prstGeom>
          <a:solidFill>
            <a:srgbClr val="262626"/>
          </a:solidFill>
          <a:ln w="12700">
            <a:solidFill>
              <a:srgbClr val="262626"/>
            </a:solidFill>
            <a:prstDash val="solid"/>
          </a:ln>
        </p:spPr>
      </p:sp>
      <p:sp>
        <p:nvSpPr>
          <p:cNvPr id="14" name="Text 11"/>
          <p:cNvSpPr txBox="1"/>
          <p:nvPr/>
        </p:nvSpPr>
        <p:spPr>
          <a:xfrm>
            <a:off x="3902659"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115MM</a:t>
            </a:r>
            <a:endParaRPr lang="en-US" sz="2200" dirty="0"/>
          </a:p>
        </p:txBody>
      </p:sp>
      <p:sp>
        <p:nvSpPr>
          <p:cNvPr id="15" name="Text 12"/>
          <p:cNvSpPr txBox="1"/>
          <p:nvPr/>
        </p:nvSpPr>
        <p:spPr>
          <a:xfrm>
            <a:off x="3902659"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CTV devices across 80MM validated households</a:t>
            </a:r>
            <a:endParaRPr lang="en-US" sz="750" dirty="0"/>
          </a:p>
        </p:txBody>
      </p:sp>
      <p:sp>
        <p:nvSpPr>
          <p:cNvPr id="16" name="Shape 13"/>
          <p:cNvSpPr/>
          <p:nvPr/>
        </p:nvSpPr>
        <p:spPr>
          <a:xfrm>
            <a:off x="5460797" y="1170432"/>
            <a:ext cx="1558138" cy="1024128"/>
          </a:xfrm>
          <a:prstGeom prst="rect">
            <a:avLst/>
          </a:prstGeom>
          <a:solidFill>
            <a:srgbClr val="262626"/>
          </a:solidFill>
          <a:ln w="12700">
            <a:solidFill>
              <a:srgbClr val="262626"/>
            </a:solidFill>
            <a:prstDash val="solid"/>
          </a:ln>
        </p:spPr>
      </p:sp>
      <p:sp>
        <p:nvSpPr>
          <p:cNvPr id="17" name="Text 14"/>
          <p:cNvSpPr txBox="1"/>
          <p:nvPr/>
        </p:nvSpPr>
        <p:spPr>
          <a:xfrm>
            <a:off x="5570525"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70%</a:t>
            </a:r>
            <a:endParaRPr lang="en-US" sz="2200" dirty="0"/>
          </a:p>
        </p:txBody>
      </p:sp>
      <p:sp>
        <p:nvSpPr>
          <p:cNvPr id="18" name="Text 15"/>
          <p:cNvSpPr txBox="1"/>
          <p:nvPr/>
        </p:nvSpPr>
        <p:spPr>
          <a:xfrm>
            <a:off x="5570525"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Of US streaming homes reached</a:t>
            </a:r>
            <a:endParaRPr lang="en-US" sz="750" dirty="0"/>
          </a:p>
        </p:txBody>
      </p:sp>
      <p:sp>
        <p:nvSpPr>
          <p:cNvPr id="19" name="Shape 16"/>
          <p:cNvSpPr/>
          <p:nvPr/>
        </p:nvSpPr>
        <p:spPr>
          <a:xfrm>
            <a:off x="7128662" y="1170432"/>
            <a:ext cx="1558138" cy="1024128"/>
          </a:xfrm>
          <a:prstGeom prst="rect">
            <a:avLst/>
          </a:prstGeom>
          <a:solidFill>
            <a:srgbClr val="262626"/>
          </a:solidFill>
          <a:ln w="12700">
            <a:solidFill>
              <a:srgbClr val="262626"/>
            </a:solidFill>
            <a:prstDash val="solid"/>
          </a:ln>
        </p:spPr>
      </p:sp>
      <p:sp>
        <p:nvSpPr>
          <p:cNvPr id="20" name="Text 17"/>
          <p:cNvSpPr txBox="1"/>
          <p:nvPr/>
        </p:nvSpPr>
        <p:spPr>
          <a:xfrm>
            <a:off x="7238390" y="1243584"/>
            <a:ext cx="1338682" cy="457200"/>
          </a:xfrm>
          <a:prstGeom prst="rect">
            <a:avLst/>
          </a:prstGeom>
          <a:noFill/>
          <a:ln/>
        </p:spPr>
        <p:txBody>
          <a:bodyPr wrap="square" lIns="0" tIns="0" rIns="0" bIns="0" rtlCol="0" anchor="ctr"/>
          <a:lstStyle/>
          <a:p>
            <a:pPr indent="0" marL="0">
              <a:buNone/>
            </a:pPr>
            <a:r>
              <a:rPr lang="en-US" sz="2200" dirty="0">
                <a:solidFill>
                  <a:srgbClr val="FFC63E"/>
                </a:solidFill>
                <a:latin typeface="Poppins ExtraBold" pitchFamily="34" charset="0"/>
                <a:ea typeface="Poppins ExtraBold" pitchFamily="34" charset="-122"/>
                <a:cs typeface="Poppins ExtraBold" pitchFamily="34" charset="-120"/>
              </a:rPr>
              <a:t>SBIO</a:t>
            </a:r>
            <a:endParaRPr lang="en-US" sz="2200" dirty="0"/>
          </a:p>
        </p:txBody>
      </p:sp>
      <p:sp>
        <p:nvSpPr>
          <p:cNvPr id="21" name="Text 18"/>
          <p:cNvSpPr txBox="1"/>
          <p:nvPr/>
        </p:nvSpPr>
        <p:spPr>
          <a:xfrm>
            <a:off x="7238390" y="1719072"/>
            <a:ext cx="1338682" cy="438912"/>
          </a:xfrm>
          <a:prstGeom prst="rect">
            <a:avLst/>
          </a:prstGeom>
          <a:noFill/>
          <a:ln/>
        </p:spPr>
        <p:txBody>
          <a:bodyPr wrap="square" lIns="0" tIns="0" rIns="0" bIns="0" rtlCol="0" anchor="t"/>
          <a:lstStyle/>
          <a:p>
            <a:pPr indent="0" marL="0">
              <a:buNone/>
            </a:pPr>
            <a:r>
              <a:rPr lang="en-US" sz="750" dirty="0">
                <a:solidFill>
                  <a:srgbClr val="A7A7A7"/>
                </a:solidFill>
                <a:latin typeface="Poppins" pitchFamily="34" charset="0"/>
                <a:ea typeface="Poppins" pitchFamily="34" charset="-122"/>
                <a:cs typeface="Poppins" pitchFamily="34" charset="-120"/>
              </a:rPr>
              <a:t>TSXV listed · NMSDC-certified MBE</a:t>
            </a:r>
            <a:endParaRPr lang="en-US" sz="750" dirty="0"/>
          </a:p>
        </p:txBody>
      </p:sp>
      <p:sp>
        <p:nvSpPr>
          <p:cNvPr id="22" name="Text 19"/>
          <p:cNvSpPr txBox="1"/>
          <p:nvPr/>
        </p:nvSpPr>
        <p:spPr>
          <a:xfrm>
            <a:off x="457200" y="2377440"/>
            <a:ext cx="2645664" cy="219456"/>
          </a:xfrm>
          <a:prstGeom prst="rect">
            <a:avLst/>
          </a:prstGeom>
          <a:noFill/>
          <a:ln/>
        </p:spPr>
        <p:txBody>
          <a:bodyPr wrap="square" lIns="0" tIns="0" rIns="0" bIns="0" rtlCol="0" anchor="t"/>
          <a:lstStyle/>
          <a:p>
            <a:pPr indent="0" marL="0">
              <a:buNone/>
            </a:pPr>
            <a:r>
              <a:rPr lang="en-US" sz="900" spc="100" kern="0" dirty="0">
                <a:solidFill>
                  <a:srgbClr val="FFC63E"/>
                </a:solidFill>
                <a:latin typeface="Poppins SemiBold" pitchFamily="34" charset="0"/>
                <a:ea typeface="Poppins SemiBold" pitchFamily="34" charset="-122"/>
                <a:cs typeface="Poppins SemiBold" pitchFamily="34" charset="-120"/>
              </a:rPr>
              <a:t>OUR OWN DATA</a:t>
            </a:r>
            <a:endParaRPr lang="en-US" sz="900" dirty="0"/>
          </a:p>
        </p:txBody>
      </p:sp>
      <p:sp>
        <p:nvSpPr>
          <p:cNvPr id="23" name="Text 20"/>
          <p:cNvSpPr txBox="1"/>
          <p:nvPr/>
        </p:nvSpPr>
        <p:spPr>
          <a:xfrm>
            <a:off x="457200" y="2633472"/>
            <a:ext cx="2645664" cy="86868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App Science® reads real on-device app ownership and use, opened in the last 30 days. First-party signal, not licensed third-party segments or panel inference.</a:t>
            </a:r>
            <a:endParaRPr lang="en-US" sz="850" dirty="0"/>
          </a:p>
        </p:txBody>
      </p:sp>
      <p:sp>
        <p:nvSpPr>
          <p:cNvPr id="24" name="Text 21"/>
          <p:cNvSpPr txBox="1"/>
          <p:nvPr/>
        </p:nvSpPr>
        <p:spPr>
          <a:xfrm>
            <a:off x="3249168" y="2377440"/>
            <a:ext cx="2645664" cy="219456"/>
          </a:xfrm>
          <a:prstGeom prst="rect">
            <a:avLst/>
          </a:prstGeom>
          <a:noFill/>
          <a:ln/>
        </p:spPr>
        <p:txBody>
          <a:bodyPr wrap="square" lIns="0" tIns="0" rIns="0" bIns="0" rtlCol="0" anchor="t"/>
          <a:lstStyle/>
          <a:p>
            <a:pPr indent="0" marL="0">
              <a:buNone/>
            </a:pPr>
            <a:r>
              <a:rPr lang="en-US" sz="900" spc="100" kern="0" dirty="0">
                <a:solidFill>
                  <a:srgbClr val="FFC63E"/>
                </a:solidFill>
                <a:latin typeface="Poppins SemiBold" pitchFamily="34" charset="0"/>
                <a:ea typeface="Poppins SemiBold" pitchFamily="34" charset="-122"/>
                <a:cs typeface="Poppins SemiBold" pitchFamily="34" charset="-120"/>
              </a:rPr>
              <a:t>OUR OWN TECH</a:t>
            </a:r>
            <a:endParaRPr lang="en-US" sz="900" dirty="0"/>
          </a:p>
        </p:txBody>
      </p:sp>
      <p:sp>
        <p:nvSpPr>
          <p:cNvPr id="25" name="Text 22"/>
          <p:cNvSpPr txBox="1"/>
          <p:nvPr/>
        </p:nvSpPr>
        <p:spPr>
          <a:xfrm>
            <a:off x="3249168" y="2633472"/>
            <a:ext cx="2645664" cy="86868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Sabio DSP, SSP and ad server built for CTV. The same stack powers always-on PMP Deal IDs and managed IO, so we can commit supply, not resell it.</a:t>
            </a:r>
            <a:endParaRPr lang="en-US" sz="850" dirty="0"/>
          </a:p>
        </p:txBody>
      </p:sp>
      <p:sp>
        <p:nvSpPr>
          <p:cNvPr id="26" name="Text 23"/>
          <p:cNvSpPr txBox="1"/>
          <p:nvPr/>
        </p:nvSpPr>
        <p:spPr>
          <a:xfrm>
            <a:off x="6041136" y="2377440"/>
            <a:ext cx="2645664" cy="219456"/>
          </a:xfrm>
          <a:prstGeom prst="rect">
            <a:avLst/>
          </a:prstGeom>
          <a:noFill/>
          <a:ln/>
        </p:spPr>
        <p:txBody>
          <a:bodyPr wrap="square" lIns="0" tIns="0" rIns="0" bIns="0" rtlCol="0" anchor="t"/>
          <a:lstStyle/>
          <a:p>
            <a:pPr indent="0" marL="0">
              <a:buNone/>
            </a:pPr>
            <a:r>
              <a:rPr lang="en-US" sz="900" spc="100" kern="0" dirty="0">
                <a:solidFill>
                  <a:srgbClr val="FFC63E"/>
                </a:solidFill>
                <a:latin typeface="Poppins SemiBold" pitchFamily="34" charset="0"/>
                <a:ea typeface="Poppins SemiBold" pitchFamily="34" charset="-122"/>
                <a:cs typeface="Poppins SemiBold" pitchFamily="34" charset="-120"/>
              </a:rPr>
              <a:t>OUR OWN CONTENT</a:t>
            </a:r>
            <a:endParaRPr lang="en-US" sz="900" dirty="0"/>
          </a:p>
        </p:txBody>
      </p:sp>
      <p:sp>
        <p:nvSpPr>
          <p:cNvPr id="27" name="Text 24"/>
          <p:cNvSpPr txBox="1"/>
          <p:nvPr/>
        </p:nvSpPr>
        <p:spPr>
          <a:xfrm>
            <a:off x="6041136" y="2633472"/>
            <a:ext cx="2645664" cy="86868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Creator TV®, our owned-and-operated streaming channel, puts creator-led spots and integrations next to the audience buy.</a:t>
            </a:r>
            <a:endParaRPr lang="en-US" sz="850" dirty="0"/>
          </a:p>
        </p:txBody>
      </p:sp>
      <p:sp>
        <p:nvSpPr>
          <p:cNvPr id="28" name="Shape 25"/>
          <p:cNvSpPr/>
          <p:nvPr/>
        </p:nvSpPr>
        <p:spPr>
          <a:xfrm>
            <a:off x="457200" y="3611880"/>
            <a:ext cx="8229600" cy="566928"/>
          </a:xfrm>
          <a:prstGeom prst="rect">
            <a:avLst/>
          </a:prstGeom>
          <a:solidFill>
            <a:srgbClr val="FFC63E"/>
          </a:solidFill>
          <a:ln w="12700">
            <a:solidFill>
              <a:srgbClr val="FFC63E"/>
            </a:solidFill>
            <a:prstDash val="solid"/>
          </a:ln>
        </p:spPr>
      </p:sp>
      <p:sp>
        <p:nvSpPr>
          <p:cNvPr id="29" name="Text 26"/>
          <p:cNvSpPr txBox="1"/>
          <p:nvPr/>
        </p:nvSpPr>
        <p:spPr>
          <a:xfrm>
            <a:off x="640080" y="3611880"/>
            <a:ext cx="7863840" cy="566928"/>
          </a:xfrm>
          <a:prstGeom prst="rect">
            <a:avLst/>
          </a:prstGeom>
          <a:noFill/>
          <a:ln/>
        </p:spPr>
        <p:txBody>
          <a:bodyPr wrap="square" lIns="0" tIns="0" rIns="0" bIns="0" rtlCol="0" anchor="ctr"/>
          <a:lstStyle/>
          <a:p>
            <a:pPr indent="0" marL="0">
              <a:buNone/>
            </a:pPr>
            <a:r>
              <a:rPr lang="en-US" sz="950" dirty="0">
                <a:solidFill>
                  <a:srgbClr val="1A1A1A"/>
                </a:solidFill>
                <a:latin typeface="Poppins ExtraBold" pitchFamily="34" charset="0"/>
                <a:ea typeface="Poppins ExtraBold" pitchFamily="34" charset="-122"/>
                <a:cs typeface="Poppins ExtraBold" pitchFamily="34" charset="-120"/>
              </a:rPr>
              <a:t>WHAT IT MEANS FOR ACTIVISION:  </a:t>
            </a:r>
            <a:pPr indent="0" marL="0">
              <a:buNone/>
            </a:pPr>
            <a:r>
              <a:rPr lang="en-US" sz="950" dirty="0">
                <a:solidFill>
                  <a:srgbClr val="1A1A1A"/>
                </a:solidFill>
                <a:latin typeface="Poppins" pitchFamily="34" charset="0"/>
                <a:ea typeface="Poppins" pitchFamily="34" charset="-122"/>
                <a:cs typeface="Poppins" pitchFamily="34" charset="-120"/>
              </a:rPr>
              <a:t>the Battlefield, Switch 2 and lapsed-player homes, reached on the TV they'll play on, by a partner that owns the data, the supply and the creators.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THREE AUDIENCES FOR THE LAUNCH WINDOW</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EACH ONE IS AN APP ECOSYSTEM, NOT A DEMOGRAPHIC · SIZED ON THE FINAL BUILD</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Current Call of Duty players can be suppressed to protect budget, or retargeted for Oct 16 early access. Reach is illustrative until the build is run. App lists finalized with Activision.</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6</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8" name="Shape 5"/>
          <p:cNvSpPr/>
          <p:nvPr/>
        </p:nvSpPr>
        <p:spPr>
          <a:xfrm>
            <a:off x="457200" y="1188720"/>
            <a:ext cx="2645664" cy="3246120"/>
          </a:xfrm>
          <a:prstGeom prst="rect">
            <a:avLst/>
          </a:prstGeom>
          <a:solidFill>
            <a:srgbClr val="262626"/>
          </a:solidFill>
          <a:ln w="12700">
            <a:solidFill>
              <a:srgbClr val="262626"/>
            </a:solidFill>
            <a:prstDash val="solid"/>
          </a:ln>
        </p:spPr>
      </p:sp>
      <p:sp>
        <p:nvSpPr>
          <p:cNvPr id="9" name="Text 6"/>
          <p:cNvSpPr txBox="1"/>
          <p:nvPr/>
        </p:nvSpPr>
        <p:spPr>
          <a:xfrm>
            <a:off x="621792" y="1335024"/>
            <a:ext cx="2316480" cy="182880"/>
          </a:xfrm>
          <a:prstGeom prst="rect">
            <a:avLst/>
          </a:prstGeom>
          <a:noFill/>
          <a:ln/>
        </p:spPr>
        <p:txBody>
          <a:bodyPr wrap="square" lIns="0" tIns="0" rIns="0" bIns="0" rtlCol="0" anchor="t"/>
          <a:lstStyle/>
          <a:p>
            <a:pPr indent="0" marL="0">
              <a:buNone/>
            </a:pPr>
            <a:r>
              <a:rPr lang="en-US" sz="750" spc="100" kern="0" dirty="0">
                <a:solidFill>
                  <a:srgbClr val="FFC63E"/>
                </a:solidFill>
                <a:latin typeface="Poppins SemiBold" pitchFamily="34" charset="0"/>
                <a:ea typeface="Poppins SemiBold" pitchFamily="34" charset="-122"/>
                <a:cs typeface="Poppins SemiBold" pitchFamily="34" charset="-120"/>
              </a:rPr>
              <a:t>CONQUEST</a:t>
            </a:r>
            <a:endParaRPr lang="en-US" sz="750" dirty="0"/>
          </a:p>
        </p:txBody>
      </p:sp>
      <p:sp>
        <p:nvSpPr>
          <p:cNvPr id="10" name="Text 7"/>
          <p:cNvSpPr txBox="1"/>
          <p:nvPr/>
        </p:nvSpPr>
        <p:spPr>
          <a:xfrm>
            <a:off x="621792" y="1554480"/>
            <a:ext cx="2316480" cy="411480"/>
          </a:xfrm>
          <a:prstGeom prst="rect">
            <a:avLst/>
          </a:prstGeom>
          <a:noFill/>
          <a:ln/>
        </p:spPr>
        <p:txBody>
          <a:bodyPr wrap="square" lIns="0" tIns="0" rIns="0" bIns="0" rtlCol="0" anchor="ctr"/>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THE BATTLEFIELD PLAYER</a:t>
            </a:r>
            <a:endParaRPr lang="en-US" sz="1200" dirty="0"/>
          </a:p>
        </p:txBody>
      </p:sp>
      <p:sp>
        <p:nvSpPr>
          <p:cNvPr id="11" name="Text 8"/>
          <p:cNvSpPr txBox="1"/>
          <p:nvPr/>
        </p:nvSpPr>
        <p:spPr>
          <a:xfrm>
            <a:off x="621792" y="2011680"/>
            <a:ext cx="2316480" cy="54864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Plays a shooter every week, just not Call of Duty. Plays on console or PC, and it shows on the phone.</a:t>
            </a:r>
            <a:endParaRPr lang="en-US" sz="850" dirty="0"/>
          </a:p>
        </p:txBody>
      </p:sp>
      <p:sp>
        <p:nvSpPr>
          <p:cNvPr id="12" name="Text 9"/>
          <p:cNvSpPr txBox="1"/>
          <p:nvPr/>
        </p:nvSpPr>
        <p:spPr>
          <a:xfrm>
            <a:off x="621792" y="2606040"/>
            <a:ext cx="2316480" cy="164592"/>
          </a:xfrm>
          <a:prstGeom prst="rect">
            <a:avLst/>
          </a:prstGeom>
          <a:noFill/>
          <a:ln/>
        </p:spPr>
        <p:txBody>
          <a:bodyPr wrap="square" lIns="0" tIns="0" rIns="0" bIns="0" rtlCol="0" anchor="t"/>
          <a:lstStyle/>
          <a:p>
            <a:pPr indent="0" marL="0">
              <a:buNone/>
            </a:pPr>
            <a:r>
              <a:rPr lang="en-US" sz="700" spc="100" kern="0" dirty="0">
                <a:solidFill>
                  <a:srgbClr val="7E7E7E"/>
                </a:solidFill>
                <a:latin typeface="Poppins SemiBold" pitchFamily="34" charset="0"/>
                <a:ea typeface="Poppins SemiBold" pitchFamily="34" charset="-122"/>
                <a:cs typeface="Poppins SemiBold" pitchFamily="34" charset="-120"/>
              </a:rPr>
              <a:t>APP ECOSYSTEM</a:t>
            </a:r>
            <a:endParaRPr lang="en-US" sz="700" dirty="0"/>
          </a:p>
        </p:txBody>
      </p:sp>
      <p:sp>
        <p:nvSpPr>
          <p:cNvPr id="13" name="Text 10"/>
          <p:cNvSpPr txBox="1"/>
          <p:nvPr/>
        </p:nvSpPr>
        <p:spPr>
          <a:xfrm>
            <a:off x="621792" y="2788920"/>
            <a:ext cx="2316480" cy="502920"/>
          </a:xfrm>
          <a:prstGeom prst="rect">
            <a:avLst/>
          </a:prstGeom>
          <a:noFill/>
          <a:ln/>
        </p:spPr>
        <p:txBody>
          <a:bodyPr wrap="square" lIns="0" tIns="0" rIns="0" bIns="0" rtlCol="0" anchor="t"/>
          <a:lstStyle/>
          <a:p>
            <a:pPr indent="0" marL="0">
              <a:buNone/>
            </a:pPr>
            <a:r>
              <a:rPr lang="en-US" sz="850" dirty="0">
                <a:solidFill>
                  <a:srgbClr val="FFFFFF"/>
                </a:solidFill>
                <a:latin typeface="Poppins SemiBold" pitchFamily="34" charset="0"/>
                <a:ea typeface="Poppins SemiBold" pitchFamily="34" charset="-122"/>
                <a:cs typeface="Poppins SemiBold" pitchFamily="34" charset="-120"/>
              </a:rPr>
              <a:t>EA app · Delta Force · Fortnite · PUBG Mobile · Discord</a:t>
            </a:r>
            <a:endParaRPr lang="en-US" sz="850" dirty="0"/>
          </a:p>
        </p:txBody>
      </p:sp>
      <p:sp>
        <p:nvSpPr>
          <p:cNvPr id="14" name="Text 11"/>
          <p:cNvSpPr txBox="1"/>
          <p:nvPr/>
        </p:nvSpPr>
        <p:spPr>
          <a:xfrm>
            <a:off x="621792" y="3337560"/>
            <a:ext cx="2316480" cy="365760"/>
          </a:xfrm>
          <a:prstGeom prst="rect">
            <a:avLst/>
          </a:prstGeom>
          <a:noFill/>
          <a:ln/>
        </p:spPr>
        <p:txBody>
          <a:bodyPr wrap="square" lIns="0" tIns="0" rIns="0" bIns="0" rtlCol="0" anchor="t"/>
          <a:lstStyle/>
          <a:p>
            <a:pPr indent="0" marL="0">
              <a:buNone/>
            </a:pPr>
            <a:r>
              <a:rPr lang="en-US" sz="850" i="1" dirty="0">
                <a:solidFill>
                  <a:srgbClr val="FFE7B5"/>
                </a:solidFill>
                <a:latin typeface="Poppins" pitchFamily="34" charset="0"/>
                <a:ea typeface="Poppins" pitchFamily="34" charset="-122"/>
                <a:cs typeface="Poppins" pitchFamily="34" charset="-120"/>
              </a:rPr>
              <a:t>Switch them to MW4 before Nov 19</a:t>
            </a:r>
            <a:endParaRPr lang="en-US" sz="850" dirty="0"/>
          </a:p>
        </p:txBody>
      </p:sp>
      <p:sp>
        <p:nvSpPr>
          <p:cNvPr id="15" name="Shape 12"/>
          <p:cNvSpPr/>
          <p:nvPr/>
        </p:nvSpPr>
        <p:spPr>
          <a:xfrm>
            <a:off x="621792" y="3767328"/>
            <a:ext cx="2316480" cy="512064"/>
          </a:xfrm>
          <a:prstGeom prst="rect">
            <a:avLst/>
          </a:prstGeom>
          <a:solidFill>
            <a:srgbClr val="2F2F2F"/>
          </a:solidFill>
          <a:ln w="12700">
            <a:solidFill>
              <a:srgbClr val="2F2F2F"/>
            </a:solidFill>
            <a:prstDash val="solid"/>
          </a:ln>
        </p:spPr>
      </p:sp>
      <p:sp>
        <p:nvSpPr>
          <p:cNvPr id="16" name="Text 13"/>
          <p:cNvSpPr txBox="1"/>
          <p:nvPr/>
        </p:nvSpPr>
        <p:spPr>
          <a:xfrm>
            <a:off x="713232" y="3813048"/>
            <a:ext cx="2133600" cy="164592"/>
          </a:xfrm>
          <a:prstGeom prst="rect">
            <a:avLst/>
          </a:prstGeom>
          <a:noFill/>
          <a:ln/>
        </p:spPr>
        <p:txBody>
          <a:bodyPr wrap="square" lIns="0" tIns="0" rIns="0" bIns="0" rtlCol="0" anchor="t"/>
          <a:lstStyle/>
          <a:p>
            <a:pPr indent="0" marL="0">
              <a:buNone/>
            </a:pPr>
            <a:r>
              <a:rPr lang="en-US" sz="650" spc="100" kern="0" dirty="0">
                <a:solidFill>
                  <a:srgbClr val="FFC63E"/>
                </a:solidFill>
                <a:latin typeface="Poppins SemiBold" pitchFamily="34" charset="0"/>
                <a:ea typeface="Poppins SemiBold" pitchFamily="34" charset="-122"/>
                <a:cs typeface="Poppins SemiBold" pitchFamily="34" charset="-120"/>
              </a:rPr>
              <a:t>UNIQUE MONTHLY REACH  [CONFIRM]</a:t>
            </a:r>
            <a:endParaRPr lang="en-US" sz="650" dirty="0"/>
          </a:p>
        </p:txBody>
      </p:sp>
      <p:sp>
        <p:nvSpPr>
          <p:cNvPr id="17" name="Text 14"/>
          <p:cNvSpPr txBox="1"/>
          <p:nvPr/>
        </p:nvSpPr>
        <p:spPr>
          <a:xfrm>
            <a:off x="713232" y="3995928"/>
            <a:ext cx="2133600" cy="237744"/>
          </a:xfrm>
          <a:prstGeom prst="rect">
            <a:avLst/>
          </a:prstGeom>
          <a:noFill/>
          <a:ln/>
        </p:spPr>
        <p:txBody>
          <a:bodyPr wrap="square" lIns="0" tIns="0" rIns="0" bIns="0" rtlCol="0" anchor="t"/>
          <a:lstStyle/>
          <a:p>
            <a:pPr indent="0" marL="0">
              <a:buNone/>
            </a:pPr>
            <a:r>
              <a:rPr lang="en-US" sz="800" dirty="0">
                <a:solidFill>
                  <a:srgbClr val="FFFFFF"/>
                </a:solidFill>
                <a:latin typeface="Poppins SemiBold" pitchFamily="34" charset="0"/>
                <a:ea typeface="Poppins SemiBold" pitchFamily="34" charset="-122"/>
                <a:cs typeface="Poppins SemiBold" pitchFamily="34" charset="-120"/>
              </a:rPr>
              <a:t>CTV 12MM | OTT 8MM | Mobile 17MM</a:t>
            </a:r>
            <a:endParaRPr lang="en-US" sz="800" dirty="0"/>
          </a:p>
        </p:txBody>
      </p:sp>
      <p:sp>
        <p:nvSpPr>
          <p:cNvPr id="18" name="Shape 15"/>
          <p:cNvSpPr/>
          <p:nvPr/>
        </p:nvSpPr>
        <p:spPr>
          <a:xfrm>
            <a:off x="3249168" y="1188720"/>
            <a:ext cx="2645664" cy="3246120"/>
          </a:xfrm>
          <a:prstGeom prst="rect">
            <a:avLst/>
          </a:prstGeom>
          <a:solidFill>
            <a:srgbClr val="262626"/>
          </a:solidFill>
          <a:ln w="12700">
            <a:solidFill>
              <a:srgbClr val="262626"/>
            </a:solidFill>
            <a:prstDash val="solid"/>
          </a:ln>
        </p:spPr>
      </p:sp>
      <p:sp>
        <p:nvSpPr>
          <p:cNvPr id="19" name="Text 16"/>
          <p:cNvSpPr txBox="1"/>
          <p:nvPr/>
        </p:nvSpPr>
        <p:spPr>
          <a:xfrm>
            <a:off x="3413760" y="1335024"/>
            <a:ext cx="2316480" cy="182880"/>
          </a:xfrm>
          <a:prstGeom prst="rect">
            <a:avLst/>
          </a:prstGeom>
          <a:noFill/>
          <a:ln/>
        </p:spPr>
        <p:txBody>
          <a:bodyPr wrap="square" lIns="0" tIns="0" rIns="0" bIns="0" rtlCol="0" anchor="t"/>
          <a:lstStyle/>
          <a:p>
            <a:pPr indent="0" marL="0">
              <a:buNone/>
            </a:pPr>
            <a:r>
              <a:rPr lang="en-US" sz="750" spc="100" kern="0" dirty="0">
                <a:solidFill>
                  <a:srgbClr val="FFC63E"/>
                </a:solidFill>
                <a:latin typeface="Poppins SemiBold" pitchFamily="34" charset="0"/>
                <a:ea typeface="Poppins SemiBold" pitchFamily="34" charset="-122"/>
                <a:cs typeface="Poppins SemiBold" pitchFamily="34" charset="-120"/>
              </a:rPr>
              <a:t>WIN-BACK</a:t>
            </a:r>
            <a:endParaRPr lang="en-US" sz="750" dirty="0"/>
          </a:p>
        </p:txBody>
      </p:sp>
      <p:sp>
        <p:nvSpPr>
          <p:cNvPr id="20" name="Text 17"/>
          <p:cNvSpPr txBox="1"/>
          <p:nvPr/>
        </p:nvSpPr>
        <p:spPr>
          <a:xfrm>
            <a:off x="3413760" y="1554480"/>
            <a:ext cx="2316480" cy="411480"/>
          </a:xfrm>
          <a:prstGeom prst="rect">
            <a:avLst/>
          </a:prstGeom>
          <a:noFill/>
          <a:ln/>
        </p:spPr>
        <p:txBody>
          <a:bodyPr wrap="square" lIns="0" tIns="0" rIns="0" bIns="0" rtlCol="0" anchor="ctr"/>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THE LAPSED CALL OF DUTY HOME</a:t>
            </a:r>
            <a:endParaRPr lang="en-US" sz="1200" dirty="0"/>
          </a:p>
        </p:txBody>
      </p:sp>
      <p:sp>
        <p:nvSpPr>
          <p:cNvPr id="21" name="Text 18"/>
          <p:cNvSpPr txBox="1"/>
          <p:nvPr/>
        </p:nvSpPr>
        <p:spPr>
          <a:xfrm>
            <a:off x="3413760" y="2011680"/>
            <a:ext cx="2316480" cy="54864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Xbox or Game Pass on the phone, and no Call of Duty app opened in 60+ days.</a:t>
            </a:r>
            <a:endParaRPr lang="en-US" sz="850" dirty="0"/>
          </a:p>
        </p:txBody>
      </p:sp>
      <p:sp>
        <p:nvSpPr>
          <p:cNvPr id="22" name="Text 19"/>
          <p:cNvSpPr txBox="1"/>
          <p:nvPr/>
        </p:nvSpPr>
        <p:spPr>
          <a:xfrm>
            <a:off x="3413760" y="2606040"/>
            <a:ext cx="2316480" cy="164592"/>
          </a:xfrm>
          <a:prstGeom prst="rect">
            <a:avLst/>
          </a:prstGeom>
          <a:noFill/>
          <a:ln/>
        </p:spPr>
        <p:txBody>
          <a:bodyPr wrap="square" lIns="0" tIns="0" rIns="0" bIns="0" rtlCol="0" anchor="t"/>
          <a:lstStyle/>
          <a:p>
            <a:pPr indent="0" marL="0">
              <a:buNone/>
            </a:pPr>
            <a:r>
              <a:rPr lang="en-US" sz="700" spc="100" kern="0" dirty="0">
                <a:solidFill>
                  <a:srgbClr val="7E7E7E"/>
                </a:solidFill>
                <a:latin typeface="Poppins SemiBold" pitchFamily="34" charset="0"/>
                <a:ea typeface="Poppins SemiBold" pitchFamily="34" charset="-122"/>
                <a:cs typeface="Poppins SemiBold" pitchFamily="34" charset="-120"/>
              </a:rPr>
              <a:t>APP ECOSYSTEM</a:t>
            </a:r>
            <a:endParaRPr lang="en-US" sz="700" dirty="0"/>
          </a:p>
        </p:txBody>
      </p:sp>
      <p:sp>
        <p:nvSpPr>
          <p:cNvPr id="23" name="Text 20"/>
          <p:cNvSpPr txBox="1"/>
          <p:nvPr/>
        </p:nvSpPr>
        <p:spPr>
          <a:xfrm>
            <a:off x="3413760" y="2788920"/>
            <a:ext cx="2316480" cy="502920"/>
          </a:xfrm>
          <a:prstGeom prst="rect">
            <a:avLst/>
          </a:prstGeom>
          <a:noFill/>
          <a:ln/>
        </p:spPr>
        <p:txBody>
          <a:bodyPr wrap="square" lIns="0" tIns="0" rIns="0" bIns="0" rtlCol="0" anchor="t"/>
          <a:lstStyle/>
          <a:p>
            <a:pPr indent="0" marL="0">
              <a:buNone/>
            </a:pPr>
            <a:r>
              <a:rPr lang="en-US" sz="850" dirty="0">
                <a:solidFill>
                  <a:srgbClr val="FFFFFF"/>
                </a:solidFill>
                <a:latin typeface="Poppins SemiBold" pitchFamily="34" charset="0"/>
                <a:ea typeface="Poppins SemiBold" pitchFamily="34" charset="-122"/>
                <a:cs typeface="Poppins SemiBold" pitchFamily="34" charset="-120"/>
              </a:rPr>
              <a:t>Xbox · Game Pass · PlayStation App · Call of Duty: Mobile</a:t>
            </a:r>
            <a:endParaRPr lang="en-US" sz="850" dirty="0"/>
          </a:p>
        </p:txBody>
      </p:sp>
      <p:sp>
        <p:nvSpPr>
          <p:cNvPr id="24" name="Text 21"/>
          <p:cNvSpPr txBox="1"/>
          <p:nvPr/>
        </p:nvSpPr>
        <p:spPr>
          <a:xfrm>
            <a:off x="3413760" y="3337560"/>
            <a:ext cx="2316480" cy="365760"/>
          </a:xfrm>
          <a:prstGeom prst="rect">
            <a:avLst/>
          </a:prstGeom>
          <a:noFill/>
          <a:ln/>
        </p:spPr>
        <p:txBody>
          <a:bodyPr wrap="square" lIns="0" tIns="0" rIns="0" bIns="0" rtlCol="0" anchor="t"/>
          <a:lstStyle/>
          <a:p>
            <a:pPr indent="0" marL="0">
              <a:buNone/>
            </a:pPr>
            <a:r>
              <a:rPr lang="en-US" sz="850" i="1" dirty="0">
                <a:solidFill>
                  <a:srgbClr val="FFE7B5"/>
                </a:solidFill>
                <a:latin typeface="Poppins" pitchFamily="34" charset="0"/>
                <a:ea typeface="Poppins" pitchFamily="34" charset="-122"/>
                <a:cs typeface="Poppins" pitchFamily="34" charset="-120"/>
              </a:rPr>
              <a:t>Pre-order, now that Game Pass won't carry it</a:t>
            </a:r>
            <a:endParaRPr lang="en-US" sz="850" dirty="0"/>
          </a:p>
        </p:txBody>
      </p:sp>
      <p:sp>
        <p:nvSpPr>
          <p:cNvPr id="25" name="Shape 22"/>
          <p:cNvSpPr/>
          <p:nvPr/>
        </p:nvSpPr>
        <p:spPr>
          <a:xfrm>
            <a:off x="3413760" y="3767328"/>
            <a:ext cx="2316480" cy="512064"/>
          </a:xfrm>
          <a:prstGeom prst="rect">
            <a:avLst/>
          </a:prstGeom>
          <a:solidFill>
            <a:srgbClr val="2F2F2F"/>
          </a:solidFill>
          <a:ln w="12700">
            <a:solidFill>
              <a:srgbClr val="2F2F2F"/>
            </a:solidFill>
            <a:prstDash val="solid"/>
          </a:ln>
        </p:spPr>
      </p:sp>
      <p:sp>
        <p:nvSpPr>
          <p:cNvPr id="26" name="Text 23"/>
          <p:cNvSpPr txBox="1"/>
          <p:nvPr/>
        </p:nvSpPr>
        <p:spPr>
          <a:xfrm>
            <a:off x="3505200" y="3813048"/>
            <a:ext cx="2133600" cy="164592"/>
          </a:xfrm>
          <a:prstGeom prst="rect">
            <a:avLst/>
          </a:prstGeom>
          <a:noFill/>
          <a:ln/>
        </p:spPr>
        <p:txBody>
          <a:bodyPr wrap="square" lIns="0" tIns="0" rIns="0" bIns="0" rtlCol="0" anchor="t"/>
          <a:lstStyle/>
          <a:p>
            <a:pPr indent="0" marL="0">
              <a:buNone/>
            </a:pPr>
            <a:r>
              <a:rPr lang="en-US" sz="650" spc="100" kern="0" dirty="0">
                <a:solidFill>
                  <a:srgbClr val="FFC63E"/>
                </a:solidFill>
                <a:latin typeface="Poppins SemiBold" pitchFamily="34" charset="0"/>
                <a:ea typeface="Poppins SemiBold" pitchFamily="34" charset="-122"/>
                <a:cs typeface="Poppins SemiBold" pitchFamily="34" charset="-120"/>
              </a:rPr>
              <a:t>UNIQUE MONTHLY REACH  [CONFIRM]</a:t>
            </a:r>
            <a:endParaRPr lang="en-US" sz="650" dirty="0"/>
          </a:p>
        </p:txBody>
      </p:sp>
      <p:sp>
        <p:nvSpPr>
          <p:cNvPr id="27" name="Text 24"/>
          <p:cNvSpPr txBox="1"/>
          <p:nvPr/>
        </p:nvSpPr>
        <p:spPr>
          <a:xfrm>
            <a:off x="3505200" y="3995928"/>
            <a:ext cx="2133600" cy="237744"/>
          </a:xfrm>
          <a:prstGeom prst="rect">
            <a:avLst/>
          </a:prstGeom>
          <a:noFill/>
          <a:ln/>
        </p:spPr>
        <p:txBody>
          <a:bodyPr wrap="square" lIns="0" tIns="0" rIns="0" bIns="0" rtlCol="0" anchor="t"/>
          <a:lstStyle/>
          <a:p>
            <a:pPr indent="0" marL="0">
              <a:buNone/>
            </a:pPr>
            <a:r>
              <a:rPr lang="en-US" sz="800" dirty="0">
                <a:solidFill>
                  <a:srgbClr val="FFFFFF"/>
                </a:solidFill>
                <a:latin typeface="Poppins SemiBold" pitchFamily="34" charset="0"/>
                <a:ea typeface="Poppins SemiBold" pitchFamily="34" charset="-122"/>
                <a:cs typeface="Poppins SemiBold" pitchFamily="34" charset="-120"/>
              </a:rPr>
              <a:t>CTV 9MM | OTT 6MM | Mobile 13MM</a:t>
            </a:r>
            <a:endParaRPr lang="en-US" sz="800" dirty="0"/>
          </a:p>
        </p:txBody>
      </p:sp>
      <p:sp>
        <p:nvSpPr>
          <p:cNvPr id="28" name="Shape 25"/>
          <p:cNvSpPr/>
          <p:nvPr/>
        </p:nvSpPr>
        <p:spPr>
          <a:xfrm>
            <a:off x="6041136" y="1188720"/>
            <a:ext cx="2645664" cy="3246120"/>
          </a:xfrm>
          <a:prstGeom prst="rect">
            <a:avLst/>
          </a:prstGeom>
          <a:solidFill>
            <a:srgbClr val="262626"/>
          </a:solidFill>
          <a:ln w="12700">
            <a:solidFill>
              <a:srgbClr val="262626"/>
            </a:solidFill>
            <a:prstDash val="solid"/>
          </a:ln>
        </p:spPr>
      </p:sp>
      <p:sp>
        <p:nvSpPr>
          <p:cNvPr id="29" name="Text 26"/>
          <p:cNvSpPr txBox="1"/>
          <p:nvPr/>
        </p:nvSpPr>
        <p:spPr>
          <a:xfrm>
            <a:off x="6205728" y="1335024"/>
            <a:ext cx="2316480" cy="182880"/>
          </a:xfrm>
          <a:prstGeom prst="rect">
            <a:avLst/>
          </a:prstGeom>
          <a:noFill/>
          <a:ln/>
        </p:spPr>
        <p:txBody>
          <a:bodyPr wrap="square" lIns="0" tIns="0" rIns="0" bIns="0" rtlCol="0" anchor="t"/>
          <a:lstStyle/>
          <a:p>
            <a:pPr indent="0" marL="0">
              <a:buNone/>
            </a:pPr>
            <a:r>
              <a:rPr lang="en-US" sz="750" spc="100" kern="0" dirty="0">
                <a:solidFill>
                  <a:srgbClr val="FFC63E"/>
                </a:solidFill>
                <a:latin typeface="Poppins SemiBold" pitchFamily="34" charset="0"/>
                <a:ea typeface="Poppins SemiBold" pitchFamily="34" charset="-122"/>
                <a:cs typeface="Poppins SemiBold" pitchFamily="34" charset="-120"/>
              </a:rPr>
              <a:t>NEW</a:t>
            </a:r>
            <a:endParaRPr lang="en-US" sz="750" dirty="0"/>
          </a:p>
        </p:txBody>
      </p:sp>
      <p:sp>
        <p:nvSpPr>
          <p:cNvPr id="30" name="Text 27"/>
          <p:cNvSpPr txBox="1"/>
          <p:nvPr/>
        </p:nvSpPr>
        <p:spPr>
          <a:xfrm>
            <a:off x="6205728" y="1554480"/>
            <a:ext cx="2316480" cy="411480"/>
          </a:xfrm>
          <a:prstGeom prst="rect">
            <a:avLst/>
          </a:prstGeom>
          <a:noFill/>
          <a:ln/>
        </p:spPr>
        <p:txBody>
          <a:bodyPr wrap="square" lIns="0" tIns="0" rIns="0" bIns="0" rtlCol="0" anchor="ctr"/>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THE SWITCH 2 HOUSEHOLD</a:t>
            </a:r>
            <a:endParaRPr lang="en-US" sz="1200" dirty="0"/>
          </a:p>
        </p:txBody>
      </p:sp>
      <p:sp>
        <p:nvSpPr>
          <p:cNvPr id="31" name="Text 28"/>
          <p:cNvSpPr txBox="1"/>
          <p:nvPr/>
        </p:nvSpPr>
        <p:spPr>
          <a:xfrm>
            <a:off x="6205728" y="2011680"/>
            <a:ext cx="2316480" cy="54864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Nintendo apps in use and a Switch 2 in the home. Hasn't had Call of Duty on Nintendo since 2013.</a:t>
            </a:r>
            <a:endParaRPr lang="en-US" sz="850" dirty="0"/>
          </a:p>
        </p:txBody>
      </p:sp>
      <p:sp>
        <p:nvSpPr>
          <p:cNvPr id="32" name="Text 29"/>
          <p:cNvSpPr txBox="1"/>
          <p:nvPr/>
        </p:nvSpPr>
        <p:spPr>
          <a:xfrm>
            <a:off x="6205728" y="2606040"/>
            <a:ext cx="2316480" cy="164592"/>
          </a:xfrm>
          <a:prstGeom prst="rect">
            <a:avLst/>
          </a:prstGeom>
          <a:noFill/>
          <a:ln/>
        </p:spPr>
        <p:txBody>
          <a:bodyPr wrap="square" lIns="0" tIns="0" rIns="0" bIns="0" rtlCol="0" anchor="t"/>
          <a:lstStyle/>
          <a:p>
            <a:pPr indent="0" marL="0">
              <a:buNone/>
            </a:pPr>
            <a:r>
              <a:rPr lang="en-US" sz="700" spc="100" kern="0" dirty="0">
                <a:solidFill>
                  <a:srgbClr val="7E7E7E"/>
                </a:solidFill>
                <a:latin typeface="Poppins SemiBold" pitchFamily="34" charset="0"/>
                <a:ea typeface="Poppins SemiBold" pitchFamily="34" charset="-122"/>
                <a:cs typeface="Poppins SemiBold" pitchFamily="34" charset="-120"/>
              </a:rPr>
              <a:t>APP ECOSYSTEM</a:t>
            </a:r>
            <a:endParaRPr lang="en-US" sz="700" dirty="0"/>
          </a:p>
        </p:txBody>
      </p:sp>
      <p:sp>
        <p:nvSpPr>
          <p:cNvPr id="33" name="Text 30"/>
          <p:cNvSpPr txBox="1"/>
          <p:nvPr/>
        </p:nvSpPr>
        <p:spPr>
          <a:xfrm>
            <a:off x="6205728" y="2788920"/>
            <a:ext cx="2316480" cy="502920"/>
          </a:xfrm>
          <a:prstGeom prst="rect">
            <a:avLst/>
          </a:prstGeom>
          <a:noFill/>
          <a:ln/>
        </p:spPr>
        <p:txBody>
          <a:bodyPr wrap="square" lIns="0" tIns="0" rIns="0" bIns="0" rtlCol="0" anchor="t"/>
          <a:lstStyle/>
          <a:p>
            <a:pPr indent="0" marL="0">
              <a:buNone/>
            </a:pPr>
            <a:r>
              <a:rPr lang="en-US" sz="850" dirty="0">
                <a:solidFill>
                  <a:srgbClr val="FFFFFF"/>
                </a:solidFill>
                <a:latin typeface="Poppins SemiBold" pitchFamily="34" charset="0"/>
                <a:ea typeface="Poppins SemiBold" pitchFamily="34" charset="-122"/>
                <a:cs typeface="Poppins SemiBold" pitchFamily="34" charset="-120"/>
              </a:rPr>
              <a:t>Nintendo Switch App · Nintendo Store · Nintendo Today! · Mario Kart Tour</a:t>
            </a:r>
            <a:endParaRPr lang="en-US" sz="850" dirty="0"/>
          </a:p>
        </p:txBody>
      </p:sp>
      <p:sp>
        <p:nvSpPr>
          <p:cNvPr id="34" name="Text 31"/>
          <p:cNvSpPr txBox="1"/>
          <p:nvPr/>
        </p:nvSpPr>
        <p:spPr>
          <a:xfrm>
            <a:off x="6205728" y="3337560"/>
            <a:ext cx="2316480" cy="365760"/>
          </a:xfrm>
          <a:prstGeom prst="rect">
            <a:avLst/>
          </a:prstGeom>
          <a:noFill/>
          <a:ln/>
        </p:spPr>
        <p:txBody>
          <a:bodyPr wrap="square" lIns="0" tIns="0" rIns="0" bIns="0" rtlCol="0" anchor="t"/>
          <a:lstStyle/>
          <a:p>
            <a:pPr indent="0" marL="0">
              <a:buNone/>
            </a:pPr>
            <a:r>
              <a:rPr lang="en-US" sz="850" i="1" dirty="0">
                <a:solidFill>
                  <a:srgbClr val="FFE7B5"/>
                </a:solidFill>
                <a:latin typeface="Poppins" pitchFamily="34" charset="0"/>
                <a:ea typeface="Poppins" pitchFamily="34" charset="-122"/>
                <a:cs typeface="Poppins" pitchFamily="34" charset="-120"/>
              </a:rPr>
              <a:t>Buy the code-in-box on day one</a:t>
            </a:r>
            <a:endParaRPr lang="en-US" sz="850" dirty="0"/>
          </a:p>
        </p:txBody>
      </p:sp>
      <p:sp>
        <p:nvSpPr>
          <p:cNvPr id="35" name="Shape 32"/>
          <p:cNvSpPr/>
          <p:nvPr/>
        </p:nvSpPr>
        <p:spPr>
          <a:xfrm>
            <a:off x="6205728" y="3767328"/>
            <a:ext cx="2316480" cy="512064"/>
          </a:xfrm>
          <a:prstGeom prst="rect">
            <a:avLst/>
          </a:prstGeom>
          <a:solidFill>
            <a:srgbClr val="2F2F2F"/>
          </a:solidFill>
          <a:ln w="12700">
            <a:solidFill>
              <a:srgbClr val="2F2F2F"/>
            </a:solidFill>
            <a:prstDash val="solid"/>
          </a:ln>
        </p:spPr>
      </p:sp>
      <p:sp>
        <p:nvSpPr>
          <p:cNvPr id="36" name="Text 33"/>
          <p:cNvSpPr txBox="1"/>
          <p:nvPr/>
        </p:nvSpPr>
        <p:spPr>
          <a:xfrm>
            <a:off x="6297168" y="3813048"/>
            <a:ext cx="2133600" cy="164592"/>
          </a:xfrm>
          <a:prstGeom prst="rect">
            <a:avLst/>
          </a:prstGeom>
          <a:noFill/>
          <a:ln/>
        </p:spPr>
        <p:txBody>
          <a:bodyPr wrap="square" lIns="0" tIns="0" rIns="0" bIns="0" rtlCol="0" anchor="t"/>
          <a:lstStyle/>
          <a:p>
            <a:pPr indent="0" marL="0">
              <a:buNone/>
            </a:pPr>
            <a:r>
              <a:rPr lang="en-US" sz="650" spc="100" kern="0" dirty="0">
                <a:solidFill>
                  <a:srgbClr val="FFC63E"/>
                </a:solidFill>
                <a:latin typeface="Poppins SemiBold" pitchFamily="34" charset="0"/>
                <a:ea typeface="Poppins SemiBold" pitchFamily="34" charset="-122"/>
                <a:cs typeface="Poppins SemiBold" pitchFamily="34" charset="-120"/>
              </a:rPr>
              <a:t>UNIQUE MONTHLY REACH  [CONFIRM]</a:t>
            </a:r>
            <a:endParaRPr lang="en-US" sz="650" dirty="0"/>
          </a:p>
        </p:txBody>
      </p:sp>
      <p:sp>
        <p:nvSpPr>
          <p:cNvPr id="37" name="Text 34"/>
          <p:cNvSpPr txBox="1"/>
          <p:nvPr/>
        </p:nvSpPr>
        <p:spPr>
          <a:xfrm>
            <a:off x="6297168" y="3995928"/>
            <a:ext cx="2133600" cy="237744"/>
          </a:xfrm>
          <a:prstGeom prst="rect">
            <a:avLst/>
          </a:prstGeom>
          <a:noFill/>
          <a:ln/>
        </p:spPr>
        <p:txBody>
          <a:bodyPr wrap="square" lIns="0" tIns="0" rIns="0" bIns="0" rtlCol="0" anchor="t"/>
          <a:lstStyle/>
          <a:p>
            <a:pPr indent="0" marL="0">
              <a:buNone/>
            </a:pPr>
            <a:r>
              <a:rPr lang="en-US" sz="800" dirty="0">
                <a:solidFill>
                  <a:srgbClr val="FFFFFF"/>
                </a:solidFill>
                <a:latin typeface="Poppins SemiBold" pitchFamily="34" charset="0"/>
                <a:ea typeface="Poppins SemiBold" pitchFamily="34" charset="-122"/>
                <a:cs typeface="Poppins SemiBold" pitchFamily="34" charset="-120"/>
              </a:rPr>
              <a:t>CTV 5MM | OTT 3MM | Mobile 8MM</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THREE AUDIENCES BUILD TO 23MM HOUSEHOLDS</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HOW CTV REACH GROWS AS EACH AUDIENCE IS LAYERED IN · DEDUPLICATED</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Illustrative [CONFIRM]. Net-new counts remove homes already in an earlier audience. Source: App Science® household graph methodology, 2025 – 2026.</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7</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8" name="Shape 5"/>
          <p:cNvSpPr/>
          <p:nvPr/>
        </p:nvSpPr>
        <p:spPr>
          <a:xfrm>
            <a:off x="457200" y="1188720"/>
            <a:ext cx="5120640" cy="3246120"/>
          </a:xfrm>
          <a:prstGeom prst="rect">
            <a:avLst/>
          </a:prstGeom>
          <a:solidFill>
            <a:srgbClr val="262626"/>
          </a:solidFill>
          <a:ln w="12700">
            <a:solidFill>
              <a:srgbClr val="262626"/>
            </a:solidFill>
            <a:prstDash val="solid"/>
          </a:ln>
        </p:spPr>
      </p:sp>
      <p:graphicFrame>
        <p:nvGraphicFramePr>
          <p:cNvPr id="9" name="Chart 0" descr=""/>
          <p:cNvGraphicFramePr/>
          <p:nvPr/>
        </p:nvGraphicFramePr>
        <p:xfrm>
          <a:off x="548640" y="1280160"/>
          <a:ext cx="4937760" cy="306324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5852160" y="1188720"/>
            <a:ext cx="2834640" cy="868680"/>
          </a:xfrm>
          <a:prstGeom prst="rect">
            <a:avLst/>
          </a:prstGeom>
          <a:noFill/>
          <a:ln/>
        </p:spPr>
        <p:txBody>
          <a:bodyPr wrap="square" lIns="0" tIns="0" rIns="0" bIns="0" rtlCol="0" anchor="ctr"/>
          <a:lstStyle/>
          <a:p>
            <a:pPr indent="0" marL="0">
              <a:buNone/>
            </a:pPr>
            <a:r>
              <a:rPr lang="en-US" sz="4600" dirty="0">
                <a:solidFill>
                  <a:srgbClr val="FFC63E"/>
                </a:solidFill>
                <a:latin typeface="Poppins ExtraBold" pitchFamily="34" charset="0"/>
                <a:ea typeface="Poppins ExtraBold" pitchFamily="34" charset="-122"/>
                <a:cs typeface="Poppins ExtraBold" pitchFamily="34" charset="-120"/>
              </a:rPr>
              <a:t>23MM</a:t>
            </a:r>
            <a:endParaRPr lang="en-US" sz="4600" dirty="0"/>
          </a:p>
        </p:txBody>
      </p:sp>
      <p:sp>
        <p:nvSpPr>
          <p:cNvPr id="11" name="Text 7"/>
          <p:cNvSpPr txBox="1"/>
          <p:nvPr/>
        </p:nvSpPr>
        <p:spPr>
          <a:xfrm>
            <a:off x="5852160" y="2103120"/>
            <a:ext cx="2834640" cy="457200"/>
          </a:xfrm>
          <a:prstGeom prst="rect">
            <a:avLst/>
          </a:prstGeom>
          <a:noFill/>
          <a:ln/>
        </p:spPr>
        <p:txBody>
          <a:bodyPr wrap="square" lIns="0" tIns="0" rIns="0" bIns="0" rtlCol="0" anchor="t"/>
          <a:lstStyle/>
          <a:p>
            <a:pPr indent="0" marL="0">
              <a:buNone/>
            </a:pPr>
            <a:r>
              <a:rPr lang="en-US" sz="1050" dirty="0">
                <a:solidFill>
                  <a:srgbClr val="FFFFFF"/>
                </a:solidFill>
                <a:latin typeface="Poppins SemiBold" pitchFamily="34" charset="0"/>
                <a:ea typeface="Poppins SemiBold" pitchFamily="34" charset="-122"/>
                <a:cs typeface="Poppins SemiBold" pitchFamily="34" charset="-120"/>
              </a:rPr>
              <a:t>unique CTV households across the three audiences</a:t>
            </a:r>
            <a:endParaRPr lang="en-US" sz="1050" dirty="0"/>
          </a:p>
        </p:txBody>
      </p:sp>
      <p:sp>
        <p:nvSpPr>
          <p:cNvPr id="12" name="Text 8"/>
          <p:cNvSpPr txBox="1"/>
          <p:nvPr/>
        </p:nvSpPr>
        <p:spPr>
          <a:xfrm>
            <a:off x="5852160" y="2697480"/>
            <a:ext cx="2834640" cy="1737360"/>
          </a:xfrm>
          <a:prstGeom prst="rect">
            <a:avLst/>
          </a:prstGeom>
          <a:noFill/>
          <a:ln/>
        </p:spPr>
        <p:txBody>
          <a:bodyPr wrap="square" lIns="0" tIns="0" rIns="0" bIns="0" rtlCol="0" anchor="t"/>
          <a:lstStyle/>
          <a:p>
            <a:pPr indent="0" marL="0">
              <a:buNone/>
            </a:pPr>
            <a:r>
              <a:rPr lang="en-US" sz="900" dirty="0">
                <a:solidFill>
                  <a:srgbClr val="E3E3E3"/>
                </a:solidFill>
                <a:latin typeface="Poppins" pitchFamily="34" charset="0"/>
                <a:ea typeface="Poppins" pitchFamily="34" charset="-122"/>
                <a:cs typeface="Poppins" pitchFamily="34" charset="-120"/>
              </a:rPr>
              <a:t>Conquest adds the most homes, and that's where launch growth comes from.</a:t>
            </a:r>
            <a:endParaRPr lang="en-US" sz="900" dirty="0"/>
          </a:p>
          <a:p>
            <a:pPr indent="0" marL="0">
              <a:buNone/>
            </a:pPr>
            <a:endParaRPr lang="en-US" sz="900" dirty="0"/>
          </a:p>
          <a:p>
            <a:pPr indent="0" marL="0">
              <a:buNone/>
            </a:pPr>
            <a:r>
              <a:rPr lang="en-US" sz="900" dirty="0">
                <a:solidFill>
                  <a:srgbClr val="E3E3E3"/>
                </a:solidFill>
                <a:latin typeface="Poppins" pitchFamily="34" charset="0"/>
                <a:ea typeface="Poppins" pitchFamily="34" charset="-122"/>
                <a:cs typeface="Poppins" pitchFamily="34" charset="-120"/>
              </a:rPr>
              <a:t>We see which apps sit on a phone, find the home IP it returns to, and connect it to the CTV on that same IP.</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DATA, MEDIA AND CREATORS TOGETHER</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APP SCIENCE® RUNS ON SABIO MEDIA · NO DATA CPM, LICENSE OR MATCH FEE</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Creator TV® talent shown in Sabio's 2026 materials includes King Bach (58MM followers) and Azzyland (20MM). Talent fit for Activision to be confirmed.</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8</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8" name="Shape 5"/>
          <p:cNvSpPr/>
          <p:nvPr/>
        </p:nvSpPr>
        <p:spPr>
          <a:xfrm>
            <a:off x="457200" y="1188720"/>
            <a:ext cx="2377440" cy="1536192"/>
          </a:xfrm>
          <a:prstGeom prst="rect">
            <a:avLst/>
          </a:prstGeom>
          <a:solidFill>
            <a:srgbClr val="262626"/>
          </a:solidFill>
          <a:ln w="12700">
            <a:solidFill>
              <a:srgbClr val="262626"/>
            </a:solidFill>
            <a:prstDash val="solid"/>
          </a:ln>
        </p:spPr>
      </p:sp>
      <p:sp>
        <p:nvSpPr>
          <p:cNvPr id="9" name="Text 6"/>
          <p:cNvSpPr txBox="1"/>
          <p:nvPr/>
        </p:nvSpPr>
        <p:spPr>
          <a:xfrm>
            <a:off x="621792" y="135331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CTV</a:t>
            </a:r>
            <a:endParaRPr lang="en-US" sz="1100" dirty="0"/>
          </a:p>
        </p:txBody>
      </p:sp>
      <p:sp>
        <p:nvSpPr>
          <p:cNvPr id="10" name="Text 7"/>
          <p:cNvSpPr txBox="1"/>
          <p:nvPr/>
        </p:nvSpPr>
        <p:spPr>
          <a:xfrm>
            <a:off x="621792" y="166420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Every major TV OEM and streaming device. Non-skippable video with QR codes straight to pre-order.</a:t>
            </a:r>
            <a:endParaRPr lang="en-US" sz="850" dirty="0"/>
          </a:p>
        </p:txBody>
      </p:sp>
      <p:sp>
        <p:nvSpPr>
          <p:cNvPr id="11" name="Shape 8"/>
          <p:cNvSpPr/>
          <p:nvPr/>
        </p:nvSpPr>
        <p:spPr>
          <a:xfrm>
            <a:off x="2962656" y="1188720"/>
            <a:ext cx="2377440" cy="1536192"/>
          </a:xfrm>
          <a:prstGeom prst="rect">
            <a:avLst/>
          </a:prstGeom>
          <a:solidFill>
            <a:srgbClr val="262626"/>
          </a:solidFill>
          <a:ln w="12700">
            <a:solidFill>
              <a:srgbClr val="262626"/>
            </a:solidFill>
            <a:prstDash val="solid"/>
          </a:ln>
        </p:spPr>
      </p:sp>
      <p:sp>
        <p:nvSpPr>
          <p:cNvPr id="12" name="Text 9"/>
          <p:cNvSpPr txBox="1"/>
          <p:nvPr/>
        </p:nvSpPr>
        <p:spPr>
          <a:xfrm>
            <a:off x="3127248" y="135331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MOBILE</a:t>
            </a:r>
            <a:endParaRPr lang="en-US" sz="1100" dirty="0"/>
          </a:p>
        </p:txBody>
      </p:sp>
      <p:sp>
        <p:nvSpPr>
          <p:cNvPr id="13" name="Text 10"/>
          <p:cNvSpPr txBox="1"/>
          <p:nvPr/>
        </p:nvSpPr>
        <p:spPr>
          <a:xfrm>
            <a:off x="3127248" y="166420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In-app video and display on the same households, one tap from the store or the Call of Duty app.</a:t>
            </a:r>
            <a:endParaRPr lang="en-US" sz="850" dirty="0"/>
          </a:p>
        </p:txBody>
      </p:sp>
      <p:sp>
        <p:nvSpPr>
          <p:cNvPr id="14" name="Shape 11"/>
          <p:cNvSpPr/>
          <p:nvPr/>
        </p:nvSpPr>
        <p:spPr>
          <a:xfrm>
            <a:off x="457200" y="2834640"/>
            <a:ext cx="2377440" cy="1536192"/>
          </a:xfrm>
          <a:prstGeom prst="rect">
            <a:avLst/>
          </a:prstGeom>
          <a:solidFill>
            <a:srgbClr val="262626"/>
          </a:solidFill>
          <a:ln w="12700">
            <a:solidFill>
              <a:srgbClr val="262626"/>
            </a:solidFill>
            <a:prstDash val="solid"/>
          </a:ln>
        </p:spPr>
      </p:sp>
      <p:sp>
        <p:nvSpPr>
          <p:cNvPr id="15" name="Text 12"/>
          <p:cNvSpPr txBox="1"/>
          <p:nvPr/>
        </p:nvSpPr>
        <p:spPr>
          <a:xfrm>
            <a:off x="621792" y="299923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PROGRAMMATIC</a:t>
            </a:r>
            <a:endParaRPr lang="en-US" sz="1100" dirty="0"/>
          </a:p>
        </p:txBody>
      </p:sp>
      <p:sp>
        <p:nvSpPr>
          <p:cNvPr id="16" name="Text 13"/>
          <p:cNvSpPr txBox="1"/>
          <p:nvPr/>
        </p:nvSpPr>
        <p:spPr>
          <a:xfrm>
            <a:off x="621792" y="331012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PMP deals on Omnicom's seats in the DSP it already buys through, or managed IO.</a:t>
            </a:r>
            <a:endParaRPr lang="en-US" sz="850" dirty="0"/>
          </a:p>
        </p:txBody>
      </p:sp>
      <p:sp>
        <p:nvSpPr>
          <p:cNvPr id="17" name="Shape 14"/>
          <p:cNvSpPr/>
          <p:nvPr/>
        </p:nvSpPr>
        <p:spPr>
          <a:xfrm>
            <a:off x="2962656" y="2834640"/>
            <a:ext cx="2377440" cy="1536192"/>
          </a:xfrm>
          <a:prstGeom prst="rect">
            <a:avLst/>
          </a:prstGeom>
          <a:solidFill>
            <a:srgbClr val="262626"/>
          </a:solidFill>
          <a:ln w="12700">
            <a:solidFill>
              <a:srgbClr val="262626"/>
            </a:solidFill>
            <a:prstDash val="solid"/>
          </a:ln>
        </p:spPr>
      </p:sp>
      <p:sp>
        <p:nvSpPr>
          <p:cNvPr id="18" name="Text 15"/>
          <p:cNvSpPr txBox="1"/>
          <p:nvPr/>
        </p:nvSpPr>
        <p:spPr>
          <a:xfrm>
            <a:off x="3127248" y="2999232"/>
            <a:ext cx="2048256" cy="228600"/>
          </a:xfrm>
          <a:prstGeom prst="rect">
            <a:avLst/>
          </a:prstGeom>
          <a:noFill/>
          <a:ln/>
        </p:spPr>
        <p:txBody>
          <a:bodyPr wrap="square" lIns="0" tIns="0" rIns="0" bIns="0" rtlCol="0" anchor="t"/>
          <a:lstStyle/>
          <a:p>
            <a:pPr indent="0" marL="0">
              <a:buNone/>
            </a:pPr>
            <a:r>
              <a:rPr lang="en-US" sz="1100" dirty="0">
                <a:solidFill>
                  <a:srgbClr val="FFC63E"/>
                </a:solidFill>
                <a:latin typeface="Poppins ExtraBold" pitchFamily="34" charset="0"/>
                <a:ea typeface="Poppins ExtraBold" pitchFamily="34" charset="-122"/>
                <a:cs typeface="Poppins ExtraBold" pitchFamily="34" charset="-120"/>
              </a:rPr>
              <a:t>CREATOR TV®</a:t>
            </a:r>
            <a:endParaRPr lang="en-US" sz="1100" dirty="0"/>
          </a:p>
        </p:txBody>
      </p:sp>
      <p:sp>
        <p:nvSpPr>
          <p:cNvPr id="19" name="Text 16"/>
          <p:cNvSpPr txBox="1"/>
          <p:nvPr/>
        </p:nvSpPr>
        <p:spPr>
          <a:xfrm>
            <a:off x="3127248" y="3310128"/>
            <a:ext cx="2048256" cy="9601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Our owned streaming channel. Creator-led spots and integrations with gaming talent, next to the audience buy.</a:t>
            </a:r>
            <a:endParaRPr lang="en-US" sz="850" dirty="0"/>
          </a:p>
        </p:txBody>
      </p:sp>
      <p:sp>
        <p:nvSpPr>
          <p:cNvPr id="20" name="Shape 17"/>
          <p:cNvSpPr/>
          <p:nvPr/>
        </p:nvSpPr>
        <p:spPr>
          <a:xfrm>
            <a:off x="5486400" y="1188720"/>
            <a:ext cx="3200400" cy="3182112"/>
          </a:xfrm>
          <a:prstGeom prst="rect">
            <a:avLst/>
          </a:prstGeom>
          <a:solidFill>
            <a:srgbClr val="FFC63E"/>
          </a:solidFill>
          <a:ln w="12700">
            <a:solidFill>
              <a:srgbClr val="FFC63E"/>
            </a:solidFill>
            <a:prstDash val="solid"/>
          </a:ln>
        </p:spPr>
      </p:sp>
      <p:sp>
        <p:nvSpPr>
          <p:cNvPr id="21" name="Text 18"/>
          <p:cNvSpPr txBox="1"/>
          <p:nvPr/>
        </p:nvSpPr>
        <p:spPr>
          <a:xfrm>
            <a:off x="5687568" y="1371600"/>
            <a:ext cx="2798064" cy="274320"/>
          </a:xfrm>
          <a:prstGeom prst="rect">
            <a:avLst/>
          </a:prstGeom>
          <a:noFill/>
          <a:ln/>
        </p:spPr>
        <p:txBody>
          <a:bodyPr wrap="square" lIns="0" tIns="0" rIns="0" bIns="0" rtlCol="0" anchor="t"/>
          <a:lstStyle/>
          <a:p>
            <a:pPr indent="0" marL="0">
              <a:buNone/>
            </a:pPr>
            <a:r>
              <a:rPr lang="en-US" sz="1200" dirty="0">
                <a:solidFill>
                  <a:srgbClr val="1A1A1A"/>
                </a:solidFill>
                <a:latin typeface="Poppins ExtraBold" pitchFamily="34" charset="0"/>
                <a:ea typeface="Poppins ExtraBold" pitchFamily="34" charset="-122"/>
                <a:cs typeface="Poppins ExtraBold" pitchFamily="34" charset="-120"/>
              </a:rPr>
              <a:t>WHAT ACTIVISION GETS</a:t>
            </a:r>
            <a:endParaRPr lang="en-US" sz="1200" dirty="0"/>
          </a:p>
        </p:txBody>
      </p:sp>
      <p:sp>
        <p:nvSpPr>
          <p:cNvPr id="22" name="Text 19"/>
          <p:cNvSpPr txBox="1"/>
          <p:nvPr/>
        </p:nvSpPr>
        <p:spPr>
          <a:xfrm>
            <a:off x="5687568" y="1755648"/>
            <a:ext cx="2798064" cy="2468880"/>
          </a:xfrm>
          <a:prstGeom prst="rect">
            <a:avLst/>
          </a:prstGeom>
          <a:noFill/>
          <a:ln/>
        </p:spPr>
        <p:txBody>
          <a:bodyPr wrap="square" lIns="0" tIns="0" rIns="0" bIns="0" rtlCol="0" anchor="t"/>
          <a:lstStyle/>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Audience included in the media CPM</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Custom creative built in-house at no extra cost</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Household frequency managed across screens</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DoubleVerify on all supply, TAG registered</a:t>
            </a:r>
            <a:endParaRPr lang="en-US" sz="950" dirty="0"/>
          </a:p>
          <a:p>
            <a:pPr marL="152400" indent="-152400">
              <a:spcAft>
                <a:spcPts val="700"/>
              </a:spcAft>
              <a:buSzPct val="100000"/>
              <a:buChar char="•"/>
            </a:pPr>
            <a:r>
              <a:rPr lang="en-US" sz="950" dirty="0">
                <a:solidFill>
                  <a:srgbClr val="1A1A1A"/>
                </a:solidFill>
                <a:latin typeface="Poppins" pitchFamily="34" charset="0"/>
                <a:ea typeface="Poppins" pitchFamily="34" charset="-122"/>
                <a:cs typeface="Poppins" pitchFamily="34" charset="-120"/>
              </a:rPr>
              <a:t>An App Science® readout on who converted</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THREE FLIGHTS, ONE AUDIENCE PLAN</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THE TV BUILDS THE HYPE, THE PHONE CLOSES IT · OCT 5 TO NOV 19</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9</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7" name="Shape 4"/>
          <p:cNvSpPr/>
          <p:nvPr/>
        </p:nvSpPr>
        <p:spPr>
          <a:xfrm>
            <a:off x="457200" y="1188720"/>
            <a:ext cx="2499360" cy="2514600"/>
          </a:xfrm>
          <a:prstGeom prst="rect">
            <a:avLst/>
          </a:prstGeom>
          <a:solidFill>
            <a:srgbClr val="262626"/>
          </a:solidFill>
          <a:ln w="12700">
            <a:solidFill>
              <a:srgbClr val="262626"/>
            </a:solidFill>
            <a:prstDash val="solid"/>
          </a:ln>
        </p:spPr>
      </p:sp>
      <p:sp>
        <p:nvSpPr>
          <p:cNvPr id="8" name="Text 5"/>
          <p:cNvSpPr txBox="1"/>
          <p:nvPr/>
        </p:nvSpPr>
        <p:spPr>
          <a:xfrm>
            <a:off x="640080" y="1371600"/>
            <a:ext cx="213360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OCT 5 – 16 · PRE-ORDER</a:t>
            </a:r>
            <a:endParaRPr lang="en-US" sz="850" dirty="0"/>
          </a:p>
        </p:txBody>
      </p:sp>
      <p:sp>
        <p:nvSpPr>
          <p:cNvPr id="9" name="Text 6"/>
          <p:cNvSpPr txBox="1"/>
          <p:nvPr/>
        </p:nvSpPr>
        <p:spPr>
          <a:xfrm>
            <a:off x="640080" y="1645920"/>
            <a:ext cx="2133600" cy="594360"/>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Early access is the hook</a:t>
            </a:r>
            <a:endParaRPr lang="en-US" sz="1300" dirty="0"/>
          </a:p>
        </p:txBody>
      </p:sp>
      <p:sp>
        <p:nvSpPr>
          <p:cNvPr id="10" name="Text 7"/>
          <p:cNvSpPr txBox="1"/>
          <p:nvPr/>
        </p:nvSpPr>
        <p:spPr>
          <a:xfrm>
            <a:off x="640080" y="2331720"/>
            <a:ext cx="2133600" cy="1234440"/>
          </a:xfrm>
          <a:prstGeom prst="rect">
            <a:avLst/>
          </a:prstGeom>
          <a:noFill/>
          <a:ln/>
        </p:spPr>
        <p:txBody>
          <a:bodyPr wrap="square" lIns="0" tIns="0" rIns="0" bIns="0" rtlCol="0" anchor="t"/>
          <a:lstStyle/>
          <a:p>
            <a:pPr indent="0" marL="0">
              <a:buNone/>
            </a:pPr>
            <a:r>
              <a:rPr lang="en-US" sz="900" dirty="0">
                <a:solidFill>
                  <a:srgbClr val="E3E3E3"/>
                </a:solidFill>
                <a:latin typeface="Poppins" pitchFamily="34" charset="0"/>
                <a:ea typeface="Poppins" pitchFamily="34" charset="-122"/>
                <a:cs typeface="Poppins" pitchFamily="34" charset="-120"/>
              </a:rPr>
              <a:t>Battlefield and lapsed homes see the MW4 trailer on CTV. The QR code goes to pre-order, and the Oct 16 campaign early access does the selling.</a:t>
            </a:r>
            <a:endParaRPr lang="en-US" sz="900" dirty="0"/>
          </a:p>
        </p:txBody>
      </p:sp>
      <p:sp>
        <p:nvSpPr>
          <p:cNvPr id="11" name="Text 8"/>
          <p:cNvSpPr txBox="1"/>
          <p:nvPr/>
        </p:nvSpPr>
        <p:spPr>
          <a:xfrm>
            <a:off x="2956560" y="2125980"/>
            <a:ext cx="365760" cy="640080"/>
          </a:xfrm>
          <a:prstGeom prst="rect">
            <a:avLst/>
          </a:prstGeom>
          <a:noFill/>
          <a:ln/>
        </p:spPr>
        <p:txBody>
          <a:bodyPr wrap="square" lIns="0" tIns="0" rIns="0" bIns="0" rtlCol="0" anchor="ctr"/>
          <a:lstStyle/>
          <a:p>
            <a:pPr algn="ctr" indent="0" marL="0">
              <a:buNone/>
            </a:pPr>
            <a:r>
              <a:rPr lang="en-US" sz="3000" dirty="0">
                <a:solidFill>
                  <a:srgbClr val="FFC63E"/>
                </a:solidFill>
                <a:latin typeface="Poppins ExtraBold" pitchFamily="34" charset="0"/>
                <a:ea typeface="Poppins ExtraBold" pitchFamily="34" charset="-122"/>
                <a:cs typeface="Poppins ExtraBold" pitchFamily="34" charset="-120"/>
              </a:rPr>
              <a:t>›</a:t>
            </a:r>
            <a:endParaRPr lang="en-US" sz="3000" dirty="0"/>
          </a:p>
        </p:txBody>
      </p:sp>
      <p:sp>
        <p:nvSpPr>
          <p:cNvPr id="12" name="Shape 9"/>
          <p:cNvSpPr/>
          <p:nvPr/>
        </p:nvSpPr>
        <p:spPr>
          <a:xfrm>
            <a:off x="3322320" y="1188720"/>
            <a:ext cx="2499360" cy="2514600"/>
          </a:xfrm>
          <a:prstGeom prst="rect">
            <a:avLst/>
          </a:prstGeom>
          <a:solidFill>
            <a:srgbClr val="262626"/>
          </a:solidFill>
          <a:ln w="12700">
            <a:solidFill>
              <a:srgbClr val="262626"/>
            </a:solidFill>
            <a:prstDash val="solid"/>
          </a:ln>
        </p:spPr>
      </p:sp>
      <p:sp>
        <p:nvSpPr>
          <p:cNvPr id="13" name="Text 10"/>
          <p:cNvSpPr txBox="1"/>
          <p:nvPr/>
        </p:nvSpPr>
        <p:spPr>
          <a:xfrm>
            <a:off x="3505200" y="1371600"/>
            <a:ext cx="213360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OCT 16 – 23 · LAUNCH</a:t>
            </a:r>
            <a:endParaRPr lang="en-US" sz="850" dirty="0"/>
          </a:p>
        </p:txBody>
      </p:sp>
      <p:sp>
        <p:nvSpPr>
          <p:cNvPr id="14" name="Text 11"/>
          <p:cNvSpPr txBox="1"/>
          <p:nvPr/>
        </p:nvSpPr>
        <p:spPr>
          <a:xfrm>
            <a:off x="3505200" y="1645920"/>
            <a:ext cx="2133600" cy="594360"/>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Day one on every screen</a:t>
            </a:r>
            <a:endParaRPr lang="en-US" sz="1300" dirty="0"/>
          </a:p>
        </p:txBody>
      </p:sp>
      <p:sp>
        <p:nvSpPr>
          <p:cNvPr id="15" name="Text 12"/>
          <p:cNvSpPr txBox="1"/>
          <p:nvPr/>
        </p:nvSpPr>
        <p:spPr>
          <a:xfrm>
            <a:off x="3505200" y="2331720"/>
            <a:ext cx="2133600" cy="1234440"/>
          </a:xfrm>
          <a:prstGeom prst="rect">
            <a:avLst/>
          </a:prstGeom>
          <a:noFill/>
          <a:ln/>
        </p:spPr>
        <p:txBody>
          <a:bodyPr wrap="square" lIns="0" tIns="0" rIns="0" bIns="0" rtlCol="0" anchor="t"/>
          <a:lstStyle/>
          <a:p>
            <a:pPr indent="0" marL="0">
              <a:buNone/>
            </a:pPr>
            <a:r>
              <a:rPr lang="en-US" sz="900" dirty="0">
                <a:solidFill>
                  <a:srgbClr val="E3E3E3"/>
                </a:solidFill>
                <a:latin typeface="Poppins" pitchFamily="34" charset="0"/>
                <a:ea typeface="Poppins" pitchFamily="34" charset="-122"/>
                <a:cs typeface="Poppins" pitchFamily="34" charset="-120"/>
              </a:rPr>
              <a:t>Mobile retargets exposed homes. Switch 2 households get the code-in-box message. Creator TV® spots add reach at launch.</a:t>
            </a:r>
            <a:endParaRPr lang="en-US" sz="900" dirty="0"/>
          </a:p>
        </p:txBody>
      </p:sp>
      <p:sp>
        <p:nvSpPr>
          <p:cNvPr id="16" name="Text 13"/>
          <p:cNvSpPr txBox="1"/>
          <p:nvPr/>
        </p:nvSpPr>
        <p:spPr>
          <a:xfrm>
            <a:off x="5821680" y="2125980"/>
            <a:ext cx="365760" cy="640080"/>
          </a:xfrm>
          <a:prstGeom prst="rect">
            <a:avLst/>
          </a:prstGeom>
          <a:noFill/>
          <a:ln/>
        </p:spPr>
        <p:txBody>
          <a:bodyPr wrap="square" lIns="0" tIns="0" rIns="0" bIns="0" rtlCol="0" anchor="ctr"/>
          <a:lstStyle/>
          <a:p>
            <a:pPr algn="ctr" indent="0" marL="0">
              <a:buNone/>
            </a:pPr>
            <a:r>
              <a:rPr lang="en-US" sz="3000" dirty="0">
                <a:solidFill>
                  <a:srgbClr val="FFC63E"/>
                </a:solidFill>
                <a:latin typeface="Poppins ExtraBold" pitchFamily="34" charset="0"/>
                <a:ea typeface="Poppins ExtraBold" pitchFamily="34" charset="-122"/>
                <a:cs typeface="Poppins ExtraBold" pitchFamily="34" charset="-120"/>
              </a:rPr>
              <a:t>›</a:t>
            </a:r>
            <a:endParaRPr lang="en-US" sz="3000" dirty="0"/>
          </a:p>
        </p:txBody>
      </p:sp>
      <p:sp>
        <p:nvSpPr>
          <p:cNvPr id="17" name="Shape 14"/>
          <p:cNvSpPr/>
          <p:nvPr/>
        </p:nvSpPr>
        <p:spPr>
          <a:xfrm>
            <a:off x="6187440" y="1188720"/>
            <a:ext cx="2499360" cy="2514600"/>
          </a:xfrm>
          <a:prstGeom prst="rect">
            <a:avLst/>
          </a:prstGeom>
          <a:solidFill>
            <a:srgbClr val="262626"/>
          </a:solidFill>
          <a:ln w="12700">
            <a:solidFill>
              <a:srgbClr val="262626"/>
            </a:solidFill>
            <a:prstDash val="solid"/>
          </a:ln>
        </p:spPr>
      </p:sp>
      <p:sp>
        <p:nvSpPr>
          <p:cNvPr id="18" name="Text 15"/>
          <p:cNvSpPr txBox="1"/>
          <p:nvPr/>
        </p:nvSpPr>
        <p:spPr>
          <a:xfrm>
            <a:off x="6370320" y="1371600"/>
            <a:ext cx="2133600"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OCT 23 – NOV 19 · HOLD</a:t>
            </a:r>
            <a:endParaRPr lang="en-US" sz="850" dirty="0"/>
          </a:p>
        </p:txBody>
      </p:sp>
      <p:sp>
        <p:nvSpPr>
          <p:cNvPr id="19" name="Text 16"/>
          <p:cNvSpPr txBox="1"/>
          <p:nvPr/>
        </p:nvSpPr>
        <p:spPr>
          <a:xfrm>
            <a:off x="6370320" y="1645920"/>
            <a:ext cx="2133600" cy="594360"/>
          </a:xfrm>
          <a:prstGeom prst="rect">
            <a:avLst/>
          </a:prstGeom>
          <a:noFill/>
          <a:ln/>
        </p:spPr>
        <p:txBody>
          <a:bodyPr wrap="square" lIns="0" tIns="0" rIns="0" bIns="0" rtlCol="0" anchor="t"/>
          <a:lstStyle/>
          <a:p>
            <a:pPr indent="0" marL="0">
              <a:buNone/>
            </a:pPr>
            <a:r>
              <a:rPr lang="en-US" sz="1300" dirty="0">
                <a:solidFill>
                  <a:srgbClr val="FFFFFF"/>
                </a:solidFill>
                <a:latin typeface="Poppins ExtraBold" pitchFamily="34" charset="0"/>
                <a:ea typeface="Poppins ExtraBold" pitchFamily="34" charset="-122"/>
                <a:cs typeface="Poppins ExtraBold" pitchFamily="34" charset="-120"/>
              </a:rPr>
              <a:t>Keep them before GTA VI</a:t>
            </a:r>
            <a:endParaRPr lang="en-US" sz="1300" dirty="0"/>
          </a:p>
        </p:txBody>
      </p:sp>
      <p:sp>
        <p:nvSpPr>
          <p:cNvPr id="20" name="Text 17"/>
          <p:cNvSpPr txBox="1"/>
          <p:nvPr/>
        </p:nvSpPr>
        <p:spPr>
          <a:xfrm>
            <a:off x="6370320" y="2331720"/>
            <a:ext cx="2133600" cy="1234440"/>
          </a:xfrm>
          <a:prstGeom prst="rect">
            <a:avLst/>
          </a:prstGeom>
          <a:noFill/>
          <a:ln/>
        </p:spPr>
        <p:txBody>
          <a:bodyPr wrap="square" lIns="0" tIns="0" rIns="0" bIns="0" rtlCol="0" anchor="t"/>
          <a:lstStyle/>
          <a:p>
            <a:pPr indent="0" marL="0">
              <a:buNone/>
            </a:pPr>
            <a:r>
              <a:rPr lang="en-US" sz="900" dirty="0">
                <a:solidFill>
                  <a:srgbClr val="E3E3E3"/>
                </a:solidFill>
                <a:latin typeface="Poppins" pitchFamily="34" charset="0"/>
                <a:ea typeface="Poppins" pitchFamily="34" charset="-122"/>
                <a:cs typeface="Poppins" pitchFamily="34" charset="-120"/>
              </a:rPr>
              <a:t>Converted homes are suppressed. Budget shifts to the audiences still converting, until GTA VI takes the spotlight.</a:t>
            </a:r>
            <a:endParaRPr lang="en-US" sz="900" dirty="0"/>
          </a:p>
        </p:txBody>
      </p:sp>
      <p:sp>
        <p:nvSpPr>
          <p:cNvPr id="21" name="Text 18"/>
          <p:cNvSpPr txBox="1"/>
          <p:nvPr/>
        </p:nvSpPr>
        <p:spPr>
          <a:xfrm>
            <a:off x="457200" y="3886200"/>
            <a:ext cx="8229600" cy="228600"/>
          </a:xfrm>
          <a:prstGeom prst="rect">
            <a:avLst/>
          </a:prstGeom>
          <a:noFill/>
          <a:ln/>
        </p:spPr>
        <p:txBody>
          <a:bodyPr wrap="square" lIns="0" tIns="0" rIns="0" bIns="0" rtlCol="0" anchor="t"/>
          <a:lstStyle/>
          <a:p>
            <a:pPr indent="0" marL="0">
              <a:buNone/>
            </a:pPr>
            <a:r>
              <a:rPr lang="en-US" sz="850" dirty="0">
                <a:solidFill>
                  <a:srgbClr val="A7A7A7"/>
                </a:solidFill>
                <a:latin typeface="Poppins SemiBold" pitchFamily="34" charset="0"/>
                <a:ea typeface="Poppins SemiBold" pitchFamily="34" charset="-122"/>
                <a:cs typeface="Poppins SemiBold" pitchFamily="34" charset="-120"/>
              </a:rPr>
              <a:t>Benchmarks: CTV video with QR code, 96% VCR. Mobile video, 85% VCR.</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MEASURED AGAINST PRE-ORDERS AND INSTALLS</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TWO PATHS TO ONE CONVERSION · ACTIVISION'S MEASUREMENT PARTNER STAYS THE JUDGE</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Source: Sabio Performance attribution materials, 2025 – 2026. MMP integration confirmed at setup: Adjust live today, AppsFlyer validation in progress [CONFIRM].</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10</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8" name="Text 5"/>
          <p:cNvSpPr txBox="1"/>
          <p:nvPr/>
        </p:nvSpPr>
        <p:spPr>
          <a:xfrm>
            <a:off x="457200" y="1170432"/>
            <a:ext cx="8229600" cy="219456"/>
          </a:xfrm>
          <a:prstGeom prst="rect">
            <a:avLst/>
          </a:prstGeom>
          <a:noFill/>
          <a:ln/>
        </p:spPr>
        <p:txBody>
          <a:bodyPr wrap="square" lIns="0" tIns="0" rIns="0" bIns="0" rtlCol="0" anchor="t"/>
          <a:lstStyle/>
          <a:p>
            <a:pPr indent="0" marL="0">
              <a:buNone/>
            </a:pPr>
            <a:r>
              <a:rPr lang="en-US" sz="900" spc="100" kern="0" dirty="0">
                <a:solidFill>
                  <a:srgbClr val="FFFFFF"/>
                </a:solidFill>
                <a:latin typeface="Poppins SemiBold" pitchFamily="34" charset="0"/>
                <a:ea typeface="Poppins SemiBold" pitchFamily="34" charset="-122"/>
                <a:cs typeface="Poppins SemiBold" pitchFamily="34" charset="-120"/>
              </a:rPr>
              <a:t>CTV · VIEW-THROUGH TO PRE-ORDER</a:t>
            </a:r>
            <a:endParaRPr lang="en-US" sz="900" dirty="0"/>
          </a:p>
        </p:txBody>
      </p:sp>
      <p:sp>
        <p:nvSpPr>
          <p:cNvPr id="9" name="Shape 6"/>
          <p:cNvSpPr/>
          <p:nvPr/>
        </p:nvSpPr>
        <p:spPr>
          <a:xfrm>
            <a:off x="457200" y="1463040"/>
            <a:ext cx="1975104" cy="1170432"/>
          </a:xfrm>
          <a:prstGeom prst="rect">
            <a:avLst/>
          </a:prstGeom>
          <a:solidFill>
            <a:srgbClr val="262626"/>
          </a:solidFill>
          <a:ln w="12700">
            <a:solidFill>
              <a:srgbClr val="262626"/>
            </a:solidFill>
            <a:prstDash val="solid"/>
          </a:ln>
        </p:spPr>
      </p:sp>
      <p:sp>
        <p:nvSpPr>
          <p:cNvPr id="10" name="Text 7"/>
          <p:cNvSpPr txBox="1"/>
          <p:nvPr/>
        </p:nvSpPr>
        <p:spPr>
          <a:xfrm>
            <a:off x="585216" y="1554480"/>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01</a:t>
            </a:r>
            <a:endParaRPr lang="en-US" sz="1300" dirty="0"/>
          </a:p>
        </p:txBody>
      </p:sp>
      <p:sp>
        <p:nvSpPr>
          <p:cNvPr id="11" name="Text 8"/>
          <p:cNvSpPr txBox="1"/>
          <p:nvPr/>
        </p:nvSpPr>
        <p:spPr>
          <a:xfrm>
            <a:off x="585216" y="1865376"/>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Ad plays on the TV. Household IP is logged</a:t>
            </a:r>
            <a:endParaRPr lang="en-US" sz="850" dirty="0"/>
          </a:p>
        </p:txBody>
      </p:sp>
      <p:sp>
        <p:nvSpPr>
          <p:cNvPr id="12" name="Shape 9"/>
          <p:cNvSpPr/>
          <p:nvPr/>
        </p:nvSpPr>
        <p:spPr>
          <a:xfrm>
            <a:off x="2542032" y="1463040"/>
            <a:ext cx="1975104" cy="1170432"/>
          </a:xfrm>
          <a:prstGeom prst="rect">
            <a:avLst/>
          </a:prstGeom>
          <a:solidFill>
            <a:srgbClr val="262626"/>
          </a:solidFill>
          <a:ln w="12700">
            <a:solidFill>
              <a:srgbClr val="262626"/>
            </a:solidFill>
            <a:prstDash val="solid"/>
          </a:ln>
        </p:spPr>
      </p:sp>
      <p:sp>
        <p:nvSpPr>
          <p:cNvPr id="13" name="Text 10"/>
          <p:cNvSpPr txBox="1"/>
          <p:nvPr/>
        </p:nvSpPr>
        <p:spPr>
          <a:xfrm>
            <a:off x="2670048" y="1554480"/>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02</a:t>
            </a:r>
            <a:endParaRPr lang="en-US" sz="1300" dirty="0"/>
          </a:p>
        </p:txBody>
      </p:sp>
      <p:sp>
        <p:nvSpPr>
          <p:cNvPr id="14" name="Text 11"/>
          <p:cNvSpPr txBox="1"/>
          <p:nvPr/>
        </p:nvSpPr>
        <p:spPr>
          <a:xfrm>
            <a:off x="2670048" y="1865376"/>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Someone in the home scans the QR or searches the store</a:t>
            </a:r>
            <a:endParaRPr lang="en-US" sz="850" dirty="0"/>
          </a:p>
        </p:txBody>
      </p:sp>
      <p:sp>
        <p:nvSpPr>
          <p:cNvPr id="15" name="Shape 12"/>
          <p:cNvSpPr/>
          <p:nvPr/>
        </p:nvSpPr>
        <p:spPr>
          <a:xfrm>
            <a:off x="4626864" y="1463040"/>
            <a:ext cx="1975104" cy="1170432"/>
          </a:xfrm>
          <a:prstGeom prst="rect">
            <a:avLst/>
          </a:prstGeom>
          <a:solidFill>
            <a:srgbClr val="262626"/>
          </a:solidFill>
          <a:ln w="12700">
            <a:solidFill>
              <a:srgbClr val="262626"/>
            </a:solidFill>
            <a:prstDash val="solid"/>
          </a:ln>
        </p:spPr>
      </p:sp>
      <p:sp>
        <p:nvSpPr>
          <p:cNvPr id="16" name="Text 13"/>
          <p:cNvSpPr txBox="1"/>
          <p:nvPr/>
        </p:nvSpPr>
        <p:spPr>
          <a:xfrm>
            <a:off x="4754880" y="1554480"/>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03</a:t>
            </a:r>
            <a:endParaRPr lang="en-US" sz="1300" dirty="0"/>
          </a:p>
        </p:txBody>
      </p:sp>
      <p:sp>
        <p:nvSpPr>
          <p:cNvPr id="17" name="Text 14"/>
          <p:cNvSpPr txBox="1"/>
          <p:nvPr/>
        </p:nvSpPr>
        <p:spPr>
          <a:xfrm>
            <a:off x="4754880" y="1865376"/>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The pre-order page is visited and the Sabio pixel fires</a:t>
            </a:r>
            <a:endParaRPr lang="en-US" sz="850" dirty="0"/>
          </a:p>
        </p:txBody>
      </p:sp>
      <p:sp>
        <p:nvSpPr>
          <p:cNvPr id="18" name="Shape 15"/>
          <p:cNvSpPr/>
          <p:nvPr/>
        </p:nvSpPr>
        <p:spPr>
          <a:xfrm>
            <a:off x="6711696" y="1463040"/>
            <a:ext cx="1975104" cy="1170432"/>
          </a:xfrm>
          <a:prstGeom prst="rect">
            <a:avLst/>
          </a:prstGeom>
          <a:solidFill>
            <a:srgbClr val="FFC63E"/>
          </a:solidFill>
          <a:ln w="12700">
            <a:solidFill>
              <a:srgbClr val="FFC63E"/>
            </a:solidFill>
            <a:prstDash val="solid"/>
          </a:ln>
        </p:spPr>
      </p:sp>
      <p:sp>
        <p:nvSpPr>
          <p:cNvPr id="19" name="Text 16"/>
          <p:cNvSpPr txBox="1"/>
          <p:nvPr/>
        </p:nvSpPr>
        <p:spPr>
          <a:xfrm>
            <a:off x="6839712" y="1554480"/>
            <a:ext cx="548640" cy="274320"/>
          </a:xfrm>
          <a:prstGeom prst="rect">
            <a:avLst/>
          </a:prstGeom>
          <a:noFill/>
          <a:ln/>
        </p:spPr>
        <p:txBody>
          <a:bodyPr wrap="square" lIns="0" tIns="0" rIns="0" bIns="0" rtlCol="0" anchor="t"/>
          <a:lstStyle/>
          <a:p>
            <a:pPr indent="0" marL="0">
              <a:buNone/>
            </a:pPr>
            <a:r>
              <a:rPr lang="en-US" sz="1300" dirty="0">
                <a:solidFill>
                  <a:srgbClr val="1A1A1A"/>
                </a:solidFill>
                <a:latin typeface="Poppins ExtraBold" pitchFamily="34" charset="0"/>
                <a:ea typeface="Poppins ExtraBold" pitchFamily="34" charset="-122"/>
                <a:cs typeface="Poppins ExtraBold" pitchFamily="34" charset="-120"/>
              </a:rPr>
              <a:t>04</a:t>
            </a:r>
            <a:endParaRPr lang="en-US" sz="1300" dirty="0"/>
          </a:p>
        </p:txBody>
      </p:sp>
      <p:sp>
        <p:nvSpPr>
          <p:cNvPr id="20" name="Text 17"/>
          <p:cNvSpPr txBox="1"/>
          <p:nvPr/>
        </p:nvSpPr>
        <p:spPr>
          <a:xfrm>
            <a:off x="6839712" y="1865376"/>
            <a:ext cx="1719072" cy="731520"/>
          </a:xfrm>
          <a:prstGeom prst="rect">
            <a:avLst/>
          </a:prstGeom>
          <a:noFill/>
          <a:ln/>
        </p:spPr>
        <p:txBody>
          <a:bodyPr wrap="square" lIns="0" tIns="0" rIns="0" bIns="0" rtlCol="0" anchor="t"/>
          <a:lstStyle/>
          <a:p>
            <a:pPr indent="0" marL="0">
              <a:buNone/>
            </a:pPr>
            <a:r>
              <a:rPr lang="en-US" sz="850" dirty="0">
                <a:solidFill>
                  <a:srgbClr val="1A1A1A"/>
                </a:solidFill>
                <a:latin typeface="Poppins" pitchFamily="34" charset="0"/>
                <a:ea typeface="Poppins" pitchFamily="34" charset="-122"/>
                <a:cs typeface="Poppins" pitchFamily="34" charset="-120"/>
              </a:rPr>
              <a:t>Visit matched to the impression and read against a 10% holdout</a:t>
            </a:r>
            <a:endParaRPr lang="en-US" sz="850" dirty="0"/>
          </a:p>
        </p:txBody>
      </p:sp>
      <p:sp>
        <p:nvSpPr>
          <p:cNvPr id="21" name="Text 18"/>
          <p:cNvSpPr txBox="1"/>
          <p:nvPr/>
        </p:nvSpPr>
        <p:spPr>
          <a:xfrm>
            <a:off x="457200" y="2798064"/>
            <a:ext cx="8229600" cy="219456"/>
          </a:xfrm>
          <a:prstGeom prst="rect">
            <a:avLst/>
          </a:prstGeom>
          <a:noFill/>
          <a:ln/>
        </p:spPr>
        <p:txBody>
          <a:bodyPr wrap="square" lIns="0" tIns="0" rIns="0" bIns="0" rtlCol="0" anchor="t"/>
          <a:lstStyle/>
          <a:p>
            <a:pPr indent="0" marL="0">
              <a:buNone/>
            </a:pPr>
            <a:r>
              <a:rPr lang="en-US" sz="900" spc="100" kern="0" dirty="0">
                <a:solidFill>
                  <a:srgbClr val="FFFFFF"/>
                </a:solidFill>
                <a:latin typeface="Poppins SemiBold" pitchFamily="34" charset="0"/>
                <a:ea typeface="Poppins SemiBold" pitchFamily="34" charset="-122"/>
                <a:cs typeface="Poppins SemiBold" pitchFamily="34" charset="-120"/>
              </a:rPr>
              <a:t>MOBILE · CLICK-THROUGH TO INSTALL</a:t>
            </a:r>
            <a:endParaRPr lang="en-US" sz="900" dirty="0"/>
          </a:p>
        </p:txBody>
      </p:sp>
      <p:sp>
        <p:nvSpPr>
          <p:cNvPr id="22" name="Shape 19"/>
          <p:cNvSpPr/>
          <p:nvPr/>
        </p:nvSpPr>
        <p:spPr>
          <a:xfrm>
            <a:off x="457200" y="3090672"/>
            <a:ext cx="1975104" cy="1170432"/>
          </a:xfrm>
          <a:prstGeom prst="rect">
            <a:avLst/>
          </a:prstGeom>
          <a:solidFill>
            <a:srgbClr val="262626"/>
          </a:solidFill>
          <a:ln w="12700">
            <a:solidFill>
              <a:srgbClr val="262626"/>
            </a:solidFill>
            <a:prstDash val="solid"/>
          </a:ln>
        </p:spPr>
      </p:sp>
      <p:sp>
        <p:nvSpPr>
          <p:cNvPr id="23" name="Text 20"/>
          <p:cNvSpPr txBox="1"/>
          <p:nvPr/>
        </p:nvSpPr>
        <p:spPr>
          <a:xfrm>
            <a:off x="585216" y="3182112"/>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01</a:t>
            </a:r>
            <a:endParaRPr lang="en-US" sz="1300" dirty="0"/>
          </a:p>
        </p:txBody>
      </p:sp>
      <p:sp>
        <p:nvSpPr>
          <p:cNvPr id="24" name="Text 21"/>
          <p:cNvSpPr txBox="1"/>
          <p:nvPr/>
        </p:nvSpPr>
        <p:spPr>
          <a:xfrm>
            <a:off x="585216" y="3493008"/>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Ad plays on the phone and is tapped. Device ID logged</a:t>
            </a:r>
            <a:endParaRPr lang="en-US" sz="850" dirty="0"/>
          </a:p>
        </p:txBody>
      </p:sp>
      <p:sp>
        <p:nvSpPr>
          <p:cNvPr id="25" name="Shape 22"/>
          <p:cNvSpPr/>
          <p:nvPr/>
        </p:nvSpPr>
        <p:spPr>
          <a:xfrm>
            <a:off x="2542032" y="3090672"/>
            <a:ext cx="1975104" cy="1170432"/>
          </a:xfrm>
          <a:prstGeom prst="rect">
            <a:avLst/>
          </a:prstGeom>
          <a:solidFill>
            <a:srgbClr val="262626"/>
          </a:solidFill>
          <a:ln w="12700">
            <a:solidFill>
              <a:srgbClr val="262626"/>
            </a:solidFill>
            <a:prstDash val="solid"/>
          </a:ln>
        </p:spPr>
      </p:sp>
      <p:sp>
        <p:nvSpPr>
          <p:cNvPr id="26" name="Text 23"/>
          <p:cNvSpPr txBox="1"/>
          <p:nvPr/>
        </p:nvSpPr>
        <p:spPr>
          <a:xfrm>
            <a:off x="2670048" y="3182112"/>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02</a:t>
            </a:r>
            <a:endParaRPr lang="en-US" sz="1300" dirty="0"/>
          </a:p>
        </p:txBody>
      </p:sp>
      <p:sp>
        <p:nvSpPr>
          <p:cNvPr id="27" name="Text 24"/>
          <p:cNvSpPr txBox="1"/>
          <p:nvPr/>
        </p:nvSpPr>
        <p:spPr>
          <a:xfrm>
            <a:off x="2670048" y="3493008"/>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Redirected to the app store</a:t>
            </a:r>
            <a:endParaRPr lang="en-US" sz="850" dirty="0"/>
          </a:p>
        </p:txBody>
      </p:sp>
      <p:sp>
        <p:nvSpPr>
          <p:cNvPr id="28" name="Shape 25"/>
          <p:cNvSpPr/>
          <p:nvPr/>
        </p:nvSpPr>
        <p:spPr>
          <a:xfrm>
            <a:off x="4626864" y="3090672"/>
            <a:ext cx="1975104" cy="1170432"/>
          </a:xfrm>
          <a:prstGeom prst="rect">
            <a:avLst/>
          </a:prstGeom>
          <a:solidFill>
            <a:srgbClr val="262626"/>
          </a:solidFill>
          <a:ln w="12700">
            <a:solidFill>
              <a:srgbClr val="262626"/>
            </a:solidFill>
            <a:prstDash val="solid"/>
          </a:ln>
        </p:spPr>
      </p:sp>
      <p:sp>
        <p:nvSpPr>
          <p:cNvPr id="29" name="Text 26"/>
          <p:cNvSpPr txBox="1"/>
          <p:nvPr/>
        </p:nvSpPr>
        <p:spPr>
          <a:xfrm>
            <a:off x="4754880" y="3182112"/>
            <a:ext cx="548640" cy="274320"/>
          </a:xfrm>
          <a:prstGeom prst="rect">
            <a:avLst/>
          </a:prstGeom>
          <a:noFill/>
          <a:ln/>
        </p:spPr>
        <p:txBody>
          <a:bodyPr wrap="square" lIns="0" tIns="0" rIns="0" bIns="0" rtlCol="0" anchor="t"/>
          <a:lstStyle/>
          <a:p>
            <a:pPr indent="0" marL="0">
              <a:buNone/>
            </a:pPr>
            <a:r>
              <a:rPr lang="en-US" sz="1300" dirty="0">
                <a:solidFill>
                  <a:srgbClr val="FFC63E"/>
                </a:solidFill>
                <a:latin typeface="Poppins ExtraBold" pitchFamily="34" charset="0"/>
                <a:ea typeface="Poppins ExtraBold" pitchFamily="34" charset="-122"/>
                <a:cs typeface="Poppins ExtraBold" pitchFamily="34" charset="-120"/>
              </a:rPr>
              <a:t>03</a:t>
            </a:r>
            <a:endParaRPr lang="en-US" sz="1300" dirty="0"/>
          </a:p>
        </p:txBody>
      </p:sp>
      <p:sp>
        <p:nvSpPr>
          <p:cNvPr id="30" name="Text 27"/>
          <p:cNvSpPr txBox="1"/>
          <p:nvPr/>
        </p:nvSpPr>
        <p:spPr>
          <a:xfrm>
            <a:off x="4754880" y="3493008"/>
            <a:ext cx="1719072" cy="73152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Call of Duty app installs and opens</a:t>
            </a:r>
            <a:endParaRPr lang="en-US" sz="850" dirty="0"/>
          </a:p>
        </p:txBody>
      </p:sp>
      <p:sp>
        <p:nvSpPr>
          <p:cNvPr id="31" name="Shape 28"/>
          <p:cNvSpPr/>
          <p:nvPr/>
        </p:nvSpPr>
        <p:spPr>
          <a:xfrm>
            <a:off x="6711696" y="3090672"/>
            <a:ext cx="1975104" cy="1170432"/>
          </a:xfrm>
          <a:prstGeom prst="rect">
            <a:avLst/>
          </a:prstGeom>
          <a:solidFill>
            <a:srgbClr val="FFC63E"/>
          </a:solidFill>
          <a:ln w="12700">
            <a:solidFill>
              <a:srgbClr val="FFC63E"/>
            </a:solidFill>
            <a:prstDash val="solid"/>
          </a:ln>
        </p:spPr>
      </p:sp>
      <p:sp>
        <p:nvSpPr>
          <p:cNvPr id="32" name="Text 29"/>
          <p:cNvSpPr txBox="1"/>
          <p:nvPr/>
        </p:nvSpPr>
        <p:spPr>
          <a:xfrm>
            <a:off x="6839712" y="3182112"/>
            <a:ext cx="548640" cy="274320"/>
          </a:xfrm>
          <a:prstGeom prst="rect">
            <a:avLst/>
          </a:prstGeom>
          <a:noFill/>
          <a:ln/>
        </p:spPr>
        <p:txBody>
          <a:bodyPr wrap="square" lIns="0" tIns="0" rIns="0" bIns="0" rtlCol="0" anchor="t"/>
          <a:lstStyle/>
          <a:p>
            <a:pPr indent="0" marL="0">
              <a:buNone/>
            </a:pPr>
            <a:r>
              <a:rPr lang="en-US" sz="1300" dirty="0">
                <a:solidFill>
                  <a:srgbClr val="1A1A1A"/>
                </a:solidFill>
                <a:latin typeface="Poppins ExtraBold" pitchFamily="34" charset="0"/>
                <a:ea typeface="Poppins ExtraBold" pitchFamily="34" charset="-122"/>
                <a:cs typeface="Poppins ExtraBold" pitchFamily="34" charset="-120"/>
              </a:rPr>
              <a:t>04</a:t>
            </a:r>
            <a:endParaRPr lang="en-US" sz="1300" dirty="0"/>
          </a:p>
        </p:txBody>
      </p:sp>
      <p:sp>
        <p:nvSpPr>
          <p:cNvPr id="33" name="Text 30"/>
          <p:cNvSpPr txBox="1"/>
          <p:nvPr/>
        </p:nvSpPr>
        <p:spPr>
          <a:xfrm>
            <a:off x="6839712" y="3493008"/>
            <a:ext cx="1719072" cy="731520"/>
          </a:xfrm>
          <a:prstGeom prst="rect">
            <a:avLst/>
          </a:prstGeom>
          <a:noFill/>
          <a:ln/>
        </p:spPr>
        <p:txBody>
          <a:bodyPr wrap="square" lIns="0" tIns="0" rIns="0" bIns="0" rtlCol="0" anchor="t"/>
          <a:lstStyle/>
          <a:p>
            <a:pPr indent="0" marL="0">
              <a:buNone/>
            </a:pPr>
            <a:r>
              <a:rPr lang="en-US" sz="850" dirty="0">
                <a:solidFill>
                  <a:srgbClr val="1A1A1A"/>
                </a:solidFill>
                <a:latin typeface="Poppins" pitchFamily="34" charset="0"/>
                <a:ea typeface="Poppins" pitchFamily="34" charset="-122"/>
                <a:cs typeface="Poppins" pitchFamily="34" charset="-120"/>
              </a:rPr>
              <a:t>The MMP matches the device ID to the click. Install counted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GAMING AND YOUTH AUDIENCES, PROVEN LIVE</a:t>
            </a:r>
            <a:endParaRPr lang="en-US" sz="20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CLEARED CASE STUDIES AND ANONYMIZED READOUTS</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Sources: Sabio 2026 Master Case Study Deck; Sabio x Kinesso partnership review, Sep 2026; government health agency case study.</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11</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8" name="Shape 5"/>
          <p:cNvSpPr/>
          <p:nvPr/>
        </p:nvSpPr>
        <p:spPr>
          <a:xfrm>
            <a:off x="457200" y="1188720"/>
            <a:ext cx="5029200" cy="987552"/>
          </a:xfrm>
          <a:prstGeom prst="rect">
            <a:avLst/>
          </a:prstGeom>
          <a:solidFill>
            <a:srgbClr val="262626"/>
          </a:solidFill>
          <a:ln w="12700">
            <a:solidFill>
              <a:srgbClr val="262626"/>
            </a:solidFill>
            <a:prstDash val="solid"/>
          </a:ln>
        </p:spPr>
      </p:sp>
      <p:sp>
        <p:nvSpPr>
          <p:cNvPr id="9" name="Text 6"/>
          <p:cNvSpPr txBox="1"/>
          <p:nvPr/>
        </p:nvSpPr>
        <p:spPr>
          <a:xfrm>
            <a:off x="640080" y="1188720"/>
            <a:ext cx="1737360" cy="987552"/>
          </a:xfrm>
          <a:prstGeom prst="rect">
            <a:avLst/>
          </a:prstGeom>
          <a:noFill/>
          <a:ln/>
        </p:spPr>
        <p:txBody>
          <a:bodyPr wrap="square" lIns="0" tIns="0" rIns="0" bIns="0" rtlCol="0" anchor="ctr"/>
          <a:lstStyle/>
          <a:p>
            <a:pPr indent="0" marL="0">
              <a:buNone/>
            </a:pPr>
            <a:r>
              <a:rPr lang="en-US" sz="2800" dirty="0">
                <a:solidFill>
                  <a:srgbClr val="FFC63E"/>
                </a:solidFill>
                <a:latin typeface="Poppins ExtraBold" pitchFamily="34" charset="0"/>
                <a:ea typeface="Poppins ExtraBold" pitchFamily="34" charset="-122"/>
                <a:cs typeface="Poppins ExtraBold" pitchFamily="34" charset="-120"/>
              </a:rPr>
              <a:t>99%</a:t>
            </a:r>
            <a:endParaRPr lang="en-US" sz="2800" dirty="0"/>
          </a:p>
        </p:txBody>
      </p:sp>
      <p:sp>
        <p:nvSpPr>
          <p:cNvPr id="10" name="Text 7"/>
          <p:cNvSpPr txBox="1"/>
          <p:nvPr/>
        </p:nvSpPr>
        <p:spPr>
          <a:xfrm>
            <a:off x="2423160" y="1344168"/>
            <a:ext cx="2926080" cy="27432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CTV video completion rate</a:t>
            </a:r>
            <a:endParaRPr lang="en-US" sz="1000" dirty="0"/>
          </a:p>
        </p:txBody>
      </p:sp>
      <p:sp>
        <p:nvSpPr>
          <p:cNvPr id="11" name="Text 8"/>
          <p:cNvSpPr txBox="1"/>
          <p:nvPr/>
        </p:nvSpPr>
        <p:spPr>
          <a:xfrm>
            <a:off x="2423160" y="1645920"/>
            <a:ext cx="2926080" cy="45720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Amazon cloud gaming, CTV-exclusive campaign</a:t>
            </a:r>
            <a:endParaRPr lang="en-US" sz="800" dirty="0"/>
          </a:p>
        </p:txBody>
      </p:sp>
      <p:sp>
        <p:nvSpPr>
          <p:cNvPr id="12" name="Shape 9"/>
          <p:cNvSpPr/>
          <p:nvPr/>
        </p:nvSpPr>
        <p:spPr>
          <a:xfrm>
            <a:off x="457200" y="2286000"/>
            <a:ext cx="5029200" cy="987552"/>
          </a:xfrm>
          <a:prstGeom prst="rect">
            <a:avLst/>
          </a:prstGeom>
          <a:solidFill>
            <a:srgbClr val="262626"/>
          </a:solidFill>
          <a:ln w="12700">
            <a:solidFill>
              <a:srgbClr val="262626"/>
            </a:solidFill>
            <a:prstDash val="solid"/>
          </a:ln>
        </p:spPr>
      </p:sp>
      <p:sp>
        <p:nvSpPr>
          <p:cNvPr id="13" name="Text 10"/>
          <p:cNvSpPr txBox="1"/>
          <p:nvPr/>
        </p:nvSpPr>
        <p:spPr>
          <a:xfrm>
            <a:off x="640080" y="2286000"/>
            <a:ext cx="1737360" cy="987552"/>
          </a:xfrm>
          <a:prstGeom prst="rect">
            <a:avLst/>
          </a:prstGeom>
          <a:noFill/>
          <a:ln/>
        </p:spPr>
        <p:txBody>
          <a:bodyPr wrap="square" lIns="0" tIns="0" rIns="0" bIns="0" rtlCol="0" anchor="ctr"/>
          <a:lstStyle/>
          <a:p>
            <a:pPr indent="0" marL="0">
              <a:buNone/>
            </a:pPr>
            <a:r>
              <a:rPr lang="en-US" sz="2800" dirty="0">
                <a:solidFill>
                  <a:srgbClr val="FFC63E"/>
                </a:solidFill>
                <a:latin typeface="Poppins ExtraBold" pitchFamily="34" charset="0"/>
                <a:ea typeface="Poppins ExtraBold" pitchFamily="34" charset="-122"/>
                <a:cs typeface="Poppins ExtraBold" pitchFamily="34" charset="-120"/>
              </a:rPr>
              <a:t>+250%</a:t>
            </a:r>
            <a:endParaRPr lang="en-US" sz="2800" dirty="0"/>
          </a:p>
        </p:txBody>
      </p:sp>
      <p:sp>
        <p:nvSpPr>
          <p:cNvPr id="14" name="Text 11"/>
          <p:cNvSpPr txBox="1"/>
          <p:nvPr/>
        </p:nvSpPr>
        <p:spPr>
          <a:xfrm>
            <a:off x="2423160" y="2441448"/>
            <a:ext cx="2926080" cy="27432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QR scan rate over benchmark</a:t>
            </a:r>
            <a:endParaRPr lang="en-US" sz="1000" dirty="0"/>
          </a:p>
        </p:txBody>
      </p:sp>
      <p:sp>
        <p:nvSpPr>
          <p:cNvPr id="15" name="Text 12"/>
          <p:cNvSpPr txBox="1"/>
          <p:nvPr/>
        </p:nvSpPr>
        <p:spPr>
          <a:xfrm>
            <a:off x="2423160" y="2743200"/>
            <a:ext cx="2926080" cy="45720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Gov't health agency, adults 18 – 24 with a gaming affinity</a:t>
            </a:r>
            <a:endParaRPr lang="en-US" sz="800" dirty="0"/>
          </a:p>
        </p:txBody>
      </p:sp>
      <p:sp>
        <p:nvSpPr>
          <p:cNvPr id="16" name="Shape 13"/>
          <p:cNvSpPr/>
          <p:nvPr/>
        </p:nvSpPr>
        <p:spPr>
          <a:xfrm>
            <a:off x="457200" y="3383280"/>
            <a:ext cx="5029200" cy="987552"/>
          </a:xfrm>
          <a:prstGeom prst="rect">
            <a:avLst/>
          </a:prstGeom>
          <a:solidFill>
            <a:srgbClr val="262626"/>
          </a:solidFill>
          <a:ln w="12700">
            <a:solidFill>
              <a:srgbClr val="262626"/>
            </a:solidFill>
            <a:prstDash val="solid"/>
          </a:ln>
        </p:spPr>
      </p:sp>
      <p:sp>
        <p:nvSpPr>
          <p:cNvPr id="17" name="Text 14"/>
          <p:cNvSpPr txBox="1"/>
          <p:nvPr/>
        </p:nvSpPr>
        <p:spPr>
          <a:xfrm>
            <a:off x="640080" y="3383280"/>
            <a:ext cx="1737360" cy="987552"/>
          </a:xfrm>
          <a:prstGeom prst="rect">
            <a:avLst/>
          </a:prstGeom>
          <a:noFill/>
          <a:ln/>
        </p:spPr>
        <p:txBody>
          <a:bodyPr wrap="square" lIns="0" tIns="0" rIns="0" bIns="0" rtlCol="0" anchor="ctr"/>
          <a:lstStyle/>
          <a:p>
            <a:pPr indent="0" marL="0">
              <a:buNone/>
            </a:pPr>
            <a:r>
              <a:rPr lang="en-US" sz="2800" dirty="0">
                <a:solidFill>
                  <a:srgbClr val="FFC63E"/>
                </a:solidFill>
                <a:latin typeface="Poppins ExtraBold" pitchFamily="34" charset="0"/>
                <a:ea typeface="Poppins ExtraBold" pitchFamily="34" charset="-122"/>
                <a:cs typeface="Poppins ExtraBold" pitchFamily="34" charset="-120"/>
              </a:rPr>
              <a:t>99%</a:t>
            </a:r>
            <a:endParaRPr lang="en-US" sz="2800" dirty="0"/>
          </a:p>
        </p:txBody>
      </p:sp>
      <p:sp>
        <p:nvSpPr>
          <p:cNvPr id="18" name="Text 15"/>
          <p:cNvSpPr txBox="1"/>
          <p:nvPr/>
        </p:nvSpPr>
        <p:spPr>
          <a:xfrm>
            <a:off x="2423160" y="3538728"/>
            <a:ext cx="2926080" cy="274320"/>
          </a:xfrm>
          <a:prstGeom prst="rect">
            <a:avLst/>
          </a:prstGeom>
          <a:noFill/>
          <a:ln/>
        </p:spPr>
        <p:txBody>
          <a:bodyPr wrap="square" lIns="0" tIns="0" rIns="0" bIns="0" rtlCol="0" anchor="t"/>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CTV completion, through Omnicom</a:t>
            </a:r>
            <a:endParaRPr lang="en-US" sz="1000" dirty="0"/>
          </a:p>
        </p:txBody>
      </p:sp>
      <p:sp>
        <p:nvSpPr>
          <p:cNvPr id="19" name="Text 16"/>
          <p:cNvSpPr txBox="1"/>
          <p:nvPr/>
        </p:nvSpPr>
        <p:spPr>
          <a:xfrm>
            <a:off x="2423160" y="3840480"/>
            <a:ext cx="2926080" cy="457200"/>
          </a:xfrm>
          <a:prstGeom prst="rect">
            <a:avLst/>
          </a:prstGeom>
          <a:noFill/>
          <a:ln/>
        </p:spPr>
        <p:txBody>
          <a:bodyPr wrap="square" lIns="0" tIns="0" rIns="0" bIns="0" rtlCol="0" anchor="t"/>
          <a:lstStyle/>
          <a:p>
            <a:pPr indent="0" marL="0">
              <a:buNone/>
            </a:pPr>
            <a:r>
              <a:rPr lang="en-US" sz="800" dirty="0">
                <a:solidFill>
                  <a:srgbClr val="A7A7A7"/>
                </a:solidFill>
                <a:latin typeface="Poppins" pitchFamily="34" charset="0"/>
                <a:ea typeface="Poppins" pitchFamily="34" charset="-122"/>
                <a:cs typeface="Poppins" pitchFamily="34" charset="-120"/>
              </a:rPr>
              <a:t>Levi's via Kinesso, now part of Omnicom, on App Science® audiences</a:t>
            </a:r>
            <a:endParaRPr lang="en-US" sz="800" dirty="0"/>
          </a:p>
        </p:txBody>
      </p:sp>
      <p:sp>
        <p:nvSpPr>
          <p:cNvPr id="20" name="Shape 17"/>
          <p:cNvSpPr/>
          <p:nvPr/>
        </p:nvSpPr>
        <p:spPr>
          <a:xfrm>
            <a:off x="5669280" y="1188720"/>
            <a:ext cx="3017520" cy="3182112"/>
          </a:xfrm>
          <a:prstGeom prst="rect">
            <a:avLst/>
          </a:prstGeom>
          <a:solidFill>
            <a:srgbClr val="2F2F2F"/>
          </a:solidFill>
          <a:ln w="12700">
            <a:solidFill>
              <a:srgbClr val="2F2F2F"/>
            </a:solidFill>
            <a:prstDash val="solid"/>
          </a:ln>
        </p:spPr>
      </p:sp>
      <p:sp>
        <p:nvSpPr>
          <p:cNvPr id="21" name="Text 18"/>
          <p:cNvSpPr txBox="1"/>
          <p:nvPr/>
        </p:nvSpPr>
        <p:spPr>
          <a:xfrm>
            <a:off x="5870448" y="1371600"/>
            <a:ext cx="2615184" cy="274320"/>
          </a:xfrm>
          <a:prstGeom prst="rect">
            <a:avLst/>
          </a:prstGeom>
          <a:noFill/>
          <a:ln/>
        </p:spPr>
        <p:txBody>
          <a:bodyPr wrap="square" lIns="0" tIns="0" rIns="0" bIns="0" rtlCol="0" anchor="t"/>
          <a:lstStyle/>
          <a:p>
            <a:pPr indent="0" marL="0">
              <a:buNone/>
            </a:pPr>
            <a:r>
              <a:rPr lang="en-US" sz="1200" dirty="0">
                <a:solidFill>
                  <a:srgbClr val="FFC63E"/>
                </a:solidFill>
                <a:latin typeface="Poppins ExtraBold" pitchFamily="34" charset="0"/>
                <a:ea typeface="Poppins ExtraBold" pitchFamily="34" charset="-122"/>
                <a:cs typeface="Poppins ExtraBold" pitchFamily="34" charset="-120"/>
              </a:rPr>
              <a:t>WHY NOW</a:t>
            </a:r>
            <a:endParaRPr lang="en-US" sz="1200" dirty="0"/>
          </a:p>
        </p:txBody>
      </p:sp>
      <p:sp>
        <p:nvSpPr>
          <p:cNvPr id="22" name="Text 19"/>
          <p:cNvSpPr txBox="1"/>
          <p:nvPr/>
        </p:nvSpPr>
        <p:spPr>
          <a:xfrm>
            <a:off x="5870448" y="1755648"/>
            <a:ext cx="2615184" cy="2514600"/>
          </a:xfrm>
          <a:prstGeom prst="rect">
            <a:avLst/>
          </a:prstGeom>
          <a:noFill/>
          <a:ln/>
        </p:spPr>
        <p:txBody>
          <a:bodyPr wrap="square" lIns="0" tIns="0" rIns="0" bIns="0" rtlCol="0" anchor="t"/>
          <a:lstStyle/>
          <a:p>
            <a:pPr indent="0" marL="0">
              <a:spcAft>
                <a:spcPts val="600"/>
              </a:spcAft>
              <a:buNone/>
            </a:pPr>
            <a:r>
              <a:rPr lang="en-US" sz="950" dirty="0">
                <a:solidFill>
                  <a:srgbClr val="FFFFFF"/>
                </a:solidFill>
                <a:latin typeface="Poppins" pitchFamily="34" charset="0"/>
                <a:ea typeface="Poppins" pitchFamily="34" charset="-122"/>
                <a:cs typeface="Poppins" pitchFamily="34" charset="-120"/>
              </a:rPr>
              <a:t>There are 16 days until early access and 23 until launch.</a:t>
            </a:r>
            <a:endParaRPr lang="en-US" sz="950" dirty="0"/>
          </a:p>
          <a:p>
            <a:pPr indent="0" marL="0">
              <a:spcAft>
                <a:spcPts val="600"/>
              </a:spcAft>
              <a:buNone/>
            </a:pPr>
            <a:endParaRPr lang="en-US" sz="950" dirty="0"/>
          </a:p>
          <a:p>
            <a:pPr indent="0" marL="0">
              <a:spcAft>
                <a:spcPts val="600"/>
              </a:spcAft>
              <a:buNone/>
            </a:pPr>
            <a:r>
              <a:rPr lang="en-US" sz="950" dirty="0">
                <a:solidFill>
                  <a:srgbClr val="FFFFFF"/>
                </a:solidFill>
                <a:latin typeface="Poppins" pitchFamily="34" charset="0"/>
                <a:ea typeface="Poppins" pitchFamily="34" charset="-122"/>
                <a:cs typeface="Poppins" pitchFamily="34" charset="-120"/>
              </a:rPr>
              <a:t>The audiences take 48 hours to build. We think a Battlefield conquest read is the fastest way to show what the graph adds before GTA VI changes the conversation.</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PRIVACY AND DATA CONSIDERATIONS</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WHAT WE SEE, WHAT WE DON'T, AND WHAT STAYS PUT</a:t>
            </a:r>
            <a:endParaRPr lang="en-US" sz="850" dirty="0"/>
          </a:p>
        </p:txBody>
      </p:sp>
      <p:sp>
        <p:nvSpPr>
          <p:cNvPr id="4" name="Text 2"/>
          <p:cNvSpPr txBox="1"/>
          <p:nvPr/>
        </p:nvSpPr>
        <p:spPr>
          <a:xfrm>
            <a:off x="457200" y="4539996"/>
            <a:ext cx="7040880" cy="237744"/>
          </a:xfrm>
          <a:prstGeom prst="rect">
            <a:avLst/>
          </a:prstGeom>
          <a:noFill/>
          <a:ln/>
        </p:spPr>
        <p:txBody>
          <a:bodyPr wrap="square" lIns="0" tIns="0" rIns="0" bIns="0" rtlCol="0" anchor="b"/>
          <a:lstStyle/>
          <a:p>
            <a:pPr indent="0" marL="0">
              <a:buNone/>
            </a:pPr>
            <a:r>
              <a:rPr lang="en-US" sz="650" dirty="0">
                <a:solidFill>
                  <a:srgbClr val="7E7E7E"/>
                </a:solidFill>
                <a:latin typeface="Poppins" pitchFamily="34" charset="0"/>
                <a:ea typeface="Poppins" pitchFamily="34" charset="-122"/>
                <a:cs typeface="Poppins" pitchFamily="34" charset="-120"/>
              </a:rPr>
              <a:t>Source: Sabio Internal FAQ and CTV FAQ, 2026. Data management documentation available on request.</a:t>
            </a:r>
            <a:endParaRPr lang="en-US" sz="650" dirty="0"/>
          </a:p>
        </p:txBody>
      </p:sp>
      <p:sp>
        <p:nvSpPr>
          <p:cNvPr id="5" name="Text 3"/>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12</a:t>
            </a:r>
            <a:endParaRPr lang="en-US" sz="800" dirty="0"/>
          </a:p>
        </p:txBody>
      </p:sp>
      <p:sp>
        <p:nvSpPr>
          <p:cNvPr id="6" name="Text 4"/>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7"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8" name="Shape 5"/>
          <p:cNvSpPr/>
          <p:nvPr/>
        </p:nvSpPr>
        <p:spPr>
          <a:xfrm>
            <a:off x="457200" y="1188720"/>
            <a:ext cx="2657856" cy="1536192"/>
          </a:xfrm>
          <a:prstGeom prst="rect">
            <a:avLst/>
          </a:prstGeom>
          <a:solidFill>
            <a:srgbClr val="262626"/>
          </a:solidFill>
          <a:ln w="12700">
            <a:solidFill>
              <a:srgbClr val="262626"/>
            </a:solidFill>
            <a:prstDash val="solid"/>
          </a:ln>
        </p:spPr>
      </p:sp>
      <p:sp>
        <p:nvSpPr>
          <p:cNvPr id="9" name="Text 6"/>
          <p:cNvSpPr txBox="1"/>
          <p:nvPr/>
        </p:nvSpPr>
        <p:spPr>
          <a:xfrm>
            <a:off x="621792" y="1335024"/>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WHAT WE OBSERVE</a:t>
            </a:r>
            <a:endParaRPr lang="en-US" sz="850" dirty="0"/>
          </a:p>
        </p:txBody>
      </p:sp>
      <p:sp>
        <p:nvSpPr>
          <p:cNvPr id="10" name="Text 7"/>
          <p:cNvSpPr txBox="1"/>
          <p:nvPr/>
        </p:nvSpPr>
        <p:spPr>
          <a:xfrm>
            <a:off x="621792" y="1591056"/>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Which apps are installed and how recently they're used. Never in-game activity or anything a player types.</a:t>
            </a:r>
            <a:endParaRPr lang="en-US" sz="850" dirty="0"/>
          </a:p>
        </p:txBody>
      </p:sp>
      <p:sp>
        <p:nvSpPr>
          <p:cNvPr id="11" name="Shape 8"/>
          <p:cNvSpPr/>
          <p:nvPr/>
        </p:nvSpPr>
        <p:spPr>
          <a:xfrm>
            <a:off x="3243072" y="1188720"/>
            <a:ext cx="2657856" cy="1536192"/>
          </a:xfrm>
          <a:prstGeom prst="rect">
            <a:avLst/>
          </a:prstGeom>
          <a:solidFill>
            <a:srgbClr val="262626"/>
          </a:solidFill>
          <a:ln w="12700">
            <a:solidFill>
              <a:srgbClr val="262626"/>
            </a:solidFill>
            <a:prstDash val="solid"/>
          </a:ln>
        </p:spPr>
      </p:sp>
      <p:sp>
        <p:nvSpPr>
          <p:cNvPr id="12" name="Text 9"/>
          <p:cNvSpPr txBox="1"/>
          <p:nvPr/>
        </p:nvSpPr>
        <p:spPr>
          <a:xfrm>
            <a:off x="3407664" y="1335024"/>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AGE</a:t>
            </a:r>
            <a:endParaRPr lang="en-US" sz="850" dirty="0"/>
          </a:p>
        </p:txBody>
      </p:sp>
      <p:sp>
        <p:nvSpPr>
          <p:cNvPr id="13" name="Text 10"/>
          <p:cNvSpPr txBox="1"/>
          <p:nvPr/>
        </p:nvSpPr>
        <p:spPr>
          <a:xfrm>
            <a:off x="3407664" y="1591056"/>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Adults 18+ only. M-rated creative runs only on age-appropriate inventory, with block and allow lists.</a:t>
            </a:r>
            <a:endParaRPr lang="en-US" sz="850" dirty="0"/>
          </a:p>
        </p:txBody>
      </p:sp>
      <p:sp>
        <p:nvSpPr>
          <p:cNvPr id="14" name="Shape 11"/>
          <p:cNvSpPr/>
          <p:nvPr/>
        </p:nvSpPr>
        <p:spPr>
          <a:xfrm>
            <a:off x="6028944" y="1188720"/>
            <a:ext cx="2657856" cy="1536192"/>
          </a:xfrm>
          <a:prstGeom prst="rect">
            <a:avLst/>
          </a:prstGeom>
          <a:solidFill>
            <a:srgbClr val="262626"/>
          </a:solidFill>
          <a:ln w="12700">
            <a:solidFill>
              <a:srgbClr val="262626"/>
            </a:solidFill>
            <a:prstDash val="solid"/>
          </a:ln>
        </p:spPr>
      </p:sp>
      <p:sp>
        <p:nvSpPr>
          <p:cNvPr id="15" name="Text 12"/>
          <p:cNvSpPr txBox="1"/>
          <p:nvPr/>
        </p:nvSpPr>
        <p:spPr>
          <a:xfrm>
            <a:off x="6193536" y="1335024"/>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WHAT LEAVES SABIO</a:t>
            </a:r>
            <a:endParaRPr lang="en-US" sz="850" dirty="0"/>
          </a:p>
        </p:txBody>
      </p:sp>
      <p:sp>
        <p:nvSpPr>
          <p:cNvPr id="16" name="Text 13"/>
          <p:cNvSpPr txBox="1"/>
          <p:nvPr/>
        </p:nvSpPr>
        <p:spPr>
          <a:xfrm>
            <a:off x="6193536" y="1591056"/>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No device IDs. Reporting is aggregated by age, demo and geo. Exposure files can go to your MMP.</a:t>
            </a:r>
            <a:endParaRPr lang="en-US" sz="850" dirty="0"/>
          </a:p>
        </p:txBody>
      </p:sp>
      <p:sp>
        <p:nvSpPr>
          <p:cNvPr id="17" name="Shape 14"/>
          <p:cNvSpPr/>
          <p:nvPr/>
        </p:nvSpPr>
        <p:spPr>
          <a:xfrm>
            <a:off x="457200" y="2852928"/>
            <a:ext cx="2657856" cy="1536192"/>
          </a:xfrm>
          <a:prstGeom prst="rect">
            <a:avLst/>
          </a:prstGeom>
          <a:solidFill>
            <a:srgbClr val="262626"/>
          </a:solidFill>
          <a:ln w="12700">
            <a:solidFill>
              <a:srgbClr val="262626"/>
            </a:solidFill>
            <a:prstDash val="solid"/>
          </a:ln>
        </p:spPr>
      </p:sp>
      <p:sp>
        <p:nvSpPr>
          <p:cNvPr id="18" name="Text 15"/>
          <p:cNvSpPr txBox="1"/>
          <p:nvPr/>
        </p:nvSpPr>
        <p:spPr>
          <a:xfrm>
            <a:off x="621792" y="2999232"/>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IOS SIGNAL</a:t>
            </a:r>
            <a:endParaRPr lang="en-US" sz="850" dirty="0"/>
          </a:p>
        </p:txBody>
      </p:sp>
      <p:sp>
        <p:nvSpPr>
          <p:cNvPr id="19" name="Text 16"/>
          <p:cNvSpPr txBox="1"/>
          <p:nvPr/>
        </p:nvSpPr>
        <p:spPr>
          <a:xfrm>
            <a:off x="621792" y="3255264"/>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Apple's restrictions mean most app data comes from Android. We show the iOS share on each build.</a:t>
            </a:r>
            <a:endParaRPr lang="en-US" sz="850" dirty="0"/>
          </a:p>
        </p:txBody>
      </p:sp>
      <p:sp>
        <p:nvSpPr>
          <p:cNvPr id="20" name="Shape 17"/>
          <p:cNvSpPr/>
          <p:nvPr/>
        </p:nvSpPr>
        <p:spPr>
          <a:xfrm>
            <a:off x="3243072" y="2852928"/>
            <a:ext cx="2657856" cy="1536192"/>
          </a:xfrm>
          <a:prstGeom prst="rect">
            <a:avLst/>
          </a:prstGeom>
          <a:solidFill>
            <a:srgbClr val="262626"/>
          </a:solidFill>
          <a:ln w="12700">
            <a:solidFill>
              <a:srgbClr val="262626"/>
            </a:solidFill>
            <a:prstDash val="solid"/>
          </a:ln>
        </p:spPr>
      </p:sp>
      <p:sp>
        <p:nvSpPr>
          <p:cNvPr id="21" name="Text 18"/>
          <p:cNvSpPr txBox="1"/>
          <p:nvPr/>
        </p:nvSpPr>
        <p:spPr>
          <a:xfrm>
            <a:off x="3407664" y="2999232"/>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ACTIVISION 1P</a:t>
            </a:r>
            <a:endParaRPr lang="en-US" sz="850" dirty="0"/>
          </a:p>
        </p:txBody>
      </p:sp>
      <p:sp>
        <p:nvSpPr>
          <p:cNvPr id="22" name="Text 19"/>
          <p:cNvSpPr txBox="1"/>
          <p:nvPr/>
        </p:nvSpPr>
        <p:spPr>
          <a:xfrm>
            <a:off x="3407664" y="3255264"/>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Player lists can be layered in or suppressed through LiveRamp or a clean room, on Activision's terms.</a:t>
            </a:r>
            <a:endParaRPr lang="en-US" sz="850" dirty="0"/>
          </a:p>
        </p:txBody>
      </p:sp>
      <p:sp>
        <p:nvSpPr>
          <p:cNvPr id="23" name="Shape 20"/>
          <p:cNvSpPr/>
          <p:nvPr/>
        </p:nvSpPr>
        <p:spPr>
          <a:xfrm>
            <a:off x="6028944" y="2852928"/>
            <a:ext cx="2657856" cy="1536192"/>
          </a:xfrm>
          <a:prstGeom prst="rect">
            <a:avLst/>
          </a:prstGeom>
          <a:solidFill>
            <a:srgbClr val="262626"/>
          </a:solidFill>
          <a:ln w="12700">
            <a:solidFill>
              <a:srgbClr val="262626"/>
            </a:solidFill>
            <a:prstDash val="solid"/>
          </a:ln>
        </p:spPr>
      </p:sp>
      <p:sp>
        <p:nvSpPr>
          <p:cNvPr id="24" name="Text 21"/>
          <p:cNvSpPr txBox="1"/>
          <p:nvPr/>
        </p:nvSpPr>
        <p:spPr>
          <a:xfrm>
            <a:off x="6193536" y="2999232"/>
            <a:ext cx="2328672" cy="201168"/>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BRAND SAFETY</a:t>
            </a:r>
            <a:endParaRPr lang="en-US" sz="850" dirty="0"/>
          </a:p>
        </p:txBody>
      </p:sp>
      <p:sp>
        <p:nvSpPr>
          <p:cNvPr id="25" name="Text 22"/>
          <p:cNvSpPr txBox="1"/>
          <p:nvPr/>
        </p:nvSpPr>
        <p:spPr>
          <a:xfrm>
            <a:off x="6193536" y="3255264"/>
            <a:ext cx="2328672" cy="1033272"/>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DoubleVerify on all supply, TAG registered, US only.</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WHERE WE GO NEXT</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THREE MOVES TO BE LIVE BEFORE EARLY ACCESS</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13</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7" name="Shape 4"/>
          <p:cNvSpPr/>
          <p:nvPr/>
        </p:nvSpPr>
        <p:spPr>
          <a:xfrm>
            <a:off x="457200" y="1188720"/>
            <a:ext cx="2645664" cy="2743200"/>
          </a:xfrm>
          <a:prstGeom prst="rect">
            <a:avLst/>
          </a:prstGeom>
          <a:solidFill>
            <a:srgbClr val="262626"/>
          </a:solidFill>
          <a:ln w="12700">
            <a:solidFill>
              <a:srgbClr val="262626"/>
            </a:solidFill>
            <a:prstDash val="solid"/>
          </a:ln>
        </p:spPr>
      </p:sp>
      <p:sp>
        <p:nvSpPr>
          <p:cNvPr id="8" name="Text 5"/>
          <p:cNvSpPr txBox="1"/>
          <p:nvPr/>
        </p:nvSpPr>
        <p:spPr>
          <a:xfrm>
            <a:off x="621792" y="1298448"/>
            <a:ext cx="548640" cy="548640"/>
          </a:xfrm>
          <a:prstGeom prst="rect">
            <a:avLst/>
          </a:prstGeom>
          <a:noFill/>
          <a:ln/>
        </p:spPr>
        <p:txBody>
          <a:bodyPr wrap="square" lIns="0" tIns="0" rIns="0" bIns="0" rtlCol="0" anchor="ctr"/>
          <a:lstStyle/>
          <a:p>
            <a:pPr indent="0" marL="0">
              <a:buNone/>
            </a:pPr>
            <a:r>
              <a:rPr lang="en-US" sz="3000" dirty="0">
                <a:solidFill>
                  <a:srgbClr val="FFC63E"/>
                </a:solidFill>
                <a:latin typeface="Poppins ExtraBold" pitchFamily="34" charset="0"/>
                <a:ea typeface="Poppins ExtraBold" pitchFamily="34" charset="-122"/>
                <a:cs typeface="Poppins ExtraBold" pitchFamily="34" charset="-120"/>
              </a:rPr>
              <a:t>1</a:t>
            </a:r>
            <a:endParaRPr lang="en-US" sz="3000" dirty="0"/>
          </a:p>
        </p:txBody>
      </p:sp>
      <p:sp>
        <p:nvSpPr>
          <p:cNvPr id="9" name="Text 6"/>
          <p:cNvSpPr txBox="1"/>
          <p:nvPr/>
        </p:nvSpPr>
        <p:spPr>
          <a:xfrm>
            <a:off x="621792" y="1901952"/>
            <a:ext cx="2316480" cy="411480"/>
          </a:xfrm>
          <a:prstGeom prst="rect">
            <a:avLst/>
          </a:prstGeom>
          <a:noFill/>
          <a:ln/>
        </p:spPr>
        <p:txBody>
          <a:bodyPr wrap="square" lIns="0" tIns="0" rIns="0" bIns="0" rtlCol="0" anchor="t"/>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COFFEE AT ADWEEK</a:t>
            </a:r>
            <a:endParaRPr lang="en-US" sz="1150" dirty="0"/>
          </a:p>
        </p:txBody>
      </p:sp>
      <p:sp>
        <p:nvSpPr>
          <p:cNvPr id="10" name="Text 7"/>
          <p:cNvSpPr txBox="1"/>
          <p:nvPr/>
        </p:nvSpPr>
        <p:spPr>
          <a:xfrm>
            <a:off x="621792" y="2350008"/>
            <a:ext cx="2316480" cy="10515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Twenty minutes with Josh to walk through the audiences and hear what the launch plan still needs.</a:t>
            </a:r>
            <a:endParaRPr lang="en-US" sz="850" dirty="0"/>
          </a:p>
        </p:txBody>
      </p:sp>
      <p:sp>
        <p:nvSpPr>
          <p:cNvPr id="11" name="Shape 8"/>
          <p:cNvSpPr/>
          <p:nvPr/>
        </p:nvSpPr>
        <p:spPr>
          <a:xfrm>
            <a:off x="621792" y="3429000"/>
            <a:ext cx="2316480" cy="384048"/>
          </a:xfrm>
          <a:prstGeom prst="rect">
            <a:avLst/>
          </a:prstGeom>
          <a:solidFill>
            <a:srgbClr val="2F2F2F"/>
          </a:solidFill>
          <a:ln w="12700">
            <a:solidFill>
              <a:srgbClr val="2F2F2F"/>
            </a:solidFill>
            <a:prstDash val="solid"/>
          </a:ln>
        </p:spPr>
      </p:sp>
      <p:sp>
        <p:nvSpPr>
          <p:cNvPr id="12" name="Text 9"/>
          <p:cNvSpPr txBox="1"/>
          <p:nvPr/>
        </p:nvSpPr>
        <p:spPr>
          <a:xfrm>
            <a:off x="713232" y="3429000"/>
            <a:ext cx="2133600" cy="384048"/>
          </a:xfrm>
          <a:prstGeom prst="rect">
            <a:avLst/>
          </a:prstGeom>
          <a:noFill/>
          <a:ln/>
        </p:spPr>
        <p:txBody>
          <a:bodyPr wrap="square" lIns="0" tIns="0" rIns="0" bIns="0" rtlCol="0" anchor="ctr"/>
          <a:lstStyle/>
          <a:p>
            <a:pPr indent="0" marL="0">
              <a:buNone/>
            </a:pPr>
            <a:r>
              <a:rPr lang="en-US" sz="750" dirty="0">
                <a:solidFill>
                  <a:srgbClr val="FFE7B5"/>
                </a:solidFill>
                <a:latin typeface="Poppins SemiBold" pitchFamily="34" charset="0"/>
                <a:ea typeface="Poppins SemiBold" pitchFamily="34" charset="-122"/>
                <a:cs typeface="Poppins SemiBold" pitchFamily="34" charset="-120"/>
              </a:rPr>
              <a:t>Owner: Sabio + Omnicom · week of Oct 5</a:t>
            </a:r>
            <a:endParaRPr lang="en-US" sz="750" dirty="0"/>
          </a:p>
        </p:txBody>
      </p:sp>
      <p:sp>
        <p:nvSpPr>
          <p:cNvPr id="13" name="Shape 10"/>
          <p:cNvSpPr/>
          <p:nvPr/>
        </p:nvSpPr>
        <p:spPr>
          <a:xfrm>
            <a:off x="3249168" y="1188720"/>
            <a:ext cx="2645664" cy="2743200"/>
          </a:xfrm>
          <a:prstGeom prst="rect">
            <a:avLst/>
          </a:prstGeom>
          <a:solidFill>
            <a:srgbClr val="262626"/>
          </a:solidFill>
          <a:ln w="12700">
            <a:solidFill>
              <a:srgbClr val="262626"/>
            </a:solidFill>
            <a:prstDash val="solid"/>
          </a:ln>
        </p:spPr>
      </p:sp>
      <p:sp>
        <p:nvSpPr>
          <p:cNvPr id="14" name="Text 11"/>
          <p:cNvSpPr txBox="1"/>
          <p:nvPr/>
        </p:nvSpPr>
        <p:spPr>
          <a:xfrm>
            <a:off x="3413760" y="1298448"/>
            <a:ext cx="548640" cy="548640"/>
          </a:xfrm>
          <a:prstGeom prst="rect">
            <a:avLst/>
          </a:prstGeom>
          <a:noFill/>
          <a:ln/>
        </p:spPr>
        <p:txBody>
          <a:bodyPr wrap="square" lIns="0" tIns="0" rIns="0" bIns="0" rtlCol="0" anchor="ctr"/>
          <a:lstStyle/>
          <a:p>
            <a:pPr indent="0" marL="0">
              <a:buNone/>
            </a:pPr>
            <a:r>
              <a:rPr lang="en-US" sz="3000" dirty="0">
                <a:solidFill>
                  <a:srgbClr val="FFC63E"/>
                </a:solidFill>
                <a:latin typeface="Poppins ExtraBold" pitchFamily="34" charset="0"/>
                <a:ea typeface="Poppins ExtraBold" pitchFamily="34" charset="-122"/>
                <a:cs typeface="Poppins ExtraBold" pitchFamily="34" charset="-120"/>
              </a:rPr>
              <a:t>2</a:t>
            </a:r>
            <a:endParaRPr lang="en-US" sz="3000" dirty="0"/>
          </a:p>
        </p:txBody>
      </p:sp>
      <p:sp>
        <p:nvSpPr>
          <p:cNvPr id="15" name="Text 12"/>
          <p:cNvSpPr txBox="1"/>
          <p:nvPr/>
        </p:nvSpPr>
        <p:spPr>
          <a:xfrm>
            <a:off x="3413760" y="1901952"/>
            <a:ext cx="2316480" cy="411480"/>
          </a:xfrm>
          <a:prstGeom prst="rect">
            <a:avLst/>
          </a:prstGeom>
          <a:noFill/>
          <a:ln/>
        </p:spPr>
        <p:txBody>
          <a:bodyPr wrap="square" lIns="0" tIns="0" rIns="0" bIns="0" rtlCol="0" anchor="t"/>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BUILD AND SIZE</a:t>
            </a:r>
            <a:endParaRPr lang="en-US" sz="1150" dirty="0"/>
          </a:p>
        </p:txBody>
      </p:sp>
      <p:sp>
        <p:nvSpPr>
          <p:cNvPr id="16" name="Text 13"/>
          <p:cNvSpPr txBox="1"/>
          <p:nvPr/>
        </p:nvSpPr>
        <p:spPr>
          <a:xfrm>
            <a:off x="3413760" y="2350008"/>
            <a:ext cx="2316480" cy="10515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Send the KPI and MMP. We'll size the three audiences, set Call of Duty player suppression and share a flight plan.</a:t>
            </a:r>
            <a:endParaRPr lang="en-US" sz="850" dirty="0"/>
          </a:p>
        </p:txBody>
      </p:sp>
      <p:sp>
        <p:nvSpPr>
          <p:cNvPr id="17" name="Shape 14"/>
          <p:cNvSpPr/>
          <p:nvPr/>
        </p:nvSpPr>
        <p:spPr>
          <a:xfrm>
            <a:off x="3413760" y="3429000"/>
            <a:ext cx="2316480" cy="384048"/>
          </a:xfrm>
          <a:prstGeom prst="rect">
            <a:avLst/>
          </a:prstGeom>
          <a:solidFill>
            <a:srgbClr val="2F2F2F"/>
          </a:solidFill>
          <a:ln w="12700">
            <a:solidFill>
              <a:srgbClr val="2F2F2F"/>
            </a:solidFill>
            <a:prstDash val="solid"/>
          </a:ln>
        </p:spPr>
      </p:sp>
      <p:sp>
        <p:nvSpPr>
          <p:cNvPr id="18" name="Text 15"/>
          <p:cNvSpPr txBox="1"/>
          <p:nvPr/>
        </p:nvSpPr>
        <p:spPr>
          <a:xfrm>
            <a:off x="3505200" y="3429000"/>
            <a:ext cx="2133600" cy="384048"/>
          </a:xfrm>
          <a:prstGeom prst="rect">
            <a:avLst/>
          </a:prstGeom>
          <a:noFill/>
          <a:ln/>
        </p:spPr>
        <p:txBody>
          <a:bodyPr wrap="square" lIns="0" tIns="0" rIns="0" bIns="0" rtlCol="0" anchor="ctr"/>
          <a:lstStyle/>
          <a:p>
            <a:pPr indent="0" marL="0">
              <a:buNone/>
            </a:pPr>
            <a:r>
              <a:rPr lang="en-US" sz="750" dirty="0">
                <a:solidFill>
                  <a:srgbClr val="FFE7B5"/>
                </a:solidFill>
                <a:latin typeface="Poppins SemiBold" pitchFamily="34" charset="0"/>
                <a:ea typeface="Poppins SemiBold" pitchFamily="34" charset="-122"/>
                <a:cs typeface="Poppins SemiBold" pitchFamily="34" charset="-120"/>
              </a:rPr>
              <a:t>Owner: Sabio · 48 hours from the brief</a:t>
            </a:r>
            <a:endParaRPr lang="en-US" sz="750" dirty="0"/>
          </a:p>
        </p:txBody>
      </p:sp>
      <p:sp>
        <p:nvSpPr>
          <p:cNvPr id="19" name="Shape 16"/>
          <p:cNvSpPr/>
          <p:nvPr/>
        </p:nvSpPr>
        <p:spPr>
          <a:xfrm>
            <a:off x="6041136" y="1188720"/>
            <a:ext cx="2645664" cy="2743200"/>
          </a:xfrm>
          <a:prstGeom prst="rect">
            <a:avLst/>
          </a:prstGeom>
          <a:solidFill>
            <a:srgbClr val="262626"/>
          </a:solidFill>
          <a:ln w="12700">
            <a:solidFill>
              <a:srgbClr val="262626"/>
            </a:solidFill>
            <a:prstDash val="solid"/>
          </a:ln>
        </p:spPr>
      </p:sp>
      <p:sp>
        <p:nvSpPr>
          <p:cNvPr id="20" name="Text 17"/>
          <p:cNvSpPr txBox="1"/>
          <p:nvPr/>
        </p:nvSpPr>
        <p:spPr>
          <a:xfrm>
            <a:off x="6205728" y="1298448"/>
            <a:ext cx="548640" cy="548640"/>
          </a:xfrm>
          <a:prstGeom prst="rect">
            <a:avLst/>
          </a:prstGeom>
          <a:noFill/>
          <a:ln/>
        </p:spPr>
        <p:txBody>
          <a:bodyPr wrap="square" lIns="0" tIns="0" rIns="0" bIns="0" rtlCol="0" anchor="ctr"/>
          <a:lstStyle/>
          <a:p>
            <a:pPr indent="0" marL="0">
              <a:buNone/>
            </a:pPr>
            <a:r>
              <a:rPr lang="en-US" sz="3000" dirty="0">
                <a:solidFill>
                  <a:srgbClr val="FFC63E"/>
                </a:solidFill>
                <a:latin typeface="Poppins ExtraBold" pitchFamily="34" charset="0"/>
                <a:ea typeface="Poppins ExtraBold" pitchFamily="34" charset="-122"/>
                <a:cs typeface="Poppins ExtraBold" pitchFamily="34" charset="-120"/>
              </a:rPr>
              <a:t>3</a:t>
            </a:r>
            <a:endParaRPr lang="en-US" sz="3000" dirty="0"/>
          </a:p>
        </p:txBody>
      </p:sp>
      <p:sp>
        <p:nvSpPr>
          <p:cNvPr id="21" name="Text 18"/>
          <p:cNvSpPr txBox="1"/>
          <p:nvPr/>
        </p:nvSpPr>
        <p:spPr>
          <a:xfrm>
            <a:off x="6205728" y="1901952"/>
            <a:ext cx="2316480" cy="411480"/>
          </a:xfrm>
          <a:prstGeom prst="rect">
            <a:avLst/>
          </a:prstGeom>
          <a:noFill/>
          <a:ln/>
        </p:spPr>
        <p:txBody>
          <a:bodyPr wrap="square" lIns="0" tIns="0" rIns="0" bIns="0" rtlCol="0" anchor="t"/>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RUN THE THREE FLIGHTS</a:t>
            </a:r>
            <a:endParaRPr lang="en-US" sz="1150" dirty="0"/>
          </a:p>
        </p:txBody>
      </p:sp>
      <p:sp>
        <p:nvSpPr>
          <p:cNvPr id="22" name="Text 19"/>
          <p:cNvSpPr txBox="1"/>
          <p:nvPr/>
        </p:nvSpPr>
        <p:spPr>
          <a:xfrm>
            <a:off x="6205728" y="2350008"/>
            <a:ext cx="2316480" cy="10515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Pre-order to Oct 16, launch to Oct 23, then hold to Nov 19, with a 10% holdout and a readout before GTA VI.</a:t>
            </a:r>
            <a:endParaRPr lang="en-US" sz="850" dirty="0"/>
          </a:p>
        </p:txBody>
      </p:sp>
      <p:sp>
        <p:nvSpPr>
          <p:cNvPr id="23" name="Shape 20"/>
          <p:cNvSpPr/>
          <p:nvPr/>
        </p:nvSpPr>
        <p:spPr>
          <a:xfrm>
            <a:off x="6205728" y="3429000"/>
            <a:ext cx="2316480" cy="384048"/>
          </a:xfrm>
          <a:prstGeom prst="rect">
            <a:avLst/>
          </a:prstGeom>
          <a:solidFill>
            <a:srgbClr val="2F2F2F"/>
          </a:solidFill>
          <a:ln w="12700">
            <a:solidFill>
              <a:srgbClr val="2F2F2F"/>
            </a:solidFill>
            <a:prstDash val="solid"/>
          </a:ln>
        </p:spPr>
      </p:sp>
      <p:sp>
        <p:nvSpPr>
          <p:cNvPr id="24" name="Text 21"/>
          <p:cNvSpPr txBox="1"/>
          <p:nvPr/>
        </p:nvSpPr>
        <p:spPr>
          <a:xfrm>
            <a:off x="6297168" y="3429000"/>
            <a:ext cx="2133600" cy="384048"/>
          </a:xfrm>
          <a:prstGeom prst="rect">
            <a:avLst/>
          </a:prstGeom>
          <a:noFill/>
          <a:ln/>
        </p:spPr>
        <p:txBody>
          <a:bodyPr wrap="square" lIns="0" tIns="0" rIns="0" bIns="0" rtlCol="0" anchor="ctr"/>
          <a:lstStyle/>
          <a:p>
            <a:pPr indent="0" marL="0">
              <a:buNone/>
            </a:pPr>
            <a:r>
              <a:rPr lang="en-US" sz="750" dirty="0">
                <a:solidFill>
                  <a:srgbClr val="FFE7B5"/>
                </a:solidFill>
                <a:latin typeface="Poppins SemiBold" pitchFamily="34" charset="0"/>
                <a:ea typeface="Poppins SemiBold" pitchFamily="34" charset="-122"/>
                <a:cs typeface="Poppins SemiBold" pitchFamily="34" charset="-120"/>
              </a:rPr>
              <a:t>Owner: Activision media team + Sabio · Oct 5 – Nov 19</a:t>
            </a:r>
            <a:endParaRPr lang="en-US" sz="750" dirty="0"/>
          </a:p>
        </p:txBody>
      </p:sp>
      <p:sp>
        <p:nvSpPr>
          <p:cNvPr id="25" name="Text 22"/>
          <p:cNvSpPr txBox="1"/>
          <p:nvPr/>
        </p:nvSpPr>
        <p:spPr>
          <a:xfrm>
            <a:off x="457200" y="4096512"/>
            <a:ext cx="8229600" cy="292608"/>
          </a:xfrm>
          <a:prstGeom prst="rect">
            <a:avLst/>
          </a:prstGeom>
          <a:noFill/>
          <a:ln/>
        </p:spPr>
        <p:txBody>
          <a:bodyPr wrap="square" lIns="0" tIns="0" rIns="0" bIns="0" rtlCol="0" anchor="t"/>
          <a:lstStyle/>
          <a:p>
            <a:pPr indent="0" marL="0">
              <a:buNone/>
            </a:pPr>
            <a:r>
              <a:rPr lang="en-US" sz="950" dirty="0">
                <a:solidFill>
                  <a:srgbClr val="FFFFFF"/>
                </a:solidFill>
                <a:latin typeface="Poppins SemiBold" pitchFamily="34" charset="0"/>
                <a:ea typeface="Poppins SemiBold" pitchFamily="34" charset="-122"/>
                <a:cs typeface="Poppins SemiBold" pitchFamily="34" charset="-120"/>
              </a:rPr>
              <a:t>The audiences take 48 hours. The calendar is the only thing we can't build.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1A"/>
        </a:solidFill>
      </p:bgPr>
    </p:bg>
    <p:spTree>
      <p:nvGrpSpPr>
        <p:cNvPr id="1" name=""/>
        <p:cNvGrpSpPr/>
        <p:nvPr/>
      </p:nvGrpSpPr>
      <p:grpSpPr>
        <a:xfrm>
          <a:off x="0" y="0"/>
          <a:ext cx="0" cy="0"/>
          <a:chOff x="0" y="0"/>
          <a:chExt cx="0" cy="0"/>
        </a:xfrm>
      </p:grpSpPr>
      <p:pic>
        <p:nvPicPr>
          <p:cNvPr id="2" name="Image 0" descr="/home/user/Sabio-Deck-Builders-/assets/sabio-logo-yellow.png">    </p:cNvPr>
          <p:cNvPicPr>
            <a:picLocks noChangeAspect="1"/>
          </p:cNvPicPr>
          <p:nvPr/>
        </p:nvPicPr>
        <p:blipFill>
          <a:blip r:embed="rId1"/>
          <a:stretch>
            <a:fillRect/>
          </a:stretch>
        </p:blipFill>
        <p:spPr>
          <a:xfrm>
            <a:off x="457200" y="457200"/>
            <a:ext cx="1599885" cy="384048"/>
          </a:xfrm>
          <a:prstGeom prst="rect">
            <a:avLst/>
          </a:prstGeom>
        </p:spPr>
      </p:pic>
      <p:sp>
        <p:nvSpPr>
          <p:cNvPr id="3" name="Text 0"/>
          <p:cNvSpPr txBox="1"/>
          <p:nvPr/>
        </p:nvSpPr>
        <p:spPr>
          <a:xfrm>
            <a:off x="457200" y="1188720"/>
            <a:ext cx="8229600" cy="822960"/>
          </a:xfrm>
          <a:prstGeom prst="rect">
            <a:avLst/>
          </a:prstGeom>
          <a:noFill/>
          <a:ln/>
        </p:spPr>
        <p:txBody>
          <a:bodyPr wrap="square" lIns="0" tIns="0" rIns="0" bIns="0" rtlCol="0" anchor="ctr"/>
          <a:lstStyle/>
          <a:p>
            <a:pPr indent="0" marL="0">
              <a:buNone/>
            </a:pPr>
            <a:r>
              <a:rPr lang="en-US" sz="4400" dirty="0">
                <a:solidFill>
                  <a:srgbClr val="FFFFFF"/>
                </a:solidFill>
                <a:latin typeface="Poppins ExtraBold" pitchFamily="34" charset="0"/>
                <a:ea typeface="Poppins ExtraBold" pitchFamily="34" charset="-122"/>
                <a:cs typeface="Poppins ExtraBold" pitchFamily="34" charset="-120"/>
              </a:rPr>
              <a:t>THANK YOU!</a:t>
            </a:r>
            <a:endParaRPr lang="en-US" sz="4400" dirty="0"/>
          </a:p>
        </p:txBody>
      </p:sp>
      <p:sp>
        <p:nvSpPr>
          <p:cNvPr id="4" name="Text 1"/>
          <p:cNvSpPr txBox="1"/>
          <p:nvPr/>
        </p:nvSpPr>
        <p:spPr>
          <a:xfrm>
            <a:off x="457200" y="2011680"/>
            <a:ext cx="7680960" cy="457200"/>
          </a:xfrm>
          <a:prstGeom prst="rect">
            <a:avLst/>
          </a:prstGeom>
          <a:noFill/>
          <a:ln/>
        </p:spPr>
        <p:txBody>
          <a:bodyPr wrap="square" lIns="0" tIns="0" rIns="0" bIns="0" rtlCol="0" anchor="t"/>
          <a:lstStyle/>
          <a:p>
            <a:pPr indent="0" marL="0">
              <a:buNone/>
            </a:pPr>
            <a:r>
              <a:rPr lang="en-US" sz="1150" dirty="0">
                <a:solidFill>
                  <a:srgbClr val="E3E3E3"/>
                </a:solidFill>
                <a:latin typeface="Poppins" pitchFamily="34" charset="0"/>
                <a:ea typeface="Poppins" pitchFamily="34" charset="-122"/>
                <a:cs typeface="Poppins" pitchFamily="34" charset="-120"/>
              </a:rPr>
              <a:t>Happy to build any of this out further. Please let us know what else might be helpful.</a:t>
            </a:r>
            <a:endParaRPr lang="en-US" sz="1150" dirty="0"/>
          </a:p>
        </p:txBody>
      </p:sp>
      <p:sp>
        <p:nvSpPr>
          <p:cNvPr id="5" name="Shape 2"/>
          <p:cNvSpPr/>
          <p:nvPr/>
        </p:nvSpPr>
        <p:spPr>
          <a:xfrm>
            <a:off x="457200" y="2788920"/>
            <a:ext cx="2651760" cy="1097280"/>
          </a:xfrm>
          <a:prstGeom prst="rect">
            <a:avLst/>
          </a:prstGeom>
          <a:solidFill>
            <a:srgbClr val="262626"/>
          </a:solidFill>
          <a:ln w="12700">
            <a:solidFill>
              <a:srgbClr val="262626"/>
            </a:solidFill>
            <a:prstDash val="solid"/>
          </a:ln>
        </p:spPr>
      </p:sp>
      <p:sp>
        <p:nvSpPr>
          <p:cNvPr id="6" name="Text 3"/>
          <p:cNvSpPr txBox="1"/>
          <p:nvPr/>
        </p:nvSpPr>
        <p:spPr>
          <a:xfrm>
            <a:off x="640080" y="2926080"/>
            <a:ext cx="2286000"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Ben Bring</a:t>
            </a:r>
            <a:endParaRPr lang="en-US" sz="1200" dirty="0"/>
          </a:p>
        </p:txBody>
      </p:sp>
      <p:sp>
        <p:nvSpPr>
          <p:cNvPr id="7" name="Text 4"/>
          <p:cNvSpPr txBox="1"/>
          <p:nvPr/>
        </p:nvSpPr>
        <p:spPr>
          <a:xfrm>
            <a:off x="640080" y="3200400"/>
            <a:ext cx="2286000" cy="228600"/>
          </a:xfrm>
          <a:prstGeom prst="rect">
            <a:avLst/>
          </a:prstGeom>
          <a:noFill/>
          <a:ln/>
        </p:spPr>
        <p:txBody>
          <a:bodyPr wrap="square" lIns="0" tIns="0" rIns="0" bIns="0" rtlCol="0" anchor="t"/>
          <a:lstStyle/>
          <a:p>
            <a:pPr indent="0" marL="0">
              <a:buNone/>
            </a:pPr>
            <a:r>
              <a:rPr lang="en-US" sz="850" dirty="0">
                <a:solidFill>
                  <a:srgbClr val="FFC63E"/>
                </a:solidFill>
                <a:latin typeface="Poppins SemiBold" pitchFamily="34" charset="0"/>
                <a:ea typeface="Poppins SemiBold" pitchFamily="34" charset="-122"/>
                <a:cs typeface="Poppins SemiBold" pitchFamily="34" charset="-120"/>
              </a:rPr>
              <a:t>VP, Agency and Client Partnerships</a:t>
            </a:r>
            <a:endParaRPr lang="en-US" sz="850" dirty="0"/>
          </a:p>
        </p:txBody>
      </p:sp>
      <p:sp>
        <p:nvSpPr>
          <p:cNvPr id="8" name="Text 5"/>
          <p:cNvSpPr txBox="1"/>
          <p:nvPr/>
        </p:nvSpPr>
        <p:spPr>
          <a:xfrm>
            <a:off x="640080" y="3456432"/>
            <a:ext cx="2286000" cy="3657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bbring@sabio.inc · 347-249-5838</a:t>
            </a:r>
            <a:endParaRPr lang="en-US" sz="850" dirty="0"/>
          </a:p>
        </p:txBody>
      </p:sp>
      <p:sp>
        <p:nvSpPr>
          <p:cNvPr id="9" name="Shape 6"/>
          <p:cNvSpPr/>
          <p:nvPr/>
        </p:nvSpPr>
        <p:spPr>
          <a:xfrm>
            <a:off x="3246120" y="2788920"/>
            <a:ext cx="2651760" cy="1097280"/>
          </a:xfrm>
          <a:prstGeom prst="rect">
            <a:avLst/>
          </a:prstGeom>
          <a:solidFill>
            <a:srgbClr val="262626"/>
          </a:solidFill>
          <a:ln w="12700">
            <a:solidFill>
              <a:srgbClr val="262626"/>
            </a:solidFill>
            <a:prstDash val="solid"/>
          </a:ln>
        </p:spPr>
      </p:sp>
      <p:sp>
        <p:nvSpPr>
          <p:cNvPr id="10" name="Text 7"/>
          <p:cNvSpPr txBox="1"/>
          <p:nvPr/>
        </p:nvSpPr>
        <p:spPr>
          <a:xfrm>
            <a:off x="3429000" y="2926080"/>
            <a:ext cx="2286000" cy="274320"/>
          </a:xfrm>
          <a:prstGeom prst="rect">
            <a:avLst/>
          </a:prstGeom>
          <a:noFill/>
          <a:ln/>
        </p:spPr>
        <p:txBody>
          <a:bodyPr wrap="square" lIns="0" tIns="0" rIns="0" bIns="0" rtlCol="0" anchor="t"/>
          <a:lstStyle/>
          <a:p>
            <a:pPr indent="0" marL="0">
              <a:buNone/>
            </a:pPr>
            <a:r>
              <a:rPr lang="en-US" sz="1200" dirty="0">
                <a:solidFill>
                  <a:srgbClr val="FFFFFF"/>
                </a:solidFill>
                <a:latin typeface="Poppins ExtraBold" pitchFamily="34" charset="0"/>
                <a:ea typeface="Poppins ExtraBold" pitchFamily="34" charset="-122"/>
                <a:cs typeface="Poppins ExtraBold" pitchFamily="34" charset="-120"/>
              </a:rPr>
              <a:t>Shae Mackey</a:t>
            </a:r>
            <a:endParaRPr lang="en-US" sz="1200" dirty="0"/>
          </a:p>
        </p:txBody>
      </p:sp>
      <p:sp>
        <p:nvSpPr>
          <p:cNvPr id="11" name="Text 8"/>
          <p:cNvSpPr txBox="1"/>
          <p:nvPr/>
        </p:nvSpPr>
        <p:spPr>
          <a:xfrm>
            <a:off x="3429000" y="3200400"/>
            <a:ext cx="2286000" cy="228600"/>
          </a:xfrm>
          <a:prstGeom prst="rect">
            <a:avLst/>
          </a:prstGeom>
          <a:noFill/>
          <a:ln/>
        </p:spPr>
        <p:txBody>
          <a:bodyPr wrap="square" lIns="0" tIns="0" rIns="0" bIns="0" rtlCol="0" anchor="t"/>
          <a:lstStyle/>
          <a:p>
            <a:pPr indent="0" marL="0">
              <a:buNone/>
            </a:pPr>
            <a:r>
              <a:rPr lang="en-US" sz="850" dirty="0">
                <a:solidFill>
                  <a:srgbClr val="FFC63E"/>
                </a:solidFill>
                <a:latin typeface="Poppins SemiBold" pitchFamily="34" charset="0"/>
                <a:ea typeface="Poppins SemiBold" pitchFamily="34" charset="-122"/>
                <a:cs typeface="Poppins SemiBold" pitchFamily="34" charset="-120"/>
              </a:rPr>
              <a:t>VP of Sales, East</a:t>
            </a:r>
            <a:endParaRPr lang="en-US" sz="850" dirty="0"/>
          </a:p>
        </p:txBody>
      </p:sp>
      <p:sp>
        <p:nvSpPr>
          <p:cNvPr id="12" name="Text 9"/>
          <p:cNvSpPr txBox="1"/>
          <p:nvPr/>
        </p:nvSpPr>
        <p:spPr>
          <a:xfrm>
            <a:off x="3429000" y="3456432"/>
            <a:ext cx="2286000" cy="365760"/>
          </a:xfrm>
          <a:prstGeom prst="rect">
            <a:avLst/>
          </a:prstGeom>
          <a:noFill/>
          <a:ln/>
        </p:spPr>
        <p:txBody>
          <a:bodyPr wrap="square" lIns="0" tIns="0" rIns="0" bIns="0" rtlCol="0" anchor="t"/>
          <a:lstStyle/>
          <a:p>
            <a:pPr indent="0" marL="0">
              <a:buNone/>
            </a:pPr>
            <a:r>
              <a:rPr lang="en-US" sz="850" dirty="0">
                <a:solidFill>
                  <a:srgbClr val="E3E3E3"/>
                </a:solidFill>
                <a:latin typeface="Poppins" pitchFamily="34" charset="0"/>
                <a:ea typeface="Poppins" pitchFamily="34" charset="-122"/>
                <a:cs typeface="Poppins" pitchFamily="34" charset="-120"/>
              </a:rPr>
              <a:t>shae@sabio.inc · 516-849-8356</a:t>
            </a:r>
            <a:endParaRPr lang="en-US" sz="850" dirty="0"/>
          </a:p>
        </p:txBody>
      </p:sp>
      <p:sp>
        <p:nvSpPr>
          <p:cNvPr id="13" name="Text 10"/>
          <p:cNvSpPr txBox="1"/>
          <p:nvPr/>
        </p:nvSpPr>
        <p:spPr>
          <a:xfrm>
            <a:off x="457200" y="4832604"/>
            <a:ext cx="82296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Holdings · TSXV: SBIO | OTCQB: SABOF    Creator TV® | App Science® | Sabio</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457200"/>
          </a:xfrm>
          <a:prstGeom prst="rect">
            <a:avLst/>
          </a:prstGeom>
          <a:noFill/>
          <a:ln/>
        </p:spPr>
        <p:txBody>
          <a:bodyPr wrap="square" lIns="0" tIns="0" rIns="0" bIns="0" rtlCol="0" anchor="ctr"/>
          <a:lstStyle/>
          <a:p>
            <a:pPr indent="0" marL="0">
              <a:buNone/>
            </a:pPr>
            <a:r>
              <a:rPr lang="en-US" sz="2300" dirty="0">
                <a:solidFill>
                  <a:srgbClr val="FFFFFF"/>
                </a:solidFill>
                <a:latin typeface="Poppins ExtraBold" pitchFamily="34" charset="0"/>
                <a:ea typeface="Poppins ExtraBold" pitchFamily="34" charset="-122"/>
                <a:cs typeface="Poppins ExtraBold" pitchFamily="34" charset="-120"/>
              </a:rPr>
              <a:t>SOURCES</a:t>
            </a:r>
            <a:endParaRPr lang="en-US" sz="2300" dirty="0"/>
          </a:p>
        </p:txBody>
      </p:sp>
      <p:sp>
        <p:nvSpPr>
          <p:cNvPr id="3" name="Text 1"/>
          <p:cNvSpPr txBox="1"/>
          <p:nvPr/>
        </p:nvSpPr>
        <p:spPr>
          <a:xfrm>
            <a:off x="457200" y="822960"/>
            <a:ext cx="8229600" cy="237744"/>
          </a:xfrm>
          <a:prstGeom prst="rect">
            <a:avLst/>
          </a:prstGeom>
          <a:noFill/>
          <a:ln/>
        </p:spPr>
        <p:txBody>
          <a:bodyPr wrap="square" lIns="0" tIns="0" rIns="0" bIns="0" rtlCol="0" anchor="t"/>
          <a:lstStyle/>
          <a:p>
            <a:pPr indent="0" marL="0">
              <a:buNone/>
            </a:pPr>
            <a:r>
              <a:rPr lang="en-US" sz="850" spc="100" kern="0" dirty="0">
                <a:solidFill>
                  <a:srgbClr val="FFC63E"/>
                </a:solidFill>
                <a:latin typeface="Poppins SemiBold" pitchFamily="34" charset="0"/>
                <a:ea typeface="Poppins SemiBold" pitchFamily="34" charset="-122"/>
                <a:cs typeface="Poppins SemiBold" pitchFamily="34" charset="-120"/>
              </a:rPr>
              <a:t>MARKET CLAIMS IN THIS DECK, AS REPORTED · RETRIEVED SEP 30, 2026</a:t>
            </a:r>
            <a:endParaRPr lang="en-US" sz="850" dirty="0"/>
          </a:p>
        </p:txBody>
      </p:sp>
      <p:sp>
        <p:nvSpPr>
          <p:cNvPr id="4" name="Text 2"/>
          <p:cNvSpPr txBox="1"/>
          <p:nvPr/>
        </p:nvSpPr>
        <p:spPr>
          <a:xfrm>
            <a:off x="457200" y="4832604"/>
            <a:ext cx="365760" cy="182880"/>
          </a:xfrm>
          <a:prstGeom prst="rect">
            <a:avLst/>
          </a:prstGeom>
          <a:noFill/>
          <a:ln/>
        </p:spPr>
        <p:txBody>
          <a:bodyPr wrap="square" lIns="0" tIns="0" rIns="0" bIns="0" rtlCol="0" anchor="t"/>
          <a:lstStyle/>
          <a:p>
            <a:pPr indent="0" marL="0">
              <a:buNone/>
            </a:pPr>
            <a:r>
              <a:rPr lang="en-US" sz="800" dirty="0">
                <a:solidFill>
                  <a:srgbClr val="7E7E7E"/>
                </a:solidFill>
                <a:latin typeface="Poppins SemiBold" pitchFamily="34" charset="0"/>
                <a:ea typeface="Poppins SemiBold" pitchFamily="34" charset="-122"/>
                <a:cs typeface="Poppins SemiBold" pitchFamily="34" charset="-120"/>
              </a:rPr>
              <a:t>15</a:t>
            </a:r>
            <a:endParaRPr lang="en-US" sz="800" dirty="0"/>
          </a:p>
        </p:txBody>
      </p:sp>
      <p:sp>
        <p:nvSpPr>
          <p:cNvPr id="5" name="Text 3"/>
          <p:cNvSpPr txBox="1"/>
          <p:nvPr/>
        </p:nvSpPr>
        <p:spPr>
          <a:xfrm>
            <a:off x="868680" y="4832604"/>
            <a:ext cx="5486400" cy="182880"/>
          </a:xfrm>
          <a:prstGeom prst="rect">
            <a:avLst/>
          </a:prstGeom>
          <a:noFill/>
          <a:ln/>
        </p:spPr>
        <p:txBody>
          <a:bodyPr wrap="square" lIns="0" tIns="0" rIns="0" bIns="0" rtlCol="0" anchor="t"/>
          <a:lstStyle/>
          <a:p>
            <a:pPr indent="0" marL="0">
              <a:buNone/>
            </a:pPr>
            <a:r>
              <a:rPr lang="en-US" sz="700" dirty="0">
                <a:solidFill>
                  <a:srgbClr val="7E7E7E"/>
                </a:solidFill>
                <a:latin typeface="Poppins" pitchFamily="34" charset="0"/>
                <a:ea typeface="Poppins" pitchFamily="34" charset="-122"/>
                <a:cs typeface="Poppins" pitchFamily="34" charset="-120"/>
              </a:rPr>
              <a:t>Sabio × Activision  ·  Proactive point of view for Omnicom  ·  Confidential</a:t>
            </a:r>
            <a:endParaRPr lang="en-US" sz="700" dirty="0"/>
          </a:p>
        </p:txBody>
      </p:sp>
      <p:pic>
        <p:nvPicPr>
          <p:cNvPr id="6" name="Image 0" descr="/home/user/Sabio-Deck-Builders-/assets/sabio-logo-white-sm.png">    </p:cNvPr>
          <p:cNvPicPr>
            <a:picLocks noChangeAspect="1"/>
          </p:cNvPicPr>
          <p:nvPr/>
        </p:nvPicPr>
        <p:blipFill>
          <a:blip r:embed="rId1"/>
          <a:stretch>
            <a:fillRect/>
          </a:stretch>
        </p:blipFill>
        <p:spPr>
          <a:xfrm>
            <a:off x="8028432" y="4805172"/>
            <a:ext cx="647572" cy="155448"/>
          </a:xfrm>
          <a:prstGeom prst="rect">
            <a:avLst/>
          </a:prstGeom>
        </p:spPr>
      </p:pic>
      <p:sp>
        <p:nvSpPr>
          <p:cNvPr id="7" name="Text 4"/>
          <p:cNvSpPr txBox="1"/>
          <p:nvPr/>
        </p:nvSpPr>
        <p:spPr>
          <a:xfrm>
            <a:off x="457200" y="1188720"/>
            <a:ext cx="4023360" cy="3200400"/>
          </a:xfrm>
          <a:prstGeom prst="rect">
            <a:avLst/>
          </a:prstGeom>
          <a:noFill/>
          <a:ln/>
        </p:spPr>
        <p:txBody>
          <a:bodyPr wrap="square" lIns="0" tIns="0" rIns="0" bIns="0" rtlCol="0" anchor="t"/>
          <a:lstStyle/>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1.  Battlefield 6 top US seller of 2025, Black Ops 7 fifth (Circana): Video Games Chronicle; Game World Observer, Jan 23, 2026.</a:t>
            </a:r>
            <a:endParaRPr lang="en-US" sz="850" dirty="0"/>
          </a:p>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2.  Battlefield 6 sold 7MM+ copies in its first three days (EA): Game World Observer; GameSpot.</a:t>
            </a:r>
            <a:endParaRPr lang="en-US" sz="850" dirty="0"/>
          </a:p>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3.  Call of Duty: Modern Warfare 4 available Oct 23, 2026; pre-order Campaign Early Access from Oct 16: Xbox.com; Activision support; callofduty.com.</a:t>
            </a:r>
            <a:endParaRPr lang="en-US" sz="850" dirty="0"/>
          </a:p>
        </p:txBody>
      </p:sp>
      <p:sp>
        <p:nvSpPr>
          <p:cNvPr id="8" name="Text 5"/>
          <p:cNvSpPr txBox="1"/>
          <p:nvPr/>
        </p:nvSpPr>
        <p:spPr>
          <a:xfrm>
            <a:off x="4663440" y="1188720"/>
            <a:ext cx="4023360" cy="3200400"/>
          </a:xfrm>
          <a:prstGeom prst="rect">
            <a:avLst/>
          </a:prstGeom>
          <a:noFill/>
          <a:ln/>
        </p:spPr>
        <p:txBody>
          <a:bodyPr wrap="square" lIns="0" tIns="0" rIns="0" bIns="0" rtlCol="0" anchor="t"/>
          <a:lstStyle/>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4.  MW4 priced at $70 and not on Game Pass at launch: T3; Tech Insider.</a:t>
            </a:r>
            <a:endParaRPr lang="en-US" sz="850" dirty="0"/>
          </a:p>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5.  First Call of Duty on a Nintendo platform in 13 years; code-in-box on Switch 2; Switch 2 open beta: Nintendo Wire, Aug 24, 2026; Nintendo.com; callofduty.com.</a:t>
            </a:r>
            <a:endParaRPr lang="en-US" sz="850" dirty="0"/>
          </a:p>
          <a:p>
            <a:pPr indent="0" marL="0">
              <a:spcAft>
                <a:spcPts val="800"/>
              </a:spcAft>
              <a:buNone/>
            </a:pPr>
            <a:r>
              <a:rPr lang="en-US" sz="850" dirty="0">
                <a:solidFill>
                  <a:srgbClr val="E3E3E3"/>
                </a:solidFill>
                <a:latin typeface="Poppins" pitchFamily="34" charset="0"/>
                <a:ea typeface="Poppins" pitchFamily="34" charset="-122"/>
                <a:cs typeface="Poppins" pitchFamily="34" charset="-120"/>
              </a:rPr>
              <a:t>6.  GTA VI release Nov 19, 2026, and MW4's October timing: TheGamer; gagadget; gtanerd.</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Sabio Holdings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Sabio x Activision: Win the 27 Days Before GTA VI</dc:title>
  <dc:subject>PptxGenJS Presentation</dc:subject>
  <dc:creator>Ben Bring, Sabio</dc:creator>
  <cp:lastModifiedBy>Ben Bring, Sabio</cp:lastModifiedBy>
  <cp:revision>1</cp:revision>
  <dcterms:created xsi:type="dcterms:W3CDTF">2026-09-30T23:47:30Z</dcterms:created>
  <dcterms:modified xsi:type="dcterms:W3CDTF">2026-09-30T23:47:30Z</dcterms:modified>
</cp:coreProperties>
</file>