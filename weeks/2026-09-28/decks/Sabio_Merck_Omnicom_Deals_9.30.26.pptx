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900" b="0" i="0" u="none" strike="noStrike">
                <a:solidFill>
                  <a:srgbClr val="A7A7A7"/>
                </a:solidFill>
                <a:latin typeface="Poppins SemiBold"/>
              </a:defRPr>
            </a:pPr>
            <a:r>
              <a:rPr sz="900" b="0" i="0" u="none" strike="noStrike">
                <a:solidFill>
                  <a:srgbClr val="A7A7A7"/>
                </a:solidFill>
                <a:latin typeface="Poppins SemiBold"/>
              </a:rPr>
              <a:t>Net-new CTV households by audience (MM)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Net-new CTV households (MM)</c:v>
                </c:pt>
              </c:strCache>
            </c:strRef>
          </c:tx>
          <c:spPr>
            <a:solidFill>
              <a:srgbClr val="FFC63E"/>
            </a:solidFill>
            <a:effectLst/>
          </c:spPr>
          <c:invertIfNegative val="0"/>
          <c:dLbls>
            <c:numFmt formatCode="&quot;+&quot;0&quot;MM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FFFFFF"/>
                    </a:solidFill>
                    <a:latin typeface="Poppins SemiBold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Tick-country dog homes</c:v>
                  </c:pt>
                  <c:pt idx="1">
                    <c:v>Prescribing clinicians</c:v>
                  </c:pt>
                  <c:pt idx="2">
                    <c:v>Care-manager homes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24</c:v>
                </c:pt>
                <c:pt idx="1">
                  <c:v>1</c:v>
                </c:pt>
                <c:pt idx="2">
                  <c:v>12</c:v>
                </c:pt>
              </c:numCache>
            </c:numRef>
          </c:val>
        </c:ser>
        <c:dLbls>
          <c:numFmt formatCode="&quot;+&quot;0&quot;MM&quot;" sourceLinked="0"/>
          <c:txPr>
            <a:bodyPr/>
            <a:lstStyle/>
            <a:p>
              <a:pPr>
                <a:defRPr b="0" i="0" strike="noStrike" sz="1100" u="none">
                  <a:solidFill>
                    <a:srgbClr val="FFFFFF"/>
                  </a:solidFill>
                  <a:latin typeface="Poppins SemiBold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850" b="0" i="0" u="none" strike="noStrike">
                <a:solidFill>
                  <a:srgbClr val="A7A7A7"/>
                </a:solidFill>
                <a:latin typeface="Poppins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7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Sabio-Deck-Builders-/assets/sabio-logo-yello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411480"/>
            <a:ext cx="1295145" cy="310896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1051560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FC63E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S A B I O   ×   M E R C K</a:t>
            </a:r>
            <a:endParaRPr lang="en-US" sz="105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371600"/>
            <a:ext cx="56692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2800" dirty="0">
                <a:solidFill>
                  <a:srgbClr val="FFFFFF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ADDRESSABLE TV FOR MERCK, READY BEFORE BROADCAST GETS HARDER</a:t>
            </a:r>
            <a:endParaRPr lang="en-US" sz="28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2834640"/>
            <a:ext cx="5486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3E3E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FDA is moving to end the rule that makes 60-second drug spots possible. App Science® finds the pet owners, clinicians and care-managing homes Merck needs, on CTV, through Omnicom's own seats.</a:t>
            </a:r>
            <a:endParaRPr lang="en-US" sz="115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3657600"/>
            <a:ext cx="5669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Proactive point of view | Prepared for Omnicom Media | October 2026 | US only</a:t>
            </a:r>
            <a:endParaRPr lang="en-US" sz="9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3931920"/>
            <a:ext cx="5669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7A7A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Margarita Leonard · Scott Cofsky · Katie Sullivan · Raman Khanna · Greg Pratt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7A7A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Ben Bring · Shae Mackey · Janis Ciuffini · Michael McLaughlin</a:t>
            </a:r>
            <a:endParaRPr lang="en-US" sz="850" dirty="0"/>
          </a:p>
        </p:txBody>
      </p:sp>
      <p:sp>
        <p:nvSpPr>
          <p:cNvPr id="8" name="Shape 5"/>
          <p:cNvSpPr/>
          <p:nvPr/>
        </p:nvSpPr>
        <p:spPr>
          <a:xfrm>
            <a:off x="6355080" y="411480"/>
            <a:ext cx="2331720" cy="4315968"/>
          </a:xfrm>
          <a:prstGeom prst="rect">
            <a:avLst/>
          </a:prstGeom>
          <a:solidFill>
            <a:srgbClr val="262626"/>
          </a:solidFill>
          <a:ln w="12700">
            <a:solidFill>
              <a:srgbClr val="262626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583680" y="73152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FFC63E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HEALTHCARE &amp; PHARMA CTV SPEND, 2026</a:t>
            </a:r>
            <a:endParaRPr lang="en-US" sz="850" dirty="0"/>
          </a:p>
        </p:txBody>
      </p:sp>
      <p:sp>
        <p:nvSpPr>
          <p:cNvPr id="10" name="Text 7"/>
          <p:cNvSpPr txBox="1"/>
          <p:nvPr/>
        </p:nvSpPr>
        <p:spPr>
          <a:xfrm>
            <a:off x="6583680" y="1234440"/>
            <a:ext cx="1965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FFC63E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$4.7B</a:t>
            </a:r>
            <a:endParaRPr lang="en-US" sz="4000" dirty="0"/>
          </a:p>
        </p:txBody>
      </p:sp>
      <p:sp>
        <p:nvSpPr>
          <p:cNvPr id="11" name="Text 8"/>
          <p:cNvSpPr txBox="1"/>
          <p:nvPr/>
        </p:nvSpPr>
        <p:spPr>
          <a:xfrm>
            <a:off x="6583680" y="237744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+23.7% YEAR OVER YEAR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6583680" y="2971800"/>
            <a:ext cx="187452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E3E3E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Pharma digital spend passes linear TV for the first time this year. The budget is already moving. The question is where it lands. [3, 4]</a:t>
            </a:r>
            <a:endParaRPr lang="en-US" sz="900" dirty="0"/>
          </a:p>
        </p:txBody>
      </p:sp>
      <p:sp>
        <p:nvSpPr>
          <p:cNvPr id="13" name="Text 10"/>
          <p:cNvSpPr txBox="1"/>
          <p:nvPr/>
        </p:nvSpPr>
        <p:spPr>
          <a:xfrm>
            <a:off x="457200" y="4832604"/>
            <a:ext cx="5852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7E7E7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Sabio Holdings · TSXV: SBIO | OTCQB: SABOF    Creator TV® | App Science® | Sabio</a:t>
            </a:r>
            <a:endParaRPr lang="en-US" sz="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4747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dirty="0">
                <a:solidFill>
                  <a:srgbClr val="FFFFFF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AGENDA</a:t>
            </a:r>
            <a:endParaRPr lang="en-US" sz="23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832604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7E7E7E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2</a:t>
            </a:r>
            <a:endParaRPr lang="en-US" sz="800" dirty="0"/>
          </a:p>
        </p:txBody>
      </p:sp>
      <p:sp>
        <p:nvSpPr>
          <p:cNvPr id="4" name="Text 2"/>
          <p:cNvSpPr txBox="1"/>
          <p:nvPr/>
        </p:nvSpPr>
        <p:spPr>
          <a:xfrm>
            <a:off x="868680" y="4832604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7E7E7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Sabio × Merck  ·  Proactive point of view for Omnicom  ·  Confidential</a:t>
            </a:r>
            <a:endParaRPr lang="en-US" sz="700" dirty="0"/>
          </a:p>
        </p:txBody>
      </p:sp>
      <p:pic>
        <p:nvPicPr>
          <p:cNvPr id="5" name="Image 0" descr="/home/user/Sabio-Deck-Builders-/assets/sabio-logo-white-s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28432" y="4805172"/>
            <a:ext cx="647572" cy="15544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57200" y="1097280"/>
            <a:ext cx="548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C63E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01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1097280" y="1097280"/>
            <a:ext cx="6858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What's happening at Merck right now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1097280" y="1545336"/>
            <a:ext cx="7589520" cy="0"/>
          </a:xfrm>
          <a:prstGeom prst="line">
            <a:avLst/>
          </a:prstGeom>
          <a:noFill/>
          <a:ln w="9525">
            <a:solidFill>
              <a:srgbClr val="3A3A3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57200" y="1572768"/>
            <a:ext cx="548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C63E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02</a:t>
            </a:r>
            <a:endParaRPr lang="en-US" sz="1800" dirty="0"/>
          </a:p>
        </p:txBody>
      </p:sp>
      <p:sp>
        <p:nvSpPr>
          <p:cNvPr id="10" name="Text 7"/>
          <p:cNvSpPr txBox="1"/>
          <p:nvPr/>
        </p:nvSpPr>
        <p:spPr>
          <a:xfrm>
            <a:off x="1097280" y="1572768"/>
            <a:ext cx="6858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The opening: audiences, not airtime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1097280" y="2020824"/>
            <a:ext cx="7589520" cy="0"/>
          </a:xfrm>
          <a:prstGeom prst="line">
            <a:avLst/>
          </a:prstGeom>
          <a:noFill/>
          <a:ln w="9525">
            <a:solidFill>
              <a:srgbClr val="3A3A3A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57200" y="2048256"/>
            <a:ext cx="548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C63E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03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1097280" y="2048256"/>
            <a:ext cx="6858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Who Sabio is, and what App Science® does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1097280" y="2496312"/>
            <a:ext cx="7589520" cy="0"/>
          </a:xfrm>
          <a:prstGeom prst="line">
            <a:avLst/>
          </a:prstGeom>
          <a:noFill/>
          <a:ln w="9525">
            <a:solidFill>
              <a:srgbClr val="3A3A3A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57200" y="2523744"/>
            <a:ext cx="548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C63E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04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1097280" y="2523744"/>
            <a:ext cx="6858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Three audiences, three deals on Omnicom seats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1097280" y="2971800"/>
            <a:ext cx="7589520" cy="0"/>
          </a:xfrm>
          <a:prstGeom prst="line">
            <a:avLst/>
          </a:prstGeom>
          <a:noFill/>
          <a:ln w="9525">
            <a:solidFill>
              <a:srgbClr val="3A3A3A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457200" y="2999232"/>
            <a:ext cx="548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C63E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05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1097280" y="2999232"/>
            <a:ext cx="6858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How it runs, and how we read it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1097280" y="3447288"/>
            <a:ext cx="7589520" cy="0"/>
          </a:xfrm>
          <a:prstGeom prst="line">
            <a:avLst/>
          </a:prstGeom>
          <a:noFill/>
          <a:ln w="9525">
            <a:solidFill>
              <a:srgbClr val="3A3A3A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457200" y="3474720"/>
            <a:ext cx="548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C63E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06</a:t>
            </a:r>
            <a:endParaRPr lang="en-US" sz="1800" dirty="0"/>
          </a:p>
        </p:txBody>
      </p:sp>
      <p:sp>
        <p:nvSpPr>
          <p:cNvPr id="22" name="Text 19"/>
          <p:cNvSpPr txBox="1"/>
          <p:nvPr/>
        </p:nvSpPr>
        <p:spPr>
          <a:xfrm>
            <a:off x="1097280" y="3474720"/>
            <a:ext cx="6858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Where we go next</a:t>
            </a:r>
            <a:endParaRPr lang="en-US" sz="1300" dirty="0"/>
          </a:p>
        </p:txBody>
      </p:sp>
      <p:sp>
        <p:nvSpPr>
          <p:cNvPr id="23" name="Text 20"/>
          <p:cNvSpPr txBox="1"/>
          <p:nvPr/>
        </p:nvSpPr>
        <p:spPr>
          <a:xfrm>
            <a:off x="1097280" y="4059936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i="1" dirty="0">
                <a:solidFill>
                  <a:srgbClr val="A7A7A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audiences and the Animal Health test are what carry the meeting. Everything else is there if you need it.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4747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dirty="0">
                <a:solidFill>
                  <a:srgbClr val="FFFFFF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WHAT'S HAPPENING AT MERCK RIGHT NOW</a:t>
            </a:r>
            <a:endParaRPr lang="en-US" sz="23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229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FFC63E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FOUR SIGNALS FROM THE LAST TWELVE MONTHS · NUMBERED SOURCES ON PAGE 15</a:t>
            </a:r>
            <a:endParaRPr lang="en-US" sz="85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832604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7E7E7E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3</a:t>
            </a:r>
            <a:endParaRPr lang="en-US" sz="8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4832604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7E7E7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Sabio × Merck  ·  Proactive point of view for Omnicom  ·  Confidential</a:t>
            </a:r>
            <a:endParaRPr lang="en-US" sz="700" dirty="0"/>
          </a:p>
        </p:txBody>
      </p:sp>
      <p:pic>
        <p:nvPicPr>
          <p:cNvPr id="6" name="Image 0" descr="/home/user/Sabio-Deck-Builders-/assets/sabio-logo-white-s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28432" y="4805172"/>
            <a:ext cx="647572" cy="155448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457200" y="1188720"/>
            <a:ext cx="1947672" cy="3246120"/>
          </a:xfrm>
          <a:prstGeom prst="rect">
            <a:avLst/>
          </a:prstGeom>
          <a:solidFill>
            <a:srgbClr val="262626"/>
          </a:solidFill>
          <a:ln w="12700">
            <a:solidFill>
              <a:srgbClr val="262626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03504" y="1335024"/>
            <a:ext cx="16550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FFC63E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SEP 2025 → DEC 2026</a:t>
            </a:r>
            <a:endParaRPr lang="en-US" sz="800" dirty="0"/>
          </a:p>
        </p:txBody>
      </p:sp>
      <p:sp>
        <p:nvSpPr>
          <p:cNvPr id="9" name="Text 6"/>
          <p:cNvSpPr txBox="1"/>
          <p:nvPr/>
        </p:nvSpPr>
        <p:spPr>
          <a:xfrm>
            <a:off x="603504" y="1572768"/>
            <a:ext cx="16550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FDA is going after the 60-second drug spot</a:t>
            </a:r>
            <a:endParaRPr lang="en-US" sz="1050" dirty="0"/>
          </a:p>
        </p:txBody>
      </p:sp>
      <p:sp>
        <p:nvSpPr>
          <p:cNvPr id="10" name="Text 7"/>
          <p:cNvSpPr txBox="1"/>
          <p:nvPr/>
        </p:nvSpPr>
        <p:spPr>
          <a:xfrm>
            <a:off x="603504" y="2258568"/>
            <a:ext cx="165506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A7A7A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About 100 cease-and-desist letters since Sep 2025. A rule to end "adequate provision" for broadcast ads is on FDA's 2026 agenda, with a proposal expected in December. [1, 2]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566928" y="3364992"/>
            <a:ext cx="1728216" cy="960120"/>
          </a:xfrm>
          <a:prstGeom prst="rect">
            <a:avLst/>
          </a:prstGeom>
          <a:solidFill>
            <a:srgbClr val="2F2F2F"/>
          </a:solidFill>
          <a:ln w="12700">
            <a:solidFill>
              <a:srgbClr val="2F2F2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58368" y="3438144"/>
            <a:ext cx="154533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spc="100" kern="0" dirty="0">
                <a:solidFill>
                  <a:srgbClr val="FFC63E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WHAT IT MEANS</a:t>
            </a:r>
            <a:endParaRPr lang="en-US" sz="700" dirty="0"/>
          </a:p>
        </p:txBody>
      </p:sp>
      <p:sp>
        <p:nvSpPr>
          <p:cNvPr id="13" name="Text 10"/>
          <p:cNvSpPr txBox="1"/>
          <p:nvPr/>
        </p:nvSpPr>
        <p:spPr>
          <a:xfrm>
            <a:off x="658368" y="3621024"/>
            <a:ext cx="154533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Broadcast spots get longer, riskier and pricier. Tightly targeted CTV becomes the safer place for reach.</a:t>
            </a:r>
            <a:endParaRPr lang="en-US" sz="800" dirty="0"/>
          </a:p>
        </p:txBody>
      </p:sp>
      <p:sp>
        <p:nvSpPr>
          <p:cNvPr id="14" name="Shape 11"/>
          <p:cNvSpPr/>
          <p:nvPr/>
        </p:nvSpPr>
        <p:spPr>
          <a:xfrm>
            <a:off x="2551176" y="1188720"/>
            <a:ext cx="1947672" cy="3246120"/>
          </a:xfrm>
          <a:prstGeom prst="rect">
            <a:avLst/>
          </a:prstGeom>
          <a:solidFill>
            <a:srgbClr val="262626"/>
          </a:solidFill>
          <a:ln w="12700">
            <a:solidFill>
              <a:srgbClr val="262626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2697480" y="1335024"/>
            <a:ext cx="16550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FFC63E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MAR 18, 2026</a:t>
            </a:r>
            <a:endParaRPr lang="en-US" sz="800" dirty="0"/>
          </a:p>
        </p:txBody>
      </p:sp>
      <p:sp>
        <p:nvSpPr>
          <p:cNvPr id="16" name="Text 13"/>
          <p:cNvSpPr txBox="1"/>
          <p:nvPr/>
        </p:nvSpPr>
        <p:spPr>
          <a:xfrm>
            <a:off x="2697480" y="1572768"/>
            <a:ext cx="16550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Bravecto Quantum's label adds two more ticks</a:t>
            </a:r>
            <a:endParaRPr lang="en-US" sz="1050" dirty="0"/>
          </a:p>
        </p:txBody>
      </p:sp>
      <p:sp>
        <p:nvSpPr>
          <p:cNvPr id="17" name="Text 14"/>
          <p:cNvSpPr txBox="1"/>
          <p:nvPr/>
        </p:nvSpPr>
        <p:spPr>
          <a:xfrm>
            <a:off x="2697480" y="2258568"/>
            <a:ext cx="165506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A7A7A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only 12-month flea and tick injection, given by a vet, now covers Asian longhorned and Gulf Coast ticks. The longhorned tick is confirmed in 19 states. [5, 6]</a:t>
            </a:r>
            <a:endParaRPr lang="en-US" sz="800" dirty="0"/>
          </a:p>
        </p:txBody>
      </p:sp>
      <p:sp>
        <p:nvSpPr>
          <p:cNvPr id="18" name="Shape 15"/>
          <p:cNvSpPr/>
          <p:nvPr/>
        </p:nvSpPr>
        <p:spPr>
          <a:xfrm>
            <a:off x="2660904" y="3364992"/>
            <a:ext cx="1728216" cy="960120"/>
          </a:xfrm>
          <a:prstGeom prst="rect">
            <a:avLst/>
          </a:prstGeom>
          <a:solidFill>
            <a:srgbClr val="2F2F2F"/>
          </a:solidFill>
          <a:ln w="12700">
            <a:solidFill>
              <a:srgbClr val="2F2F2F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2752344" y="3438144"/>
            <a:ext cx="154533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spc="100" kern="0" dirty="0">
                <a:solidFill>
                  <a:srgbClr val="FFC63E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WHAT IT MEANS</a:t>
            </a:r>
            <a:endParaRPr lang="en-US" sz="700" dirty="0"/>
          </a:p>
        </p:txBody>
      </p:sp>
      <p:sp>
        <p:nvSpPr>
          <p:cNvPr id="20" name="Text 17"/>
          <p:cNvSpPr txBox="1"/>
          <p:nvPr/>
        </p:nvSpPr>
        <p:spPr>
          <a:xfrm>
            <a:off x="2752344" y="3621024"/>
            <a:ext cx="154533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Every sale starts with a vet visit. That's a household we can find and move before winter.</a:t>
            </a:r>
            <a:endParaRPr lang="en-US" sz="800" dirty="0"/>
          </a:p>
        </p:txBody>
      </p:sp>
      <p:sp>
        <p:nvSpPr>
          <p:cNvPr id="21" name="Shape 18"/>
          <p:cNvSpPr/>
          <p:nvPr/>
        </p:nvSpPr>
        <p:spPr>
          <a:xfrm>
            <a:off x="4645152" y="1188720"/>
            <a:ext cx="1947672" cy="3246120"/>
          </a:xfrm>
          <a:prstGeom prst="rect">
            <a:avLst/>
          </a:prstGeom>
          <a:solidFill>
            <a:srgbClr val="262626"/>
          </a:solidFill>
          <a:ln w="12700">
            <a:solidFill>
              <a:srgbClr val="262626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4791456" y="1335024"/>
            <a:ext cx="16550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FFC63E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SEP 18, 2026</a:t>
            </a:r>
            <a:endParaRPr lang="en-US" sz="800" dirty="0"/>
          </a:p>
        </p:txBody>
      </p:sp>
      <p:sp>
        <p:nvSpPr>
          <p:cNvPr id="23" name="Text 20"/>
          <p:cNvSpPr txBox="1"/>
          <p:nvPr/>
        </p:nvSpPr>
        <p:spPr>
          <a:xfrm>
            <a:off x="4791456" y="1572768"/>
            <a:ext cx="16550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Keytruda Qlex approved in Japan, CHMP backs Keytruda + Padcev</a:t>
            </a:r>
            <a:endParaRPr lang="en-US" sz="1050" dirty="0"/>
          </a:p>
        </p:txBody>
      </p:sp>
      <p:sp>
        <p:nvSpPr>
          <p:cNvPr id="24" name="Text 21"/>
          <p:cNvSpPr txBox="1"/>
          <p:nvPr/>
        </p:nvSpPr>
        <p:spPr>
          <a:xfrm>
            <a:off x="4791456" y="2258568"/>
            <a:ext cx="165506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A7A7A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Keytruda family grew 4% to $8.4B in Q2. Cipla has licensed a US Keytruda biosimilar ahead of the 2028 patent expiry. [7, 8]</a:t>
            </a:r>
            <a:endParaRPr lang="en-US" sz="800" dirty="0"/>
          </a:p>
        </p:txBody>
      </p:sp>
      <p:sp>
        <p:nvSpPr>
          <p:cNvPr id="25" name="Shape 22"/>
          <p:cNvSpPr/>
          <p:nvPr/>
        </p:nvSpPr>
        <p:spPr>
          <a:xfrm>
            <a:off x="4754880" y="3364992"/>
            <a:ext cx="1728216" cy="960120"/>
          </a:xfrm>
          <a:prstGeom prst="rect">
            <a:avLst/>
          </a:prstGeom>
          <a:solidFill>
            <a:srgbClr val="2F2F2F"/>
          </a:solidFill>
          <a:ln w="12700">
            <a:solidFill>
              <a:srgbClr val="2F2F2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4846320" y="3438144"/>
            <a:ext cx="154533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spc="100" kern="0" dirty="0">
                <a:solidFill>
                  <a:srgbClr val="FFC63E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WHAT IT MEANS</a:t>
            </a:r>
            <a:endParaRPr lang="en-US" sz="700" dirty="0"/>
          </a:p>
        </p:txBody>
      </p:sp>
      <p:sp>
        <p:nvSpPr>
          <p:cNvPr id="27" name="Text 24"/>
          <p:cNvSpPr txBox="1"/>
          <p:nvPr/>
        </p:nvSpPr>
        <p:spPr>
          <a:xfrm>
            <a:off x="4846320" y="3621024"/>
            <a:ext cx="154533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Every oncologist conversation about subcutaneous Keytruda counts now. HCP reach at home adds to field and endemic.</a:t>
            </a:r>
            <a:endParaRPr lang="en-US" sz="800" dirty="0"/>
          </a:p>
        </p:txBody>
      </p:sp>
      <p:sp>
        <p:nvSpPr>
          <p:cNvPr id="28" name="Shape 25"/>
          <p:cNvSpPr/>
          <p:nvPr/>
        </p:nvSpPr>
        <p:spPr>
          <a:xfrm>
            <a:off x="6739128" y="1188720"/>
            <a:ext cx="1947672" cy="3246120"/>
          </a:xfrm>
          <a:prstGeom prst="rect">
            <a:avLst/>
          </a:prstGeom>
          <a:solidFill>
            <a:srgbClr val="262626"/>
          </a:solidFill>
          <a:ln w="12700">
            <a:solidFill>
              <a:srgbClr val="262626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885432" y="1335024"/>
            <a:ext cx="16550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FFC63E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2H 2026</a:t>
            </a:r>
            <a:endParaRPr lang="en-US" sz="800" dirty="0"/>
          </a:p>
        </p:txBody>
      </p:sp>
      <p:sp>
        <p:nvSpPr>
          <p:cNvPr id="30" name="Text 27"/>
          <p:cNvSpPr txBox="1"/>
          <p:nvPr/>
        </p:nvSpPr>
        <p:spPr>
          <a:xfrm>
            <a:off x="6885432" y="1572768"/>
            <a:ext cx="16550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Enflonsia heads into its second RSV season</a:t>
            </a:r>
            <a:endParaRPr lang="en-US" sz="1050" dirty="0"/>
          </a:p>
        </p:txBody>
      </p:sp>
      <p:sp>
        <p:nvSpPr>
          <p:cNvPr id="31" name="Text 28"/>
          <p:cNvSpPr txBox="1"/>
          <p:nvPr/>
        </p:nvSpPr>
        <p:spPr>
          <a:xfrm>
            <a:off x="6885432" y="2258568"/>
            <a:ext cx="165506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A7A7A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$3MM in 1H sales on heavy market inventory, with shipments expected to rise in 2H. FDA's second-season decision is due Mar 22, 2027. [9]</a:t>
            </a:r>
            <a:endParaRPr lang="en-US" sz="800" dirty="0"/>
          </a:p>
        </p:txBody>
      </p:sp>
      <p:sp>
        <p:nvSpPr>
          <p:cNvPr id="32" name="Shape 29"/>
          <p:cNvSpPr/>
          <p:nvPr/>
        </p:nvSpPr>
        <p:spPr>
          <a:xfrm>
            <a:off x="6848856" y="3364992"/>
            <a:ext cx="1728216" cy="960120"/>
          </a:xfrm>
          <a:prstGeom prst="rect">
            <a:avLst/>
          </a:prstGeom>
          <a:solidFill>
            <a:srgbClr val="2F2F2F"/>
          </a:solidFill>
          <a:ln w="12700">
            <a:solidFill>
              <a:srgbClr val="2F2F2F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6940296" y="3438144"/>
            <a:ext cx="154533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spc="100" kern="0" dirty="0">
                <a:solidFill>
                  <a:srgbClr val="FFC63E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WHAT IT MEANS</a:t>
            </a:r>
            <a:endParaRPr lang="en-US" sz="700" dirty="0"/>
          </a:p>
        </p:txBody>
      </p:sp>
      <p:sp>
        <p:nvSpPr>
          <p:cNvPr id="34" name="Text 31"/>
          <p:cNvSpPr txBox="1"/>
          <p:nvPr/>
        </p:nvSpPr>
        <p:spPr>
          <a:xfrm>
            <a:off x="6940296" y="3621024"/>
            <a:ext cx="154533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Pediatric practices decide in the next 90 days. A precise pediatric HCP deal fits that window.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4747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dirty="0">
                <a:solidFill>
                  <a:srgbClr val="FFFFFF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THE OPENING: AUDIENCES, NOT AIRTIME</a:t>
            </a:r>
            <a:endParaRPr lang="en-US" sz="23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229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FFC63E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WHY THE NEXT MERCK REACH DOLLAR SHOULD BUY A HOUSEHOLD, NOT A DAYPART</a:t>
            </a:r>
            <a:endParaRPr lang="en-US" sz="85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832604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7E7E7E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4</a:t>
            </a:r>
            <a:endParaRPr lang="en-US" sz="8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4832604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7E7E7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Sabio × Merck  ·  Proactive point of view for Omnicom  ·  Confidential</a:t>
            </a:r>
            <a:endParaRPr lang="en-US" sz="700" dirty="0"/>
          </a:p>
        </p:txBody>
      </p:sp>
      <p:pic>
        <p:nvPicPr>
          <p:cNvPr id="6" name="Image 0" descr="/home/user/Sabio-Deck-Builders-/assets/sabio-logo-white-s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28432" y="4805172"/>
            <a:ext cx="647572" cy="155448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457200" y="1188720"/>
            <a:ext cx="3291840" cy="3246120"/>
          </a:xfrm>
          <a:prstGeom prst="rect">
            <a:avLst/>
          </a:prstGeom>
          <a:solidFill>
            <a:srgbClr val="262626"/>
          </a:solidFill>
          <a:ln w="12700">
            <a:solidFill>
              <a:srgbClr val="262626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1371600"/>
            <a:ext cx="2926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dirty="0">
                <a:solidFill>
                  <a:srgbClr val="FFC63E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~100</a:t>
            </a:r>
            <a:endParaRPr lang="en-US" sz="5400" dirty="0"/>
          </a:p>
        </p:txBody>
      </p:sp>
      <p:sp>
        <p:nvSpPr>
          <p:cNvPr id="9" name="Text 6"/>
          <p:cNvSpPr txBox="1"/>
          <p:nvPr/>
        </p:nvSpPr>
        <p:spPr>
          <a:xfrm>
            <a:off x="685800" y="260604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FDA cease-and-desist letters on pharma ads since September 2025, with most untitled letters aimed at DTC television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685800" y="397764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700" dirty="0">
                <a:solidFill>
                  <a:srgbClr val="7E7E7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Sources 1, 2</a:t>
            </a:r>
            <a:endParaRPr lang="en-US" sz="700" dirty="0"/>
          </a:p>
        </p:txBody>
      </p:sp>
      <p:sp>
        <p:nvSpPr>
          <p:cNvPr id="11" name="Text 8"/>
          <p:cNvSpPr txBox="1"/>
          <p:nvPr/>
        </p:nvSpPr>
        <p:spPr>
          <a:xfrm>
            <a:off x="4023360" y="1188720"/>
            <a:ext cx="4663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We think the next Merck reach dollar goes to audiences, not airtime.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4023360" y="2103120"/>
            <a:ext cx="4663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FFC63E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THE SHIFT</a:t>
            </a:r>
            <a:endParaRPr lang="en-US" sz="850" dirty="0"/>
          </a:p>
        </p:txBody>
      </p:sp>
      <p:sp>
        <p:nvSpPr>
          <p:cNvPr id="13" name="Text 10"/>
          <p:cNvSpPr txBox="1"/>
          <p:nvPr/>
        </p:nvSpPr>
        <p:spPr>
          <a:xfrm>
            <a:off x="4023360" y="2331720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E3E3E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Pharma digital passes linear TV in 2026, and CTV is the fastest-growing line in it. Budgets are moving whether the rule lands or not.</a:t>
            </a:r>
            <a:endParaRPr lang="en-US" sz="950" dirty="0"/>
          </a:p>
        </p:txBody>
      </p:sp>
      <p:sp>
        <p:nvSpPr>
          <p:cNvPr id="14" name="Text 11"/>
          <p:cNvSpPr txBox="1"/>
          <p:nvPr/>
        </p:nvSpPr>
        <p:spPr>
          <a:xfrm>
            <a:off x="4023360" y="2880360"/>
            <a:ext cx="4663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FFC63E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THE GAP</a:t>
            </a:r>
            <a:endParaRPr lang="en-US" sz="850" dirty="0"/>
          </a:p>
        </p:txBody>
      </p:sp>
      <p:sp>
        <p:nvSpPr>
          <p:cNvPr id="15" name="Text 12"/>
          <p:cNvSpPr txBox="1"/>
          <p:nvPr/>
        </p:nvSpPr>
        <p:spPr>
          <a:xfrm>
            <a:off x="4023360" y="3108960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E3E3E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Much of pharma CTV still buys demographics or modeled health segments. Those are getting harder to defend with MLR teams and new state health-privacy laws.</a:t>
            </a:r>
            <a:endParaRPr lang="en-US" sz="950" dirty="0"/>
          </a:p>
        </p:txBody>
      </p:sp>
      <p:sp>
        <p:nvSpPr>
          <p:cNvPr id="16" name="Text 13"/>
          <p:cNvSpPr txBox="1"/>
          <p:nvPr/>
        </p:nvSpPr>
        <p:spPr>
          <a:xfrm>
            <a:off x="4023360" y="3657600"/>
            <a:ext cx="4663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FFC63E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WHERE SABIO FITS</a:t>
            </a:r>
            <a:endParaRPr lang="en-US" sz="850" dirty="0"/>
          </a:p>
        </p:txBody>
      </p:sp>
      <p:sp>
        <p:nvSpPr>
          <p:cNvPr id="17" name="Text 14"/>
          <p:cNvSpPr txBox="1"/>
          <p:nvPr/>
        </p:nvSpPr>
        <p:spPr>
          <a:xfrm>
            <a:off x="4023360" y="3886200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E3E3E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App Science® targets observed app ownership (pet care, clinician tools, care management), never a diagnosis. Activated as PMP deals on Omnicom's own seats.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4747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dirty="0">
                <a:solidFill>
                  <a:srgbClr val="FFFFFF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SABIO AT A GLANCE</a:t>
            </a:r>
            <a:endParaRPr lang="en-US" sz="23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229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FFC63E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BUILT ON OUR OWN DATA, TECH AND CONTENT SINCE 2014</a:t>
            </a:r>
            <a:endParaRPr lang="en-US" sz="85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832604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7E7E7E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5</a:t>
            </a:r>
            <a:endParaRPr lang="en-US" sz="8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4832604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7E7E7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Sabio × Merck  ·  Proactive point of view for Omnicom  ·  Confidential</a:t>
            </a:r>
            <a:endParaRPr lang="en-US" sz="700" dirty="0"/>
          </a:p>
        </p:txBody>
      </p:sp>
      <p:pic>
        <p:nvPicPr>
          <p:cNvPr id="6" name="Image 0" descr="/home/user/Sabio-Deck-Builders-/assets/sabio-logo-white-s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28432" y="4805172"/>
            <a:ext cx="647572" cy="155448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457200" y="1170432"/>
            <a:ext cx="1558138" cy="1024128"/>
          </a:xfrm>
          <a:prstGeom prst="rect">
            <a:avLst/>
          </a:prstGeom>
          <a:solidFill>
            <a:srgbClr val="262626"/>
          </a:solidFill>
          <a:ln w="12700">
            <a:solidFill>
              <a:srgbClr val="262626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66928" y="1243584"/>
            <a:ext cx="133868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C63E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2014</a:t>
            </a:r>
            <a:endParaRPr lang="en-US" sz="2200" dirty="0"/>
          </a:p>
        </p:txBody>
      </p:sp>
      <p:sp>
        <p:nvSpPr>
          <p:cNvPr id="9" name="Text 6"/>
          <p:cNvSpPr txBox="1"/>
          <p:nvPr/>
        </p:nvSpPr>
        <p:spPr>
          <a:xfrm>
            <a:off x="566928" y="1719072"/>
            <a:ext cx="133868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A7A7A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Founded in LA by mobile &amp; TV veterans</a:t>
            </a:r>
            <a:endParaRPr lang="en-US" sz="750" dirty="0"/>
          </a:p>
        </p:txBody>
      </p:sp>
      <p:sp>
        <p:nvSpPr>
          <p:cNvPr id="10" name="Shape 7"/>
          <p:cNvSpPr/>
          <p:nvPr/>
        </p:nvSpPr>
        <p:spPr>
          <a:xfrm>
            <a:off x="2125066" y="1170432"/>
            <a:ext cx="1558138" cy="1024128"/>
          </a:xfrm>
          <a:prstGeom prst="rect">
            <a:avLst/>
          </a:prstGeom>
          <a:solidFill>
            <a:srgbClr val="262626"/>
          </a:solidFill>
          <a:ln w="12700">
            <a:solidFill>
              <a:srgbClr val="262626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2234794" y="1243584"/>
            <a:ext cx="133868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C63E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280MM</a:t>
            </a:r>
            <a:endParaRPr lang="en-US" sz="2200" dirty="0"/>
          </a:p>
        </p:txBody>
      </p:sp>
      <p:sp>
        <p:nvSpPr>
          <p:cNvPr id="12" name="Text 9"/>
          <p:cNvSpPr txBox="1"/>
          <p:nvPr/>
        </p:nvSpPr>
        <p:spPr>
          <a:xfrm>
            <a:off x="2234794" y="1719072"/>
            <a:ext cx="133868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A7A7A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Mobile devices observed by App Science®</a:t>
            </a:r>
            <a:endParaRPr lang="en-US" sz="750" dirty="0"/>
          </a:p>
        </p:txBody>
      </p:sp>
      <p:sp>
        <p:nvSpPr>
          <p:cNvPr id="13" name="Shape 10"/>
          <p:cNvSpPr/>
          <p:nvPr/>
        </p:nvSpPr>
        <p:spPr>
          <a:xfrm>
            <a:off x="3792931" y="1170432"/>
            <a:ext cx="1558138" cy="1024128"/>
          </a:xfrm>
          <a:prstGeom prst="rect">
            <a:avLst/>
          </a:prstGeom>
          <a:solidFill>
            <a:srgbClr val="262626"/>
          </a:solidFill>
          <a:ln w="12700">
            <a:solidFill>
              <a:srgbClr val="262626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3902659" y="1243584"/>
            <a:ext cx="133868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C63E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115MM</a:t>
            </a:r>
            <a:endParaRPr lang="en-US" sz="2200" dirty="0"/>
          </a:p>
        </p:txBody>
      </p:sp>
      <p:sp>
        <p:nvSpPr>
          <p:cNvPr id="15" name="Text 12"/>
          <p:cNvSpPr txBox="1"/>
          <p:nvPr/>
        </p:nvSpPr>
        <p:spPr>
          <a:xfrm>
            <a:off x="3902659" y="1719072"/>
            <a:ext cx="133868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A7A7A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CTV devices across 80MM validated households</a:t>
            </a:r>
            <a:endParaRPr lang="en-US" sz="750" dirty="0"/>
          </a:p>
        </p:txBody>
      </p:sp>
      <p:sp>
        <p:nvSpPr>
          <p:cNvPr id="16" name="Shape 13"/>
          <p:cNvSpPr/>
          <p:nvPr/>
        </p:nvSpPr>
        <p:spPr>
          <a:xfrm>
            <a:off x="5460797" y="1170432"/>
            <a:ext cx="1558138" cy="1024128"/>
          </a:xfrm>
          <a:prstGeom prst="rect">
            <a:avLst/>
          </a:prstGeom>
          <a:solidFill>
            <a:srgbClr val="262626"/>
          </a:solidFill>
          <a:ln w="12700">
            <a:solidFill>
              <a:srgbClr val="262626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5570525" y="1243584"/>
            <a:ext cx="133868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C63E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70%</a:t>
            </a:r>
            <a:endParaRPr lang="en-US" sz="2200" dirty="0"/>
          </a:p>
        </p:txBody>
      </p:sp>
      <p:sp>
        <p:nvSpPr>
          <p:cNvPr id="18" name="Text 15"/>
          <p:cNvSpPr txBox="1"/>
          <p:nvPr/>
        </p:nvSpPr>
        <p:spPr>
          <a:xfrm>
            <a:off x="5570525" y="1719072"/>
            <a:ext cx="133868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A7A7A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Of US streaming homes reached</a:t>
            </a:r>
            <a:endParaRPr lang="en-US" sz="750" dirty="0"/>
          </a:p>
        </p:txBody>
      </p:sp>
      <p:sp>
        <p:nvSpPr>
          <p:cNvPr id="19" name="Shape 16"/>
          <p:cNvSpPr/>
          <p:nvPr/>
        </p:nvSpPr>
        <p:spPr>
          <a:xfrm>
            <a:off x="7128662" y="1170432"/>
            <a:ext cx="1558138" cy="1024128"/>
          </a:xfrm>
          <a:prstGeom prst="rect">
            <a:avLst/>
          </a:prstGeom>
          <a:solidFill>
            <a:srgbClr val="262626"/>
          </a:solidFill>
          <a:ln w="12700">
            <a:solidFill>
              <a:srgbClr val="262626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238390" y="1243584"/>
            <a:ext cx="133868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C63E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SBIO</a:t>
            </a:r>
            <a:endParaRPr lang="en-US" sz="2200" dirty="0"/>
          </a:p>
        </p:txBody>
      </p:sp>
      <p:sp>
        <p:nvSpPr>
          <p:cNvPr id="21" name="Text 18"/>
          <p:cNvSpPr txBox="1"/>
          <p:nvPr/>
        </p:nvSpPr>
        <p:spPr>
          <a:xfrm>
            <a:off x="7238390" y="1719072"/>
            <a:ext cx="133868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A7A7A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TSXV listed · NMSDC-certified MBE</a:t>
            </a:r>
            <a:endParaRPr lang="en-US" sz="750" dirty="0"/>
          </a:p>
        </p:txBody>
      </p:sp>
      <p:sp>
        <p:nvSpPr>
          <p:cNvPr id="22" name="Text 19"/>
          <p:cNvSpPr txBox="1"/>
          <p:nvPr/>
        </p:nvSpPr>
        <p:spPr>
          <a:xfrm>
            <a:off x="457200" y="2377440"/>
            <a:ext cx="26456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FFC63E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OUR OWN DATA</a:t>
            </a:r>
            <a:endParaRPr lang="en-US" sz="900" dirty="0"/>
          </a:p>
        </p:txBody>
      </p:sp>
      <p:sp>
        <p:nvSpPr>
          <p:cNvPr id="23" name="Text 20"/>
          <p:cNvSpPr txBox="1"/>
          <p:nvPr/>
        </p:nvSpPr>
        <p:spPr>
          <a:xfrm>
            <a:off x="457200" y="2633472"/>
            <a:ext cx="264566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E3E3E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App Science® reads real on-device app ownership and use, opened in the last 30 days. First-party signal, not licensed third-party segments or panel inference.</a:t>
            </a:r>
            <a:endParaRPr lang="en-US" sz="850" dirty="0"/>
          </a:p>
        </p:txBody>
      </p:sp>
      <p:sp>
        <p:nvSpPr>
          <p:cNvPr id="24" name="Text 21"/>
          <p:cNvSpPr txBox="1"/>
          <p:nvPr/>
        </p:nvSpPr>
        <p:spPr>
          <a:xfrm>
            <a:off x="3249168" y="2377440"/>
            <a:ext cx="26456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FFC63E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OUR OWN TECH</a:t>
            </a:r>
            <a:endParaRPr lang="en-US" sz="900" dirty="0"/>
          </a:p>
        </p:txBody>
      </p:sp>
      <p:sp>
        <p:nvSpPr>
          <p:cNvPr id="25" name="Text 22"/>
          <p:cNvSpPr txBox="1"/>
          <p:nvPr/>
        </p:nvSpPr>
        <p:spPr>
          <a:xfrm>
            <a:off x="3249168" y="2633472"/>
            <a:ext cx="264566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E3E3E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Sabio DSP, SSP and ad server built for CTV. The same stack powers always-on PMP Deal IDs and managed IO, so we can commit supply, not resell it.</a:t>
            </a:r>
            <a:endParaRPr lang="en-US" sz="850" dirty="0"/>
          </a:p>
        </p:txBody>
      </p:sp>
      <p:sp>
        <p:nvSpPr>
          <p:cNvPr id="26" name="Text 23"/>
          <p:cNvSpPr txBox="1"/>
          <p:nvPr/>
        </p:nvSpPr>
        <p:spPr>
          <a:xfrm>
            <a:off x="6041136" y="2377440"/>
            <a:ext cx="26456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FFC63E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OUR OWN CONTENT</a:t>
            </a:r>
            <a:endParaRPr lang="en-US" sz="900" dirty="0"/>
          </a:p>
        </p:txBody>
      </p:sp>
      <p:sp>
        <p:nvSpPr>
          <p:cNvPr id="27" name="Text 24"/>
          <p:cNvSpPr txBox="1"/>
          <p:nvPr/>
        </p:nvSpPr>
        <p:spPr>
          <a:xfrm>
            <a:off x="6041136" y="2633472"/>
            <a:ext cx="264566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E3E3E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Creator TV®, our owned-and-operated streaming channel, puts creator-led spots and integrations next to the audience buy.</a:t>
            </a:r>
            <a:endParaRPr lang="en-US" sz="850" dirty="0"/>
          </a:p>
        </p:txBody>
      </p:sp>
      <p:sp>
        <p:nvSpPr>
          <p:cNvPr id="28" name="Shape 25"/>
          <p:cNvSpPr/>
          <p:nvPr/>
        </p:nvSpPr>
        <p:spPr>
          <a:xfrm>
            <a:off x="457200" y="3611880"/>
            <a:ext cx="8229600" cy="566928"/>
          </a:xfrm>
          <a:prstGeom prst="rect">
            <a:avLst/>
          </a:prstGeom>
          <a:solidFill>
            <a:srgbClr val="FFC63E"/>
          </a:solidFill>
          <a:ln w="12700">
            <a:solidFill>
              <a:srgbClr val="FFC63E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40080" y="3611880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1A1A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WHAT IT MEANS FOR MERCK:  </a:t>
            </a:r>
            <a:pPr indent="0" marL="0">
              <a:buNone/>
            </a:pPr>
            <a:r>
              <a:rPr lang="en-US" sz="950" dirty="0">
                <a:solidFill>
                  <a:srgbClr val="1A1A1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one partner that owns the data, the supply and the measurement, so Omnicom can run Merck deals on its own seats with nothing in between.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4747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dirty="0">
                <a:solidFill>
                  <a:srgbClr val="FFFFFF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THREE AUDIENCES, THREE DEALS</a:t>
            </a:r>
            <a:endParaRPr lang="en-US" sz="23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229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FFC63E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EACH ONE IS AN APP ECOSYSTEM, NOT A DEMOGRAPHIC · SIZED ON THE FINAL BUILD</a:t>
            </a:r>
            <a:endParaRPr lang="en-US" sz="85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539996"/>
            <a:ext cx="7040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650" dirty="0">
                <a:solidFill>
                  <a:srgbClr val="7E7E7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Care-manager reach reflects Sabio's caretaker build for a healthcare client (2025). Other reach is illustrative until the build is run. App lists are starting points, finalized with Merck.</a:t>
            </a:r>
            <a:endParaRPr lang="en-US" sz="65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4832604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7E7E7E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6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4832604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7E7E7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Sabio × Merck  ·  Proactive point of view for Omnicom  ·  Confidential</a:t>
            </a:r>
            <a:endParaRPr lang="en-US" sz="700" dirty="0"/>
          </a:p>
        </p:txBody>
      </p:sp>
      <p:pic>
        <p:nvPicPr>
          <p:cNvPr id="7" name="Image 0" descr="/home/user/Sabio-Deck-Builders-/assets/sabio-logo-white-s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28432" y="4805172"/>
            <a:ext cx="647572" cy="155448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457200" y="1188720"/>
            <a:ext cx="2645664" cy="3246120"/>
          </a:xfrm>
          <a:prstGeom prst="rect">
            <a:avLst/>
          </a:prstGeom>
          <a:solidFill>
            <a:srgbClr val="262626"/>
          </a:solidFill>
          <a:ln w="12700">
            <a:solidFill>
              <a:srgbClr val="262626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21792" y="1335024"/>
            <a:ext cx="2316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spc="100" kern="0" dirty="0">
                <a:solidFill>
                  <a:srgbClr val="FFC63E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ANIMAL HEALTH · PRIME</a:t>
            </a:r>
            <a:endParaRPr lang="en-US" sz="750" dirty="0"/>
          </a:p>
        </p:txBody>
      </p:sp>
      <p:sp>
        <p:nvSpPr>
          <p:cNvPr id="10" name="Text 7"/>
          <p:cNvSpPr txBox="1"/>
          <p:nvPr/>
        </p:nvSpPr>
        <p:spPr>
          <a:xfrm>
            <a:off x="621792" y="1554480"/>
            <a:ext cx="2316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THE TICK-COUNTRY DOG HOME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621792" y="2011680"/>
            <a:ext cx="2316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E3E3E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dog at home, pet apps in use, in one of the 19 states where the longhorned tick is confirmed.</a:t>
            </a:r>
            <a:endParaRPr lang="en-US" sz="850" dirty="0"/>
          </a:p>
        </p:txBody>
      </p:sp>
      <p:sp>
        <p:nvSpPr>
          <p:cNvPr id="12" name="Text 9"/>
          <p:cNvSpPr txBox="1"/>
          <p:nvPr/>
        </p:nvSpPr>
        <p:spPr>
          <a:xfrm>
            <a:off x="621792" y="2606040"/>
            <a:ext cx="2316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spc="100" kern="0" dirty="0">
                <a:solidFill>
                  <a:srgbClr val="7E7E7E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APP ECOSYSTEM</a:t>
            </a:r>
            <a:endParaRPr lang="en-US" sz="700" dirty="0"/>
          </a:p>
        </p:txBody>
      </p:sp>
      <p:sp>
        <p:nvSpPr>
          <p:cNvPr id="13" name="Text 10"/>
          <p:cNvSpPr txBox="1"/>
          <p:nvPr/>
        </p:nvSpPr>
        <p:spPr>
          <a:xfrm>
            <a:off x="621792" y="2788920"/>
            <a:ext cx="2316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Chewy · Rover · BarkBox · Petco · Vetster</a:t>
            </a:r>
            <a:endParaRPr lang="en-US" sz="850" dirty="0"/>
          </a:p>
        </p:txBody>
      </p:sp>
      <p:sp>
        <p:nvSpPr>
          <p:cNvPr id="14" name="Text 11"/>
          <p:cNvSpPr txBox="1"/>
          <p:nvPr/>
        </p:nvSpPr>
        <p:spPr>
          <a:xfrm>
            <a:off x="621792" y="3337560"/>
            <a:ext cx="2316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FFE7B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Ask the vet about a once-a-year flea &amp; tick shot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621792" y="3767328"/>
            <a:ext cx="2316480" cy="512064"/>
          </a:xfrm>
          <a:prstGeom prst="rect">
            <a:avLst/>
          </a:prstGeom>
          <a:solidFill>
            <a:srgbClr val="2F2F2F"/>
          </a:solidFill>
          <a:ln w="12700">
            <a:solidFill>
              <a:srgbClr val="2F2F2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13232" y="3813048"/>
            <a:ext cx="2133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spc="100" kern="0" dirty="0">
                <a:solidFill>
                  <a:srgbClr val="FFC63E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UNIQUE MONTHLY REACH  [CONFIRM]</a:t>
            </a:r>
            <a:endParaRPr lang="en-US" sz="650" dirty="0"/>
          </a:p>
        </p:txBody>
      </p:sp>
      <p:sp>
        <p:nvSpPr>
          <p:cNvPr id="17" name="Text 14"/>
          <p:cNvSpPr txBox="1"/>
          <p:nvPr/>
        </p:nvSpPr>
        <p:spPr>
          <a:xfrm>
            <a:off x="713232" y="3995928"/>
            <a:ext cx="2133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CTV 24MM | OTT 16MM | Mobile 35MM</a:t>
            </a:r>
            <a:endParaRPr lang="en-US" sz="800" dirty="0"/>
          </a:p>
        </p:txBody>
      </p:sp>
      <p:sp>
        <p:nvSpPr>
          <p:cNvPr id="18" name="Shape 15"/>
          <p:cNvSpPr/>
          <p:nvPr/>
        </p:nvSpPr>
        <p:spPr>
          <a:xfrm>
            <a:off x="3249168" y="1188720"/>
            <a:ext cx="2645664" cy="3246120"/>
          </a:xfrm>
          <a:prstGeom prst="rect">
            <a:avLst/>
          </a:prstGeom>
          <a:solidFill>
            <a:srgbClr val="262626"/>
          </a:solidFill>
          <a:ln w="12700">
            <a:solidFill>
              <a:srgbClr val="262626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3413760" y="1335024"/>
            <a:ext cx="2316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spc="100" kern="0" dirty="0">
                <a:solidFill>
                  <a:srgbClr val="FFC63E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HUMAN HEALTH · PRECISION</a:t>
            </a:r>
            <a:endParaRPr lang="en-US" sz="750" dirty="0"/>
          </a:p>
        </p:txBody>
      </p:sp>
      <p:sp>
        <p:nvSpPr>
          <p:cNvPr id="20" name="Text 17"/>
          <p:cNvSpPr txBox="1"/>
          <p:nvPr/>
        </p:nvSpPr>
        <p:spPr>
          <a:xfrm>
            <a:off x="3413760" y="1554480"/>
            <a:ext cx="2316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THE PRESCRIBING CLINICIAN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3413760" y="2011680"/>
            <a:ext cx="2316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E3E3E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Clinical reference apps on the phone: oncologists, pediatricians and the teams around them.</a:t>
            </a:r>
            <a:endParaRPr lang="en-US" sz="850" dirty="0"/>
          </a:p>
        </p:txBody>
      </p:sp>
      <p:sp>
        <p:nvSpPr>
          <p:cNvPr id="22" name="Text 19"/>
          <p:cNvSpPr txBox="1"/>
          <p:nvPr/>
        </p:nvSpPr>
        <p:spPr>
          <a:xfrm>
            <a:off x="3413760" y="2606040"/>
            <a:ext cx="2316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spc="100" kern="0" dirty="0">
                <a:solidFill>
                  <a:srgbClr val="7E7E7E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APP ECOSYSTEM</a:t>
            </a:r>
            <a:endParaRPr lang="en-US" sz="700" dirty="0"/>
          </a:p>
        </p:txBody>
      </p:sp>
      <p:sp>
        <p:nvSpPr>
          <p:cNvPr id="23" name="Text 20"/>
          <p:cNvSpPr txBox="1"/>
          <p:nvPr/>
        </p:nvSpPr>
        <p:spPr>
          <a:xfrm>
            <a:off x="3413760" y="2788920"/>
            <a:ext cx="2316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Doximity · Epocrates · Medscape · UpToDate</a:t>
            </a:r>
            <a:endParaRPr lang="en-US" sz="850" dirty="0"/>
          </a:p>
        </p:txBody>
      </p:sp>
      <p:sp>
        <p:nvSpPr>
          <p:cNvPr id="24" name="Text 21"/>
          <p:cNvSpPr txBox="1"/>
          <p:nvPr/>
        </p:nvSpPr>
        <p:spPr>
          <a:xfrm>
            <a:off x="3413760" y="3337560"/>
            <a:ext cx="2316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FFE7B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Keytruda Qlex and Enflonsia awareness, at home</a:t>
            </a:r>
            <a:endParaRPr lang="en-US" sz="850" dirty="0"/>
          </a:p>
        </p:txBody>
      </p:sp>
      <p:sp>
        <p:nvSpPr>
          <p:cNvPr id="25" name="Shape 22"/>
          <p:cNvSpPr/>
          <p:nvPr/>
        </p:nvSpPr>
        <p:spPr>
          <a:xfrm>
            <a:off x="3413760" y="3767328"/>
            <a:ext cx="2316480" cy="512064"/>
          </a:xfrm>
          <a:prstGeom prst="rect">
            <a:avLst/>
          </a:prstGeom>
          <a:solidFill>
            <a:srgbClr val="2F2F2F"/>
          </a:solidFill>
          <a:ln w="12700">
            <a:solidFill>
              <a:srgbClr val="2F2F2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3505200" y="3813048"/>
            <a:ext cx="2133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spc="100" kern="0" dirty="0">
                <a:solidFill>
                  <a:srgbClr val="FFC63E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UNIQUE MONTHLY REACH  [CONFIRM]</a:t>
            </a:r>
            <a:endParaRPr lang="en-US" sz="650" dirty="0"/>
          </a:p>
        </p:txBody>
      </p:sp>
      <p:sp>
        <p:nvSpPr>
          <p:cNvPr id="27" name="Text 24"/>
          <p:cNvSpPr txBox="1"/>
          <p:nvPr/>
        </p:nvSpPr>
        <p:spPr>
          <a:xfrm>
            <a:off x="3505200" y="3995928"/>
            <a:ext cx="2133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CTV 1.2MM | OTT 0.9MM | Mobile 2.1MM</a:t>
            </a:r>
            <a:endParaRPr lang="en-US" sz="800" dirty="0"/>
          </a:p>
        </p:txBody>
      </p:sp>
      <p:sp>
        <p:nvSpPr>
          <p:cNvPr id="28" name="Shape 25"/>
          <p:cNvSpPr/>
          <p:nvPr/>
        </p:nvSpPr>
        <p:spPr>
          <a:xfrm>
            <a:off x="6041136" y="1188720"/>
            <a:ext cx="2645664" cy="3246120"/>
          </a:xfrm>
          <a:prstGeom prst="rect">
            <a:avLst/>
          </a:prstGeom>
          <a:solidFill>
            <a:srgbClr val="262626"/>
          </a:solidFill>
          <a:ln w="12700">
            <a:solidFill>
              <a:srgbClr val="262626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205728" y="1335024"/>
            <a:ext cx="2316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spc="100" kern="0" dirty="0">
                <a:solidFill>
                  <a:srgbClr val="FFC63E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HUMAN HEALTH · SCALE</a:t>
            </a:r>
            <a:endParaRPr lang="en-US" sz="750" dirty="0"/>
          </a:p>
        </p:txBody>
      </p:sp>
      <p:sp>
        <p:nvSpPr>
          <p:cNvPr id="30" name="Text 27"/>
          <p:cNvSpPr txBox="1"/>
          <p:nvPr/>
        </p:nvSpPr>
        <p:spPr>
          <a:xfrm>
            <a:off x="6205728" y="1554480"/>
            <a:ext cx="2316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THE CARE-MANAGER HOME</a:t>
            </a:r>
            <a:endParaRPr lang="en-US" sz="1200" dirty="0"/>
          </a:p>
        </p:txBody>
      </p:sp>
      <p:sp>
        <p:nvSpPr>
          <p:cNvPr id="31" name="Text 28"/>
          <p:cNvSpPr txBox="1"/>
          <p:nvPr/>
        </p:nvSpPr>
        <p:spPr>
          <a:xfrm>
            <a:off x="6205728" y="2011680"/>
            <a:ext cx="2316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E3E3E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Manages appointments and prescriptions for themselves or someone they love.</a:t>
            </a:r>
            <a:endParaRPr lang="en-US" sz="850" dirty="0"/>
          </a:p>
        </p:txBody>
      </p:sp>
      <p:sp>
        <p:nvSpPr>
          <p:cNvPr id="32" name="Text 29"/>
          <p:cNvSpPr txBox="1"/>
          <p:nvPr/>
        </p:nvSpPr>
        <p:spPr>
          <a:xfrm>
            <a:off x="6205728" y="2606040"/>
            <a:ext cx="2316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spc="100" kern="0" dirty="0">
                <a:solidFill>
                  <a:srgbClr val="7E7E7E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APP ECOSYSTEM</a:t>
            </a:r>
            <a:endParaRPr lang="en-US" sz="700" dirty="0"/>
          </a:p>
        </p:txBody>
      </p:sp>
      <p:sp>
        <p:nvSpPr>
          <p:cNvPr id="33" name="Text 30"/>
          <p:cNvSpPr txBox="1"/>
          <p:nvPr/>
        </p:nvSpPr>
        <p:spPr>
          <a:xfrm>
            <a:off x="6205728" y="2788920"/>
            <a:ext cx="2316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MyChart · GoodRx · CVS · Walgreens · Medisafe</a:t>
            </a:r>
            <a:endParaRPr lang="en-US" sz="850" dirty="0"/>
          </a:p>
        </p:txBody>
      </p:sp>
      <p:sp>
        <p:nvSpPr>
          <p:cNvPr id="34" name="Text 31"/>
          <p:cNvSpPr txBox="1"/>
          <p:nvPr/>
        </p:nvSpPr>
        <p:spPr>
          <a:xfrm>
            <a:off x="6205728" y="3337560"/>
            <a:ext cx="2316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FFE7B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Unbranded awareness and trust at scale</a:t>
            </a:r>
            <a:endParaRPr lang="en-US" sz="850" dirty="0"/>
          </a:p>
        </p:txBody>
      </p:sp>
      <p:sp>
        <p:nvSpPr>
          <p:cNvPr id="35" name="Shape 32"/>
          <p:cNvSpPr/>
          <p:nvPr/>
        </p:nvSpPr>
        <p:spPr>
          <a:xfrm>
            <a:off x="6205728" y="3767328"/>
            <a:ext cx="2316480" cy="512064"/>
          </a:xfrm>
          <a:prstGeom prst="rect">
            <a:avLst/>
          </a:prstGeom>
          <a:solidFill>
            <a:srgbClr val="2F2F2F"/>
          </a:solidFill>
          <a:ln w="12700">
            <a:solidFill>
              <a:srgbClr val="2F2F2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6297168" y="3813048"/>
            <a:ext cx="2133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spc="100" kern="0" dirty="0">
                <a:solidFill>
                  <a:srgbClr val="FFC63E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UNIQUE MONTHLY REACH  [CONFIRM]</a:t>
            </a:r>
            <a:endParaRPr lang="en-US" sz="650" dirty="0"/>
          </a:p>
        </p:txBody>
      </p:sp>
      <p:sp>
        <p:nvSpPr>
          <p:cNvPr id="37" name="Text 34"/>
          <p:cNvSpPr txBox="1"/>
          <p:nvPr/>
        </p:nvSpPr>
        <p:spPr>
          <a:xfrm>
            <a:off x="6297168" y="3995928"/>
            <a:ext cx="2133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CTV 18MM | OTT 30MM | Mobile 46MM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4747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dirty="0">
                <a:solidFill>
                  <a:srgbClr val="FFFFFF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THREE DEALS BUILD TO 37MM HOUSEHOLDS</a:t>
            </a:r>
            <a:endParaRPr lang="en-US" sz="23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229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FFC63E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HOW CTV REACH GROWS AS EACH AUDIENCE IS LAYERED IN · DEDUPLICATED</a:t>
            </a:r>
            <a:endParaRPr lang="en-US" sz="85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539996"/>
            <a:ext cx="7040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650" dirty="0">
                <a:solidFill>
                  <a:srgbClr val="7E7E7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Illustrative [CONFIRM]. Net-new counts remove homes already in an earlier audience. Source: App Science® household graph methodology, 2025 – 2026.</a:t>
            </a:r>
            <a:endParaRPr lang="en-US" sz="65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4832604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7E7E7E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7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4832604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7E7E7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Sabio × Merck  ·  Proactive point of view for Omnicom  ·  Confidential</a:t>
            </a:r>
            <a:endParaRPr lang="en-US" sz="700" dirty="0"/>
          </a:p>
        </p:txBody>
      </p:sp>
      <p:pic>
        <p:nvPicPr>
          <p:cNvPr id="7" name="Image 0" descr="/home/user/Sabio-Deck-Builders-/assets/sabio-logo-white-s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28432" y="4805172"/>
            <a:ext cx="647572" cy="155448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457200" y="1188720"/>
            <a:ext cx="5120640" cy="3246120"/>
          </a:xfrm>
          <a:prstGeom prst="rect">
            <a:avLst/>
          </a:prstGeom>
          <a:solidFill>
            <a:srgbClr val="262626"/>
          </a:solidFill>
          <a:ln w="12700">
            <a:solidFill>
              <a:srgbClr val="262626"/>
            </a:solidFill>
            <a:prstDash val="solid"/>
          </a:ln>
        </p:spPr>
      </p:sp>
      <p:graphicFrame>
        <p:nvGraphicFramePr>
          <p:cNvPr id="9" name="Chart 0" descr=""/>
          <p:cNvGraphicFramePr/>
          <p:nvPr/>
        </p:nvGraphicFramePr>
        <p:xfrm>
          <a:off x="548640" y="1280160"/>
          <a:ext cx="4937760" cy="3063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Text 6"/>
          <p:cNvSpPr txBox="1"/>
          <p:nvPr/>
        </p:nvSpPr>
        <p:spPr>
          <a:xfrm>
            <a:off x="5852160" y="1188720"/>
            <a:ext cx="2834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C63E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37MM</a:t>
            </a:r>
            <a:endParaRPr lang="en-US" sz="4600" dirty="0"/>
          </a:p>
        </p:txBody>
      </p:sp>
      <p:sp>
        <p:nvSpPr>
          <p:cNvPr id="11" name="Text 7"/>
          <p:cNvSpPr txBox="1"/>
          <p:nvPr/>
        </p:nvSpPr>
        <p:spPr>
          <a:xfrm>
            <a:off x="5852160" y="210312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unique CTV households across the three deals</a:t>
            </a:r>
            <a:endParaRPr lang="en-US" sz="1050" dirty="0"/>
          </a:p>
        </p:txBody>
      </p:sp>
      <p:sp>
        <p:nvSpPr>
          <p:cNvPr id="12" name="Text 8"/>
          <p:cNvSpPr txBox="1"/>
          <p:nvPr/>
        </p:nvSpPr>
        <p:spPr>
          <a:xfrm>
            <a:off x="5852160" y="2697480"/>
            <a:ext cx="28346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E3E3E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clinician deal adds few homes, and that's the point. It's precision, not scale.</a:t>
            </a:r>
            <a:endParaRPr lang="en-US" sz="900" dirty="0"/>
          </a:p>
          <a:p>
            <a:pPr indent="0" marL="0">
              <a:buNone/>
            </a:pP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3E3E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We see which apps sit on a phone, find the home IP it returns to, and connect it to the CTV on that same IP.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4747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dirty="0">
                <a:solidFill>
                  <a:srgbClr val="FFFFFF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DEALS ON OMNICOM'S OWN SEATS</a:t>
            </a:r>
            <a:endParaRPr lang="en-US" sz="23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229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FFC63E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APP SCIENCE® RUNS ON SABIO MEDIA · NO DATA CPM, LICENSE OR MATCH FEE</a:t>
            </a:r>
            <a:endParaRPr lang="en-US" sz="85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539996"/>
            <a:ext cx="7040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650" dirty="0">
                <a:solidFill>
                  <a:srgbClr val="7E7E7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Sabio's Magnite activation went live the week of Sep 28, 2026; curation access expected early October. Seat IDs to come from Omnicom's deal form.</a:t>
            </a:r>
            <a:endParaRPr lang="en-US" sz="65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4832604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7E7E7E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8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4832604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7E7E7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Sabio × Merck  ·  Proactive point of view for Omnicom  ·  Confidential</a:t>
            </a:r>
            <a:endParaRPr lang="en-US" sz="700" dirty="0"/>
          </a:p>
        </p:txBody>
      </p:sp>
      <p:pic>
        <p:nvPicPr>
          <p:cNvPr id="7" name="Image 0" descr="/home/user/Sabio-Deck-Builders-/assets/sabio-logo-white-s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28432" y="4805172"/>
            <a:ext cx="647572" cy="155448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457200" y="1188720"/>
            <a:ext cx="2377440" cy="1536192"/>
          </a:xfrm>
          <a:prstGeom prst="rect">
            <a:avLst/>
          </a:prstGeom>
          <a:solidFill>
            <a:srgbClr val="262626"/>
          </a:solidFill>
          <a:ln w="12700">
            <a:solidFill>
              <a:srgbClr val="262626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21792" y="1353312"/>
            <a:ext cx="20482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C63E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MAGNITE PMP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621792" y="1664208"/>
            <a:ext cx="204825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E3E3E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One curated deal per Merck audience on Omnicom's seat IDs, activated by the account teams like any other deal.</a:t>
            </a:r>
            <a:endParaRPr lang="en-US" sz="850" dirty="0"/>
          </a:p>
        </p:txBody>
      </p:sp>
      <p:sp>
        <p:nvSpPr>
          <p:cNvPr id="11" name="Shape 8"/>
          <p:cNvSpPr/>
          <p:nvPr/>
        </p:nvSpPr>
        <p:spPr>
          <a:xfrm>
            <a:off x="2962656" y="1188720"/>
            <a:ext cx="2377440" cy="1536192"/>
          </a:xfrm>
          <a:prstGeom prst="rect">
            <a:avLst/>
          </a:prstGeom>
          <a:solidFill>
            <a:srgbClr val="262626"/>
          </a:solidFill>
          <a:ln w="12700">
            <a:solidFill>
              <a:srgbClr val="262626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3127248" y="1353312"/>
            <a:ext cx="20482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C63E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CTV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3127248" y="1664208"/>
            <a:ext cx="204825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E3E3E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Every major TV OEM and streaming device. Non-skippable video, with QR to a vet finder or brand page.</a:t>
            </a:r>
            <a:endParaRPr lang="en-US" sz="850" dirty="0"/>
          </a:p>
        </p:txBody>
      </p:sp>
      <p:sp>
        <p:nvSpPr>
          <p:cNvPr id="14" name="Shape 11"/>
          <p:cNvSpPr/>
          <p:nvPr/>
        </p:nvSpPr>
        <p:spPr>
          <a:xfrm>
            <a:off x="457200" y="2834640"/>
            <a:ext cx="2377440" cy="1536192"/>
          </a:xfrm>
          <a:prstGeom prst="rect">
            <a:avLst/>
          </a:prstGeom>
          <a:solidFill>
            <a:srgbClr val="262626"/>
          </a:solidFill>
          <a:ln w="12700">
            <a:solidFill>
              <a:srgbClr val="262626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21792" y="2999232"/>
            <a:ext cx="20482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C63E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MOBILE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621792" y="3310128"/>
            <a:ext cx="204825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E3E3E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In-app video and display on the same households after CTV exposure, one tap from the page.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2962656" y="2834640"/>
            <a:ext cx="2377440" cy="1536192"/>
          </a:xfrm>
          <a:prstGeom prst="rect">
            <a:avLst/>
          </a:prstGeom>
          <a:solidFill>
            <a:srgbClr val="262626"/>
          </a:solidFill>
          <a:ln w="12700">
            <a:solidFill>
              <a:srgbClr val="262626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3127248" y="2999232"/>
            <a:ext cx="20482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C63E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VERIFICATION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3127248" y="3310128"/>
            <a:ext cx="204825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E3E3E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App Science® Pixel Verification on the deals, so spend is checked against real, verified households.</a:t>
            </a:r>
            <a:endParaRPr lang="en-US" sz="850" dirty="0"/>
          </a:p>
        </p:txBody>
      </p:sp>
      <p:sp>
        <p:nvSpPr>
          <p:cNvPr id="20" name="Shape 17"/>
          <p:cNvSpPr/>
          <p:nvPr/>
        </p:nvSpPr>
        <p:spPr>
          <a:xfrm>
            <a:off x="5486400" y="1188720"/>
            <a:ext cx="3200400" cy="3182112"/>
          </a:xfrm>
          <a:prstGeom prst="rect">
            <a:avLst/>
          </a:prstGeom>
          <a:solidFill>
            <a:srgbClr val="FFC63E"/>
          </a:solidFill>
          <a:ln w="12700">
            <a:solidFill>
              <a:srgbClr val="FFC63E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5687568" y="1371600"/>
            <a:ext cx="2798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WHAT MERCK GETS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5687568" y="1755648"/>
            <a:ext cx="2798064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950" dirty="0">
                <a:solidFill>
                  <a:srgbClr val="1A1A1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One named deal per Merck team, so spend maps to a budget</a:t>
            </a:r>
            <a:endParaRPr lang="en-US" sz="9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950" dirty="0">
                <a:solidFill>
                  <a:srgbClr val="1A1A1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Audience included in the media CPM</a:t>
            </a:r>
            <a:endParaRPr lang="en-US" sz="9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950" dirty="0">
                <a:solidFill>
                  <a:srgbClr val="1A1A1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DoubleVerify on all supply, TAG registered</a:t>
            </a:r>
            <a:endParaRPr lang="en-US" sz="9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950" dirty="0">
                <a:solidFill>
                  <a:srgbClr val="1A1A1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Household frequency managed across screens</a:t>
            </a:r>
            <a:endParaRPr lang="en-US" sz="9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950" dirty="0">
                <a:solidFill>
                  <a:srgbClr val="1A1A1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An App Science® readout on who responded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4747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dirty="0">
                <a:solidFill>
                  <a:srgbClr val="FFFFFF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FROM THE SCREEN TO THE VET</a:t>
            </a:r>
            <a:endParaRPr lang="en-US" sz="23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229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FFC63E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ONE HOUSEHOLD, THREE MOMENTS · THE TV BUILDS THE IDEA, THE PHONE CLOSES IT</a:t>
            </a:r>
            <a:endParaRPr lang="en-US" sz="85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832604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7E7E7E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9</a:t>
            </a:r>
            <a:endParaRPr lang="en-US" sz="8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4832604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7E7E7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Sabio × Merck  ·  Proactive point of view for Omnicom  ·  Confidential</a:t>
            </a:r>
            <a:endParaRPr lang="en-US" sz="700" dirty="0"/>
          </a:p>
        </p:txBody>
      </p:sp>
      <p:pic>
        <p:nvPicPr>
          <p:cNvPr id="6" name="Image 0" descr="/home/user/Sabio-Deck-Builders-/assets/sabio-logo-white-s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28432" y="4805172"/>
            <a:ext cx="647572" cy="155448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457200" y="1188720"/>
            <a:ext cx="2499360" cy="2514600"/>
          </a:xfrm>
          <a:prstGeom prst="rect">
            <a:avLst/>
          </a:prstGeom>
          <a:solidFill>
            <a:srgbClr val="262626"/>
          </a:solidFill>
          <a:ln w="12700">
            <a:solidFill>
              <a:srgbClr val="262626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371600"/>
            <a:ext cx="213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FFC63E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PRIME · CTV</a:t>
            </a:r>
            <a:endParaRPr lang="en-US" sz="850" dirty="0"/>
          </a:p>
        </p:txBody>
      </p:sp>
      <p:sp>
        <p:nvSpPr>
          <p:cNvPr id="9" name="Text 6"/>
          <p:cNvSpPr txBox="1"/>
          <p:nvPr/>
        </p:nvSpPr>
        <p:spPr>
          <a:xfrm>
            <a:off x="640080" y="1645920"/>
            <a:ext cx="2133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Tick season on the big screen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640080" y="2331720"/>
            <a:ext cx="21336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E3E3E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Tick-country dog homes see Bravecto Quantum messaging on CTV. The QR code goes to a vet finder or the brand page.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2956560" y="2125980"/>
            <a:ext cx="365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FFC63E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›</a:t>
            </a:r>
            <a:endParaRPr lang="en-US" sz="3000" dirty="0"/>
          </a:p>
        </p:txBody>
      </p:sp>
      <p:sp>
        <p:nvSpPr>
          <p:cNvPr id="12" name="Shape 9"/>
          <p:cNvSpPr/>
          <p:nvPr/>
        </p:nvSpPr>
        <p:spPr>
          <a:xfrm>
            <a:off x="3322320" y="1188720"/>
            <a:ext cx="2499360" cy="2514600"/>
          </a:xfrm>
          <a:prstGeom prst="rect">
            <a:avLst/>
          </a:prstGeom>
          <a:solidFill>
            <a:srgbClr val="262626"/>
          </a:solidFill>
          <a:ln w="12700">
            <a:solidFill>
              <a:srgbClr val="262626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3505200" y="1371600"/>
            <a:ext cx="213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FFC63E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PROVE · MOBILE</a:t>
            </a:r>
            <a:endParaRPr lang="en-US" sz="850" dirty="0"/>
          </a:p>
        </p:txBody>
      </p:sp>
      <p:sp>
        <p:nvSpPr>
          <p:cNvPr id="14" name="Text 11"/>
          <p:cNvSpPr txBox="1"/>
          <p:nvPr/>
        </p:nvSpPr>
        <p:spPr>
          <a:xfrm>
            <a:off x="3505200" y="1645920"/>
            <a:ext cx="2133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The same home, on the phone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3505200" y="2331720"/>
            <a:ext cx="21336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E3E3E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households exposed on CTV are retargeted with mobile video and display, one tap from the vet finder.</a:t>
            </a:r>
            <a:endParaRPr lang="en-US" sz="900" dirty="0"/>
          </a:p>
        </p:txBody>
      </p:sp>
      <p:sp>
        <p:nvSpPr>
          <p:cNvPr id="16" name="Text 13"/>
          <p:cNvSpPr txBox="1"/>
          <p:nvPr/>
        </p:nvSpPr>
        <p:spPr>
          <a:xfrm>
            <a:off x="5821680" y="2125980"/>
            <a:ext cx="365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FFC63E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›</a:t>
            </a:r>
            <a:endParaRPr lang="en-US" sz="3000" dirty="0"/>
          </a:p>
        </p:txBody>
      </p:sp>
      <p:sp>
        <p:nvSpPr>
          <p:cNvPr id="17" name="Shape 14"/>
          <p:cNvSpPr/>
          <p:nvPr/>
        </p:nvSpPr>
        <p:spPr>
          <a:xfrm>
            <a:off x="6187440" y="1188720"/>
            <a:ext cx="2499360" cy="2514600"/>
          </a:xfrm>
          <a:prstGeom prst="rect">
            <a:avLst/>
          </a:prstGeom>
          <a:solidFill>
            <a:srgbClr val="262626"/>
          </a:solidFill>
          <a:ln w="12700">
            <a:solidFill>
              <a:srgbClr val="262626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370320" y="1371600"/>
            <a:ext cx="213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FFC63E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ACT · VET VISIT</a:t>
            </a:r>
            <a:endParaRPr lang="en-US" sz="850" dirty="0"/>
          </a:p>
        </p:txBody>
      </p:sp>
      <p:sp>
        <p:nvSpPr>
          <p:cNvPr id="19" name="Text 16"/>
          <p:cNvSpPr txBox="1"/>
          <p:nvPr/>
        </p:nvSpPr>
        <p:spPr>
          <a:xfrm>
            <a:off x="6370320" y="1645920"/>
            <a:ext cx="2133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Book the once-a-year shot</a:t>
            </a:r>
            <a:endParaRPr lang="en-US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6370320" y="2331720"/>
            <a:ext cx="21336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E3E3E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page drives a vet booking or a question at the next appointment. We read site visits and, where Merck allows, vet visits by household.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457200" y="38862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7A7A7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Benchmark: CTV video with QR code, 96% VCR. Human Health follows the same path to a Merck HCP or unbranded page.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4747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dirty="0">
                <a:solidFill>
                  <a:srgbClr val="FFFFFF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TWO WAYS TO READ THE TEST</a:t>
            </a:r>
            <a:endParaRPr lang="en-US" sz="23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229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FFC63E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ACTION AND AWARENESS, READ AGAINST THE SAME 10% HOLDOUT</a:t>
            </a:r>
            <a:endParaRPr lang="en-US" sz="85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539996"/>
            <a:ext cx="7040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650" dirty="0">
                <a:solidFill>
                  <a:srgbClr val="7E7E7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Source: Sabio Performance attribution and App Science® brand-lift materials, 2025 – 2026. Crossix available as an alternative for pharma measurement.</a:t>
            </a:r>
            <a:endParaRPr lang="en-US" sz="65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4832604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7E7E7E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10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4832604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7E7E7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Sabio × Merck  ·  Proactive point of view for Omnicom  ·  Confidential</a:t>
            </a:r>
            <a:endParaRPr lang="en-US" sz="700" dirty="0"/>
          </a:p>
        </p:txBody>
      </p:sp>
      <p:pic>
        <p:nvPicPr>
          <p:cNvPr id="7" name="Image 0" descr="/home/user/Sabio-Deck-Builders-/assets/sabio-logo-white-s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28432" y="4805172"/>
            <a:ext cx="647572" cy="155448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457200" y="117043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ACTION · CTV VIEW-THROUGH AND MOBILE CLICK-THROUGH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457200" y="1463040"/>
            <a:ext cx="1975104" cy="1170432"/>
          </a:xfrm>
          <a:prstGeom prst="rect">
            <a:avLst/>
          </a:prstGeom>
          <a:solidFill>
            <a:srgbClr val="262626"/>
          </a:solidFill>
          <a:ln w="12700">
            <a:solidFill>
              <a:srgbClr val="262626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85216" y="15544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C63E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01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585216" y="1865376"/>
            <a:ext cx="17190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E3E3E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Ad plays on the TV or phone. Household IP or device ID is logged</a:t>
            </a:r>
            <a:endParaRPr lang="en-US" sz="850" dirty="0"/>
          </a:p>
        </p:txBody>
      </p:sp>
      <p:sp>
        <p:nvSpPr>
          <p:cNvPr id="12" name="Shape 9"/>
          <p:cNvSpPr/>
          <p:nvPr/>
        </p:nvSpPr>
        <p:spPr>
          <a:xfrm>
            <a:off x="2542032" y="1463040"/>
            <a:ext cx="1975104" cy="1170432"/>
          </a:xfrm>
          <a:prstGeom prst="rect">
            <a:avLst/>
          </a:prstGeom>
          <a:solidFill>
            <a:srgbClr val="262626"/>
          </a:solidFill>
          <a:ln w="12700">
            <a:solidFill>
              <a:srgbClr val="262626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670048" y="15544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C63E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02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2670048" y="1865376"/>
            <a:ext cx="17190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E3E3E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Someone in the home visits the vet finder or brand page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626864" y="1463040"/>
            <a:ext cx="1975104" cy="1170432"/>
          </a:xfrm>
          <a:prstGeom prst="rect">
            <a:avLst/>
          </a:prstGeom>
          <a:solidFill>
            <a:srgbClr val="262626"/>
          </a:solidFill>
          <a:ln w="12700">
            <a:solidFill>
              <a:srgbClr val="262626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54880" y="15544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C63E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03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4754880" y="1865376"/>
            <a:ext cx="17190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E3E3E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Sabio pixel records the visit, with no personal data passed</a:t>
            </a:r>
            <a:endParaRPr lang="en-US" sz="850" dirty="0"/>
          </a:p>
        </p:txBody>
      </p:sp>
      <p:sp>
        <p:nvSpPr>
          <p:cNvPr id="18" name="Shape 15"/>
          <p:cNvSpPr/>
          <p:nvPr/>
        </p:nvSpPr>
        <p:spPr>
          <a:xfrm>
            <a:off x="6711696" y="1463040"/>
            <a:ext cx="1975104" cy="1170432"/>
          </a:xfrm>
          <a:prstGeom prst="rect">
            <a:avLst/>
          </a:prstGeom>
          <a:solidFill>
            <a:srgbClr val="FFC63E"/>
          </a:solidFill>
          <a:ln w="12700">
            <a:solidFill>
              <a:srgbClr val="FFC63E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839712" y="15544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04</a:t>
            </a:r>
            <a:endParaRPr lang="en-US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6839712" y="1865376"/>
            <a:ext cx="17190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1A1A1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Visits matched to exposure and compared with the holdout</a:t>
            </a:r>
            <a:endParaRPr lang="en-US" sz="850" dirty="0"/>
          </a:p>
        </p:txBody>
      </p:sp>
      <p:sp>
        <p:nvSpPr>
          <p:cNvPr id="21" name="Text 18"/>
          <p:cNvSpPr txBox="1"/>
          <p:nvPr/>
        </p:nvSpPr>
        <p:spPr>
          <a:xfrm>
            <a:off x="457200" y="2798064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AWARENESS · APP SCIENCE® BRAND-LIFT STUDY</a:t>
            </a:r>
            <a:endParaRPr lang="en-US" sz="900" dirty="0"/>
          </a:p>
        </p:txBody>
      </p:sp>
      <p:sp>
        <p:nvSpPr>
          <p:cNvPr id="22" name="Shape 19"/>
          <p:cNvSpPr/>
          <p:nvPr/>
        </p:nvSpPr>
        <p:spPr>
          <a:xfrm>
            <a:off x="457200" y="3090672"/>
            <a:ext cx="1975104" cy="1170432"/>
          </a:xfrm>
          <a:prstGeom prst="rect">
            <a:avLst/>
          </a:prstGeom>
          <a:solidFill>
            <a:srgbClr val="262626"/>
          </a:solidFill>
          <a:ln w="12700">
            <a:solidFill>
              <a:srgbClr val="262626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585216" y="31821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C63E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01</a:t>
            </a:r>
            <a:endParaRPr lang="en-US" sz="1300" dirty="0"/>
          </a:p>
        </p:txBody>
      </p:sp>
      <p:sp>
        <p:nvSpPr>
          <p:cNvPr id="24" name="Text 21"/>
          <p:cNvSpPr txBox="1"/>
          <p:nvPr/>
        </p:nvSpPr>
        <p:spPr>
          <a:xfrm>
            <a:off x="585216" y="3493008"/>
            <a:ext cx="17190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E3E3E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Exposed households are connected to the household graph</a:t>
            </a:r>
            <a:endParaRPr lang="en-US" sz="850" dirty="0"/>
          </a:p>
        </p:txBody>
      </p:sp>
      <p:sp>
        <p:nvSpPr>
          <p:cNvPr id="25" name="Shape 22"/>
          <p:cNvSpPr/>
          <p:nvPr/>
        </p:nvSpPr>
        <p:spPr>
          <a:xfrm>
            <a:off x="2542032" y="3090672"/>
            <a:ext cx="1975104" cy="1170432"/>
          </a:xfrm>
          <a:prstGeom prst="rect">
            <a:avLst/>
          </a:prstGeom>
          <a:solidFill>
            <a:srgbClr val="262626"/>
          </a:solidFill>
          <a:ln w="12700">
            <a:solidFill>
              <a:srgbClr val="262626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2670048" y="31821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C63E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02</a:t>
            </a:r>
            <a:endParaRPr lang="en-US" sz="1300" dirty="0"/>
          </a:p>
        </p:txBody>
      </p:sp>
      <p:sp>
        <p:nvSpPr>
          <p:cNvPr id="27" name="Text 24"/>
          <p:cNvSpPr txBox="1"/>
          <p:nvPr/>
        </p:nvSpPr>
        <p:spPr>
          <a:xfrm>
            <a:off x="2670048" y="3493008"/>
            <a:ext cx="17190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E3E3E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short survey goes to exposed homes and a matched control</a:t>
            </a:r>
            <a:endParaRPr lang="en-US" sz="850" dirty="0"/>
          </a:p>
        </p:txBody>
      </p:sp>
      <p:sp>
        <p:nvSpPr>
          <p:cNvPr id="28" name="Shape 25"/>
          <p:cNvSpPr/>
          <p:nvPr/>
        </p:nvSpPr>
        <p:spPr>
          <a:xfrm>
            <a:off x="4626864" y="3090672"/>
            <a:ext cx="1975104" cy="1170432"/>
          </a:xfrm>
          <a:prstGeom prst="rect">
            <a:avLst/>
          </a:prstGeom>
          <a:solidFill>
            <a:srgbClr val="262626"/>
          </a:solidFill>
          <a:ln w="12700">
            <a:solidFill>
              <a:srgbClr val="262626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4754880" y="31821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C63E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03</a:t>
            </a:r>
            <a:endParaRPr lang="en-US" sz="1300" dirty="0"/>
          </a:p>
        </p:txBody>
      </p:sp>
      <p:sp>
        <p:nvSpPr>
          <p:cNvPr id="30" name="Text 27"/>
          <p:cNvSpPr txBox="1"/>
          <p:nvPr/>
        </p:nvSpPr>
        <p:spPr>
          <a:xfrm>
            <a:off x="4754880" y="3493008"/>
            <a:ext cx="17190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E3E3E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Awareness and intent to ask the vet, by audience</a:t>
            </a:r>
            <a:endParaRPr lang="en-US" sz="850" dirty="0"/>
          </a:p>
        </p:txBody>
      </p:sp>
      <p:sp>
        <p:nvSpPr>
          <p:cNvPr id="31" name="Shape 28"/>
          <p:cNvSpPr/>
          <p:nvPr/>
        </p:nvSpPr>
        <p:spPr>
          <a:xfrm>
            <a:off x="6711696" y="3090672"/>
            <a:ext cx="1975104" cy="1170432"/>
          </a:xfrm>
          <a:prstGeom prst="rect">
            <a:avLst/>
          </a:prstGeom>
          <a:solidFill>
            <a:srgbClr val="FFC63E"/>
          </a:solidFill>
          <a:ln w="12700">
            <a:solidFill>
              <a:srgbClr val="FFC63E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6839712" y="31821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04</a:t>
            </a:r>
            <a:endParaRPr lang="en-US" sz="1300" dirty="0"/>
          </a:p>
        </p:txBody>
      </p:sp>
      <p:sp>
        <p:nvSpPr>
          <p:cNvPr id="33" name="Text 30"/>
          <p:cNvSpPr txBox="1"/>
          <p:nvPr/>
        </p:nvSpPr>
        <p:spPr>
          <a:xfrm>
            <a:off x="6839712" y="3493008"/>
            <a:ext cx="17190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1A1A1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Lift read by audience and demo, feeding the next flight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4747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PROVEN LIVE, INCLUDING INSIDE OMNICOM</a:t>
            </a:r>
            <a:endParaRPr lang="en-US" sz="2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229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FFC63E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CLEARED CASE STUDIES AND ANONYMIZED READOUTS</a:t>
            </a:r>
            <a:endParaRPr lang="en-US" sz="85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539996"/>
            <a:ext cx="7040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650" dirty="0">
                <a:solidFill>
                  <a:srgbClr val="7E7E7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Sources: Sabio x Kinesso partnership review, Sep 2026; Sabio public health and government health case studies. Kinesso joined Omnicom with IPG.</a:t>
            </a:r>
            <a:endParaRPr lang="en-US" sz="65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4832604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7E7E7E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11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4832604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7E7E7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Sabio × Merck  ·  Proactive point of view for Omnicom  ·  Confidential</a:t>
            </a:r>
            <a:endParaRPr lang="en-US" sz="700" dirty="0"/>
          </a:p>
        </p:txBody>
      </p:sp>
      <p:pic>
        <p:nvPicPr>
          <p:cNvPr id="7" name="Image 0" descr="/home/user/Sabio-Deck-Builders-/assets/sabio-logo-white-s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28432" y="4805172"/>
            <a:ext cx="647572" cy="155448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457200" y="1188720"/>
            <a:ext cx="5029200" cy="987552"/>
          </a:xfrm>
          <a:prstGeom prst="rect">
            <a:avLst/>
          </a:prstGeom>
          <a:solidFill>
            <a:srgbClr val="262626"/>
          </a:solidFill>
          <a:ln w="12700">
            <a:solidFill>
              <a:srgbClr val="262626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40080" y="1188720"/>
            <a:ext cx="17373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C63E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99%</a:t>
            </a:r>
            <a:endParaRPr lang="en-US" sz="2800" dirty="0"/>
          </a:p>
        </p:txBody>
      </p:sp>
      <p:sp>
        <p:nvSpPr>
          <p:cNvPr id="10" name="Text 7"/>
          <p:cNvSpPr txBox="1"/>
          <p:nvPr/>
        </p:nvSpPr>
        <p:spPr>
          <a:xfrm>
            <a:off x="2423160" y="134416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CTV video completion rate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2423160" y="164592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A7A7A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Levi's through Kinesso, now part of Omnicom, built on App Science® audiences</a:t>
            </a:r>
            <a:endParaRPr lang="en-US" sz="800" dirty="0"/>
          </a:p>
        </p:txBody>
      </p:sp>
      <p:sp>
        <p:nvSpPr>
          <p:cNvPr id="12" name="Shape 9"/>
          <p:cNvSpPr/>
          <p:nvPr/>
        </p:nvSpPr>
        <p:spPr>
          <a:xfrm>
            <a:off x="457200" y="2286000"/>
            <a:ext cx="5029200" cy="987552"/>
          </a:xfrm>
          <a:prstGeom prst="rect">
            <a:avLst/>
          </a:prstGeom>
          <a:solidFill>
            <a:srgbClr val="262626"/>
          </a:solidFill>
          <a:ln w="12700">
            <a:solidFill>
              <a:srgbClr val="262626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40080" y="2286000"/>
            <a:ext cx="17373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C63E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+250%</a:t>
            </a:r>
            <a:endParaRPr lang="en-US" sz="2800" dirty="0"/>
          </a:p>
        </p:txBody>
      </p:sp>
      <p:sp>
        <p:nvSpPr>
          <p:cNvPr id="14" name="Text 11"/>
          <p:cNvSpPr txBox="1"/>
          <p:nvPr/>
        </p:nvSpPr>
        <p:spPr>
          <a:xfrm>
            <a:off x="2423160" y="244144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QR scan rate over benchmark</a:t>
            </a:r>
            <a:endParaRPr lang="en-US" sz="1000" dirty="0"/>
          </a:p>
        </p:txBody>
      </p:sp>
      <p:sp>
        <p:nvSpPr>
          <p:cNvPr id="15" name="Text 12"/>
          <p:cNvSpPr txBox="1"/>
          <p:nvPr/>
        </p:nvSpPr>
        <p:spPr>
          <a:xfrm>
            <a:off x="2423160" y="274320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A7A7A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Government health agency, CTV with QR code plus mobile</a:t>
            </a:r>
            <a:endParaRPr lang="en-US" sz="800" dirty="0"/>
          </a:p>
        </p:txBody>
      </p:sp>
      <p:sp>
        <p:nvSpPr>
          <p:cNvPr id="16" name="Shape 13"/>
          <p:cNvSpPr/>
          <p:nvPr/>
        </p:nvSpPr>
        <p:spPr>
          <a:xfrm>
            <a:off x="457200" y="3383280"/>
            <a:ext cx="5029200" cy="987552"/>
          </a:xfrm>
          <a:prstGeom prst="rect">
            <a:avLst/>
          </a:prstGeom>
          <a:solidFill>
            <a:srgbClr val="262626"/>
          </a:solidFill>
          <a:ln w="12700">
            <a:solidFill>
              <a:srgbClr val="262626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0080" y="3383280"/>
            <a:ext cx="17373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C63E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+30%</a:t>
            </a:r>
            <a:endParaRPr lang="en-US" sz="2800" dirty="0"/>
          </a:p>
        </p:txBody>
      </p:sp>
      <p:sp>
        <p:nvSpPr>
          <p:cNvPr id="18" name="Text 15"/>
          <p:cNvSpPr txBox="1"/>
          <p:nvPr/>
        </p:nvSpPr>
        <p:spPr>
          <a:xfrm>
            <a:off x="2423160" y="353872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Mobile CTR over benchmark</a:t>
            </a:r>
            <a:endParaRPr lang="en-US" sz="1000" dirty="0"/>
          </a:p>
        </p:txBody>
      </p:sp>
      <p:sp>
        <p:nvSpPr>
          <p:cNvPr id="19" name="Text 16"/>
          <p:cNvSpPr txBox="1"/>
          <p:nvPr/>
        </p:nvSpPr>
        <p:spPr>
          <a:xfrm>
            <a:off x="2423160" y="38404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A7A7A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Public health agency, CTV, mobile video and interstitial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5669280" y="1188720"/>
            <a:ext cx="3017520" cy="3182112"/>
          </a:xfrm>
          <a:prstGeom prst="rect">
            <a:avLst/>
          </a:prstGeom>
          <a:solidFill>
            <a:srgbClr val="2F2F2F"/>
          </a:solidFill>
          <a:ln w="12700">
            <a:solidFill>
              <a:srgbClr val="2F2F2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5870448" y="1371600"/>
            <a:ext cx="2615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C63E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WHY NOW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5870448" y="1755648"/>
            <a:ext cx="2615184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95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Adult ticks stay active into November, so dog owners are in market right now.</a:t>
            </a:r>
            <a:endParaRPr lang="en-US" sz="950" dirty="0"/>
          </a:p>
          <a:p>
            <a:pPr indent="0" marL="0">
              <a:spcAft>
                <a:spcPts val="600"/>
              </a:spcAft>
              <a:buNone/>
            </a:pPr>
            <a:endParaRPr lang="en-US" sz="9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95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FDA's proposal is expected in December. Merck can have addressable deals running and read before it lands.</a:t>
            </a:r>
            <a:endParaRPr lang="en-US" sz="950" dirty="0"/>
          </a:p>
          <a:p>
            <a:pPr indent="0" marL="0">
              <a:spcAft>
                <a:spcPts val="600"/>
              </a:spcAft>
              <a:buNone/>
            </a:pPr>
            <a:endParaRPr lang="en-US" sz="9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95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RSV season decisions happen this quarter.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4747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dirty="0">
                <a:solidFill>
                  <a:srgbClr val="FFFFFF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PHARMA GUARDRAILS</a:t>
            </a:r>
            <a:endParaRPr lang="en-US" sz="23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229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FFC63E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WHAT WE SEE, WHAT WE DON'T, AND WHAT WE WON'T DO</a:t>
            </a:r>
            <a:endParaRPr lang="en-US" sz="85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539996"/>
            <a:ext cx="7040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650" dirty="0">
                <a:solidFill>
                  <a:srgbClr val="7E7E7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Source: Sabio Internal FAQ and CTV FAQ, 2026. All Human Health targeting subject to Merck MLR review before launch.</a:t>
            </a:r>
            <a:endParaRPr lang="en-US" sz="65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4832604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7E7E7E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12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4832604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7E7E7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Sabio × Merck  ·  Proactive point of view for Omnicom  ·  Confidential</a:t>
            </a:r>
            <a:endParaRPr lang="en-US" sz="700" dirty="0"/>
          </a:p>
        </p:txBody>
      </p:sp>
      <p:pic>
        <p:nvPicPr>
          <p:cNvPr id="7" name="Image 0" descr="/home/user/Sabio-Deck-Builders-/assets/sabio-logo-white-s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28432" y="4805172"/>
            <a:ext cx="647572" cy="155448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457200" y="1188720"/>
            <a:ext cx="2657856" cy="1536192"/>
          </a:xfrm>
          <a:prstGeom prst="rect">
            <a:avLst/>
          </a:prstGeom>
          <a:solidFill>
            <a:srgbClr val="262626"/>
          </a:solidFill>
          <a:ln w="12700">
            <a:solidFill>
              <a:srgbClr val="262626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21792" y="1335024"/>
            <a:ext cx="23286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FFC63E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WHAT WE OBSERVE</a:t>
            </a:r>
            <a:endParaRPr lang="en-US" sz="850" dirty="0"/>
          </a:p>
        </p:txBody>
      </p:sp>
      <p:sp>
        <p:nvSpPr>
          <p:cNvPr id="10" name="Text 7"/>
          <p:cNvSpPr txBox="1"/>
          <p:nvPr/>
        </p:nvSpPr>
        <p:spPr>
          <a:xfrm>
            <a:off x="621792" y="1591056"/>
            <a:ext cx="2328672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E3E3E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Which apps are installed and how recently they're used. Never what anyone reads or types inside a health app.</a:t>
            </a:r>
            <a:endParaRPr lang="en-US" sz="850" dirty="0"/>
          </a:p>
        </p:txBody>
      </p:sp>
      <p:sp>
        <p:nvSpPr>
          <p:cNvPr id="11" name="Shape 8"/>
          <p:cNvSpPr/>
          <p:nvPr/>
        </p:nvSpPr>
        <p:spPr>
          <a:xfrm>
            <a:off x="3243072" y="1188720"/>
            <a:ext cx="2657856" cy="1536192"/>
          </a:xfrm>
          <a:prstGeom prst="rect">
            <a:avLst/>
          </a:prstGeom>
          <a:solidFill>
            <a:srgbClr val="262626"/>
          </a:solidFill>
          <a:ln w="12700">
            <a:solidFill>
              <a:srgbClr val="262626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3407664" y="1335024"/>
            <a:ext cx="23286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FFC63E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NO CONDITION INFERENCE</a:t>
            </a:r>
            <a:endParaRPr lang="en-US" sz="850" dirty="0"/>
          </a:p>
        </p:txBody>
      </p:sp>
      <p:sp>
        <p:nvSpPr>
          <p:cNvPr id="13" name="Text 10"/>
          <p:cNvSpPr txBox="1"/>
          <p:nvPr/>
        </p:nvSpPr>
        <p:spPr>
          <a:xfrm>
            <a:off x="3407664" y="1591056"/>
            <a:ext cx="2328672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E3E3E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We don't build audiences that imply a diagnosis. HCP and care-manager signals only, unless Merck MLR approves more.</a:t>
            </a:r>
            <a:endParaRPr lang="en-US" sz="850" dirty="0"/>
          </a:p>
        </p:txBody>
      </p:sp>
      <p:sp>
        <p:nvSpPr>
          <p:cNvPr id="14" name="Shape 11"/>
          <p:cNvSpPr/>
          <p:nvPr/>
        </p:nvSpPr>
        <p:spPr>
          <a:xfrm>
            <a:off x="6028944" y="1188720"/>
            <a:ext cx="2657856" cy="1536192"/>
          </a:xfrm>
          <a:prstGeom prst="rect">
            <a:avLst/>
          </a:prstGeom>
          <a:solidFill>
            <a:srgbClr val="262626"/>
          </a:solidFill>
          <a:ln w="12700">
            <a:solidFill>
              <a:srgbClr val="262626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193536" y="1335024"/>
            <a:ext cx="23286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FFC63E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STATE HEALTH-DATA LAWS</a:t>
            </a:r>
            <a:endParaRPr lang="en-US" sz="850" dirty="0"/>
          </a:p>
        </p:txBody>
      </p:sp>
      <p:sp>
        <p:nvSpPr>
          <p:cNvPr id="16" name="Text 13"/>
          <p:cNvSpPr txBox="1"/>
          <p:nvPr/>
        </p:nvSpPr>
        <p:spPr>
          <a:xfrm>
            <a:off x="6193536" y="1591056"/>
            <a:ext cx="2328672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E3E3E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Built to sit outside consumer health data as defined by laws like Washington's My Health My Data Act. [CONFIRM with Merck legal]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457200" y="2852928"/>
            <a:ext cx="2657856" cy="1536192"/>
          </a:xfrm>
          <a:prstGeom prst="rect">
            <a:avLst/>
          </a:prstGeom>
          <a:solidFill>
            <a:srgbClr val="262626"/>
          </a:solidFill>
          <a:ln w="12700">
            <a:solidFill>
              <a:srgbClr val="262626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21792" y="2999232"/>
            <a:ext cx="23286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FFC63E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WHAT LEAVES SABIO</a:t>
            </a:r>
            <a:endParaRPr lang="en-US" sz="850" dirty="0"/>
          </a:p>
        </p:txBody>
      </p:sp>
      <p:sp>
        <p:nvSpPr>
          <p:cNvPr id="19" name="Text 16"/>
          <p:cNvSpPr txBox="1"/>
          <p:nvPr/>
        </p:nvSpPr>
        <p:spPr>
          <a:xfrm>
            <a:off x="621792" y="3255264"/>
            <a:ext cx="2328672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E3E3E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device IDs. Reporting is aggregated by age, demo and geo. CCPA compliant, and every opt-out is honored.</a:t>
            </a:r>
            <a:endParaRPr lang="en-US" sz="850" dirty="0"/>
          </a:p>
        </p:txBody>
      </p:sp>
      <p:sp>
        <p:nvSpPr>
          <p:cNvPr id="20" name="Shape 17"/>
          <p:cNvSpPr/>
          <p:nvPr/>
        </p:nvSpPr>
        <p:spPr>
          <a:xfrm>
            <a:off x="3243072" y="2852928"/>
            <a:ext cx="2657856" cy="1536192"/>
          </a:xfrm>
          <a:prstGeom prst="rect">
            <a:avLst/>
          </a:prstGeom>
          <a:solidFill>
            <a:srgbClr val="262626"/>
          </a:solidFill>
          <a:ln w="12700">
            <a:solidFill>
              <a:srgbClr val="262626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3407664" y="2999232"/>
            <a:ext cx="23286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FFC63E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MERCK 1P</a:t>
            </a:r>
            <a:endParaRPr lang="en-US" sz="850" dirty="0"/>
          </a:p>
        </p:txBody>
      </p:sp>
      <p:sp>
        <p:nvSpPr>
          <p:cNvPr id="22" name="Text 19"/>
          <p:cNvSpPr txBox="1"/>
          <p:nvPr/>
        </p:nvSpPr>
        <p:spPr>
          <a:xfrm>
            <a:off x="3407664" y="3255264"/>
            <a:ext cx="2328672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E3E3E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HCP target lists or NPI files can be layered in through a clean room, on Merck's terms.</a:t>
            </a:r>
            <a:endParaRPr lang="en-US" sz="850" dirty="0"/>
          </a:p>
        </p:txBody>
      </p:sp>
      <p:sp>
        <p:nvSpPr>
          <p:cNvPr id="23" name="Shape 20"/>
          <p:cNvSpPr/>
          <p:nvPr/>
        </p:nvSpPr>
        <p:spPr>
          <a:xfrm>
            <a:off x="6028944" y="2852928"/>
            <a:ext cx="2657856" cy="1536192"/>
          </a:xfrm>
          <a:prstGeom prst="rect">
            <a:avLst/>
          </a:prstGeom>
          <a:solidFill>
            <a:srgbClr val="262626"/>
          </a:solidFill>
          <a:ln w="12700">
            <a:solidFill>
              <a:srgbClr val="262626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193536" y="2999232"/>
            <a:ext cx="23286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FFC63E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BRAND SAFETY</a:t>
            </a:r>
            <a:endParaRPr lang="en-US" sz="850" dirty="0"/>
          </a:p>
        </p:txBody>
      </p:sp>
      <p:sp>
        <p:nvSpPr>
          <p:cNvPr id="25" name="Text 22"/>
          <p:cNvSpPr txBox="1"/>
          <p:nvPr/>
        </p:nvSpPr>
        <p:spPr>
          <a:xfrm>
            <a:off x="6193536" y="3255264"/>
            <a:ext cx="2328672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E3E3E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DoubleVerify on all supply, TAG registered, US only. Block and allow lists accepted.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4747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dirty="0">
                <a:solidFill>
                  <a:srgbClr val="FFFFFF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WHERE WE GO NEXT</a:t>
            </a:r>
            <a:endParaRPr lang="en-US" sz="23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229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FFC63E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THREE MOVES TO TURN THE CONVERSATION INTO RUNNING DEALS</a:t>
            </a:r>
            <a:endParaRPr lang="en-US" sz="85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832604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7E7E7E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13</a:t>
            </a:r>
            <a:endParaRPr lang="en-US" sz="8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4832604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7E7E7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Sabio × Merck  ·  Proactive point of view for Omnicom  ·  Confidential</a:t>
            </a:r>
            <a:endParaRPr lang="en-US" sz="700" dirty="0"/>
          </a:p>
        </p:txBody>
      </p:sp>
      <p:pic>
        <p:nvPicPr>
          <p:cNvPr id="6" name="Image 0" descr="/home/user/Sabio-Deck-Builders-/assets/sabio-logo-white-s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28432" y="4805172"/>
            <a:ext cx="647572" cy="155448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457200" y="1188720"/>
            <a:ext cx="2645664" cy="2743200"/>
          </a:xfrm>
          <a:prstGeom prst="rect">
            <a:avLst/>
          </a:prstGeom>
          <a:solidFill>
            <a:srgbClr val="262626"/>
          </a:solidFill>
          <a:ln w="12700">
            <a:solidFill>
              <a:srgbClr val="262626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21792" y="129844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FFC63E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1</a:t>
            </a:r>
            <a:endParaRPr lang="en-US" sz="3000" dirty="0"/>
          </a:p>
        </p:txBody>
      </p:sp>
      <p:sp>
        <p:nvSpPr>
          <p:cNvPr id="9" name="Text 6"/>
          <p:cNvSpPr txBox="1"/>
          <p:nvPr/>
        </p:nvSpPr>
        <p:spPr>
          <a:xfrm>
            <a:off x="621792" y="1901952"/>
            <a:ext cx="2316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SWITCH ON THE DEALS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621792" y="2350008"/>
            <a:ext cx="2316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E3E3E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Marga sends the deal form. We set up three Magnite deals on Omnicom seat IDs, named for Animal Health, HCP and Care.</a:t>
            </a:r>
            <a:endParaRPr lang="en-US" sz="850" dirty="0"/>
          </a:p>
        </p:txBody>
      </p:sp>
      <p:sp>
        <p:nvSpPr>
          <p:cNvPr id="11" name="Shape 8"/>
          <p:cNvSpPr/>
          <p:nvPr/>
        </p:nvSpPr>
        <p:spPr>
          <a:xfrm>
            <a:off x="621792" y="3429000"/>
            <a:ext cx="2316480" cy="384048"/>
          </a:xfrm>
          <a:prstGeom prst="rect">
            <a:avLst/>
          </a:prstGeom>
          <a:solidFill>
            <a:srgbClr val="2F2F2F"/>
          </a:solidFill>
          <a:ln w="12700">
            <a:solidFill>
              <a:srgbClr val="2F2F2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13232" y="3429000"/>
            <a:ext cx="2133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FFE7B5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Owner: Omnicom programmatic + Sabio · week of Oct 5</a:t>
            </a:r>
            <a:endParaRPr lang="en-US" sz="750" dirty="0"/>
          </a:p>
        </p:txBody>
      </p:sp>
      <p:sp>
        <p:nvSpPr>
          <p:cNvPr id="13" name="Shape 10"/>
          <p:cNvSpPr/>
          <p:nvPr/>
        </p:nvSpPr>
        <p:spPr>
          <a:xfrm>
            <a:off x="3249168" y="1188720"/>
            <a:ext cx="2645664" cy="2743200"/>
          </a:xfrm>
          <a:prstGeom prst="rect">
            <a:avLst/>
          </a:prstGeom>
          <a:solidFill>
            <a:srgbClr val="262626"/>
          </a:solidFill>
          <a:ln w="12700">
            <a:solidFill>
              <a:srgbClr val="262626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3413760" y="129844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FFC63E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2</a:t>
            </a:r>
            <a:endParaRPr lang="en-US" sz="3000" dirty="0"/>
          </a:p>
        </p:txBody>
      </p:sp>
      <p:sp>
        <p:nvSpPr>
          <p:cNvPr id="15" name="Text 12"/>
          <p:cNvSpPr txBox="1"/>
          <p:nvPr/>
        </p:nvSpPr>
        <p:spPr>
          <a:xfrm>
            <a:off x="3413760" y="1901952"/>
            <a:ext cx="2316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RUN THE TICK-SEASON TEST</a:t>
            </a:r>
            <a:endParaRPr lang="en-US" sz="1150" dirty="0"/>
          </a:p>
        </p:txBody>
      </p:sp>
      <p:sp>
        <p:nvSpPr>
          <p:cNvPr id="16" name="Text 13"/>
          <p:cNvSpPr txBox="1"/>
          <p:nvPr/>
        </p:nvSpPr>
        <p:spPr>
          <a:xfrm>
            <a:off x="3413760" y="2350008"/>
            <a:ext cx="2316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E3E3E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Four weeks for Animal Health: CTV with QR to a vet finder, mobile retargeting, 10% holdout. Read visits and lift before the season ends.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3413760" y="3429000"/>
            <a:ext cx="2316480" cy="384048"/>
          </a:xfrm>
          <a:prstGeom prst="rect">
            <a:avLst/>
          </a:prstGeom>
          <a:solidFill>
            <a:srgbClr val="2F2F2F"/>
          </a:solidFill>
          <a:ln w="12700">
            <a:solidFill>
              <a:srgbClr val="2F2F2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3505200" y="3429000"/>
            <a:ext cx="2133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FFE7B5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Owner: Merck Animal Health + Sabio · Oct – Nov</a:t>
            </a:r>
            <a:endParaRPr lang="en-US" sz="750" dirty="0"/>
          </a:p>
        </p:txBody>
      </p:sp>
      <p:sp>
        <p:nvSpPr>
          <p:cNvPr id="19" name="Shape 16"/>
          <p:cNvSpPr/>
          <p:nvPr/>
        </p:nvSpPr>
        <p:spPr>
          <a:xfrm>
            <a:off x="6041136" y="1188720"/>
            <a:ext cx="2645664" cy="2743200"/>
          </a:xfrm>
          <a:prstGeom prst="rect">
            <a:avLst/>
          </a:prstGeom>
          <a:solidFill>
            <a:srgbClr val="262626"/>
          </a:solidFill>
          <a:ln w="12700">
            <a:solidFill>
              <a:srgbClr val="262626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205728" y="129844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FFC63E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3</a:t>
            </a:r>
            <a:endParaRPr lang="en-US" sz="3000" dirty="0"/>
          </a:p>
        </p:txBody>
      </p:sp>
      <p:sp>
        <p:nvSpPr>
          <p:cNvPr id="21" name="Text 18"/>
          <p:cNvSpPr txBox="1"/>
          <p:nvPr/>
        </p:nvSpPr>
        <p:spPr>
          <a:xfrm>
            <a:off x="6205728" y="1901952"/>
            <a:ext cx="2316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BRING IN HUMAN HEALTH</a:t>
            </a:r>
            <a:endParaRPr lang="en-US" sz="1150" dirty="0"/>
          </a:p>
        </p:txBody>
      </p:sp>
      <p:sp>
        <p:nvSpPr>
          <p:cNvPr id="22" name="Text 19"/>
          <p:cNvSpPr txBox="1"/>
          <p:nvPr/>
        </p:nvSpPr>
        <p:spPr>
          <a:xfrm>
            <a:off x="6205728" y="2350008"/>
            <a:ext cx="2316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E3E3E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Walk Raman Khanna and Greg Pratt, plus Gwynne Rowe and Charlie Cebuhar at L-Omni, through the HCP deal.</a:t>
            </a:r>
            <a:endParaRPr lang="en-US" sz="850" dirty="0"/>
          </a:p>
        </p:txBody>
      </p:sp>
      <p:sp>
        <p:nvSpPr>
          <p:cNvPr id="23" name="Shape 20"/>
          <p:cNvSpPr/>
          <p:nvPr/>
        </p:nvSpPr>
        <p:spPr>
          <a:xfrm>
            <a:off x="6205728" y="3429000"/>
            <a:ext cx="2316480" cy="384048"/>
          </a:xfrm>
          <a:prstGeom prst="rect">
            <a:avLst/>
          </a:prstGeom>
          <a:solidFill>
            <a:srgbClr val="2F2F2F"/>
          </a:solidFill>
          <a:ln w="12700">
            <a:solidFill>
              <a:srgbClr val="2F2F2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297168" y="3429000"/>
            <a:ext cx="2133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FFE7B5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Owner: Sabio + L-Omni · before the Dec rule proposal</a:t>
            </a:r>
            <a:endParaRPr lang="en-US" sz="750" dirty="0"/>
          </a:p>
        </p:txBody>
      </p:sp>
      <p:sp>
        <p:nvSpPr>
          <p:cNvPr id="25" name="Text 22"/>
          <p:cNvSpPr txBox="1"/>
          <p:nvPr/>
        </p:nvSpPr>
        <p:spPr>
          <a:xfrm>
            <a:off x="457200" y="4096512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We think the Animal Health read is the fastest way to earn the Human Health conversation.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Sabio-Deck-Builders-/assets/sabio-logo-yello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457200"/>
            <a:ext cx="1599885" cy="38404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118872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dirty="0">
                <a:solidFill>
                  <a:srgbClr val="FFFFFF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THANK YOU!</a:t>
            </a:r>
            <a:endParaRPr lang="en-US" sz="440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201168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3E3E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Happy to build any of this out further. Please let us know what else might be helpful.</a:t>
            </a:r>
            <a:endParaRPr lang="en-US" sz="1150" dirty="0"/>
          </a:p>
        </p:txBody>
      </p:sp>
      <p:sp>
        <p:nvSpPr>
          <p:cNvPr id="5" name="Shape 2"/>
          <p:cNvSpPr/>
          <p:nvPr/>
        </p:nvSpPr>
        <p:spPr>
          <a:xfrm>
            <a:off x="457200" y="2788920"/>
            <a:ext cx="2651760" cy="1097280"/>
          </a:xfrm>
          <a:prstGeom prst="rect">
            <a:avLst/>
          </a:prstGeom>
          <a:solidFill>
            <a:srgbClr val="262626"/>
          </a:solidFill>
          <a:ln w="12700">
            <a:solidFill>
              <a:srgbClr val="262626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40080" y="292608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Ben Bring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320040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FFC63E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VP, Agency and Client Partnerships</a:t>
            </a:r>
            <a:endParaRPr lang="en-US" sz="85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3456432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E3E3E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bbring@sabio.inc · 347-249-5838</a:t>
            </a:r>
            <a:endParaRPr lang="en-US" sz="850" dirty="0"/>
          </a:p>
        </p:txBody>
      </p:sp>
      <p:sp>
        <p:nvSpPr>
          <p:cNvPr id="9" name="Shape 6"/>
          <p:cNvSpPr/>
          <p:nvPr/>
        </p:nvSpPr>
        <p:spPr>
          <a:xfrm>
            <a:off x="3246120" y="2788920"/>
            <a:ext cx="2651760" cy="1097280"/>
          </a:xfrm>
          <a:prstGeom prst="rect">
            <a:avLst/>
          </a:prstGeom>
          <a:solidFill>
            <a:srgbClr val="262626"/>
          </a:solidFill>
          <a:ln w="12700">
            <a:solidFill>
              <a:srgbClr val="262626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3429000" y="292608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Shae Mackey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3429000" y="320040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FFC63E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VP of Sales, East</a:t>
            </a:r>
            <a:endParaRPr lang="en-US" sz="850" dirty="0"/>
          </a:p>
        </p:txBody>
      </p:sp>
      <p:sp>
        <p:nvSpPr>
          <p:cNvPr id="12" name="Text 9"/>
          <p:cNvSpPr txBox="1"/>
          <p:nvPr/>
        </p:nvSpPr>
        <p:spPr>
          <a:xfrm>
            <a:off x="3429000" y="3456432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E3E3E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shae@sabio.inc · 516-849-8356</a:t>
            </a:r>
            <a:endParaRPr lang="en-US" sz="850" dirty="0"/>
          </a:p>
        </p:txBody>
      </p:sp>
      <p:sp>
        <p:nvSpPr>
          <p:cNvPr id="13" name="Text 10"/>
          <p:cNvSpPr txBox="1"/>
          <p:nvPr/>
        </p:nvSpPr>
        <p:spPr>
          <a:xfrm>
            <a:off x="457200" y="4832604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7E7E7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Sabio Holdings · TSXV: SBIO | OTCQB: SABOF    Creator TV® | App Science® | Sabio</a:t>
            </a:r>
            <a:endParaRPr lang="en-US" sz="7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4747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dirty="0">
                <a:solidFill>
                  <a:srgbClr val="FFFFFF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SOURCES</a:t>
            </a:r>
            <a:endParaRPr lang="en-US" sz="23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229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FFC63E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MARKET CLAIMS IN THIS DECK, AS REPORTED · RETRIEVED SEP 30, 2026</a:t>
            </a:r>
            <a:endParaRPr lang="en-US" sz="85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832604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7E7E7E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15</a:t>
            </a:r>
            <a:endParaRPr lang="en-US" sz="8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4832604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7E7E7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Sabio × Merck  ·  Proactive point of view for Omnicom  ·  Confidential</a:t>
            </a:r>
            <a:endParaRPr lang="en-US" sz="700" dirty="0"/>
          </a:p>
        </p:txBody>
      </p:sp>
      <p:pic>
        <p:nvPicPr>
          <p:cNvPr id="6" name="Image 0" descr="/home/user/Sabio-Deck-Builders-/assets/sabio-logo-white-s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28432" y="4805172"/>
            <a:ext cx="647572" cy="15544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457200" y="1188720"/>
            <a:ext cx="40233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850" dirty="0">
                <a:solidFill>
                  <a:srgbClr val="E3E3E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1.  FDA DTC enforcement, ~100 cease-and-desist letters: Latham &amp; Watkins, "FDA Begins Crackdown on DTC Pharmaceutical Advertising"; eMarketer, "Pharma TV ads face rising FDA enforcement."</a:t>
            </a:r>
            <a:endParaRPr lang="en-US" sz="8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850" dirty="0">
                <a:solidFill>
                  <a:srgbClr val="E3E3E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2.  "Transparency in DTC Advertising" proposed rule (RIN 0910-AJ14), NPRM expected Dec 2026: FDA Law Blog, Jul 2026; Foley Hoag, Jul 2026; MM+M.</a:t>
            </a:r>
            <a:endParaRPr lang="en-US" sz="8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850" dirty="0">
                <a:solidFill>
                  <a:srgbClr val="E3E3E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3.  Healthcare &amp; pharma CTV spend $4.69B in 2026, +23.7%: DeepIntent, "CTV Healthcare and Pharma Advertising at the 2026 Upfronts" (eMarketer forecast).</a:t>
            </a:r>
            <a:endParaRPr lang="en-US" sz="8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850" dirty="0">
                <a:solidFill>
                  <a:srgbClr val="E3E3E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4.  Pharma digital spend overtakes linear TV in 2026: CMI Media Group / MM+M, Healthcare Marketers Trend Report 2026.</a:t>
            </a:r>
            <a:endParaRPr lang="en-US" sz="8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850" dirty="0">
                <a:solidFill>
                  <a:srgbClr val="E3E3E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5.  Bravecto Quantum label expansion, Mar 18, 2026: Merck Animal Health newsroom; dvm360.</a:t>
            </a:r>
            <a:endParaRPr lang="en-US" sz="850" dirty="0"/>
          </a:p>
        </p:txBody>
      </p:sp>
      <p:sp>
        <p:nvSpPr>
          <p:cNvPr id="8" name="Text 5"/>
          <p:cNvSpPr txBox="1"/>
          <p:nvPr/>
        </p:nvSpPr>
        <p:spPr>
          <a:xfrm>
            <a:off x="4663440" y="1188720"/>
            <a:ext cx="40233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850" dirty="0">
                <a:solidFill>
                  <a:srgbClr val="E3E3E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6.  Asian longhorned tick confirmed in 19 states: CDC, via AgDaily and CIDRAP.</a:t>
            </a:r>
            <a:endParaRPr lang="en-US" sz="8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850" dirty="0">
                <a:solidFill>
                  <a:srgbClr val="E3E3E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7.  Keytruda Qlex approval in Japan and CHMP opinion on Keytruda + Padcev, Sep 18, 2026: Merck.com news releases.</a:t>
            </a:r>
            <a:endParaRPr lang="en-US" sz="8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850" dirty="0">
                <a:solidFill>
                  <a:srgbClr val="E3E3E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8.  Keytruda family Q2 2026 sales and Cipla/Qilu biosimilar license: 24/7 Wall St., Sep 29, 2026; ad-hoc-news, Sep 2026.</a:t>
            </a:r>
            <a:endParaRPr lang="en-US" sz="8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850" dirty="0">
                <a:solidFill>
                  <a:srgbClr val="E3E3E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9.  Enflonsia 1H 2026 sales and 2H outlook: Merck Form 10-Q, Q2 2026. Second-season sBLA, PDUFA Mar 22, 2027: BioPharm International.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Sabio Holdings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Sabio x Merck: Addressable TV Before Broadcast Gets Harder</dc:title>
  <dc:subject>PptxGenJS Presentation</dc:subject>
  <dc:creator>Ben Bring, Sabio</dc:creator>
  <cp:lastModifiedBy>Ben Bring, Sabio</cp:lastModifiedBy>
  <cp:revision>1</cp:revision>
  <dcterms:created xsi:type="dcterms:W3CDTF">2026-09-30T23:47:30Z</dcterms:created>
  <dcterms:modified xsi:type="dcterms:W3CDTF">2026-09-30T23:47:30Z</dcterms:modified>
</cp:coreProperties>
</file>