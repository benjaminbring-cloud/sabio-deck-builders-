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F2A44"/>
                </a:solidFill>
                <a:latin typeface="Arial"/>
              </a:defRPr>
            </a:pPr>
            <a:r>
              <a:rPr sz="1000" b="0" i="0" u="none" strike="noStrike">
                <a:solidFill>
                  <a:srgbClr val="1F2A44"/>
                </a:solidFill>
                <a:latin typeface="Arial"/>
              </a:rPr>
              <a:t>Net-new CTV households by audience (MM)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Net-new CTV households (MM)</c:v>
                </c:pt>
              </c:strCache>
            </c:strRef>
          </c:tx>
          <c:spPr>
            <a:solidFill>
              <a:srgbClr val="2E5C8A"/>
            </a:solidFill>
            <a:effectLst/>
          </c:spPr>
          <c:invertIfNegative val="0"/>
          <c:dLbls>
            <c:numFmt formatCode="&quot;+&quot;0&quot;MM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Tick-season pet homes</c:v>
                  </c:pt>
                  <c:pt idx="1">
                    <c:v>Prescribing clinicians</c:v>
                  </c:pt>
                  <c:pt idx="2">
                    <c:v>Care-manager homes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1</c:v>
                </c:pt>
                <c:pt idx="2">
                  <c:v>12</c:v>
                </c:pt>
              </c:numCache>
            </c:numRef>
          </c:val>
        </c:ser>
        <c:dLbls>
          <c:numFmt formatCode="&quot;+&quot;0&quot;MM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2A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Split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5C8A"/>
              </a:solidFill>
              <a:effectLst/>
            </c:spPr>
          </c:dPt>
          <c:dPt>
            <c:idx val="1"/>
            <c:bubble3D val="0"/>
            <c:spPr>
              <a:solidFill>
                <a:srgbClr val="E8703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Exposed</c:v>
                </c:pt>
                <c:pt idx="1">
                  <c:v>Holdout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90</c:v>
                </c:pt>
                <c:pt idx="1">
                  <c:v>10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A B I O   ×   M E R C 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DEALS READY FOR BOTH MERCK TEAMS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146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Science® audiences for Merck Animal Health and Merck Human Health, packaged as Magnite PMP deals on Omnicom seat IDs, with a four-week flea and tick test to prove it.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recommendation | Prepared for Omnicom Media | October 2026 | US only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886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Margarita Leonard · Scott Cofsky · Katie Sullivan · Raman Khanna · Greg Pratt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 Bring · Janis Ciuffini · Shae Mackey · Michael McLaughlin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7320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TV®  |  APP SCIENCE®  |  SABIO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097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371600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heard from Omnicom and Merck, answered on one page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406640" y="1051560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3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769364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81508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AUDIENCE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089404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for each Merck team, the signal ladder, the app list, three core audiences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406640" y="1769364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5 –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487168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53288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 AND SCALE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807208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reach builds, how the deals run through Omnicom, the path from screen to vet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406640" y="2487168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10 – 12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04972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25069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AND PRIVACY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525012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read it, proof, and the pharma guardrails we hold ourselves to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3204972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14 – 16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922776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396849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AND NEXT STEPS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242816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Animal Health test and what we need to switch the deals on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406640" y="3922776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18 – 19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HEARD, AND WHAT WE'D DO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FROM OUR OMNICOM AND MERCK CONVERSATIONS THIS YEAR · NOTHING HERE NEEDS A BRIEF TO START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93776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HEARD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PROPOSE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Deals, not direct activation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Magnite PMP deals set up on Omnicom's seat IDs, so account teams activate them like any other deal.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 deals to a Merck team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deal is named and built for Merck Animal Health or Merck Human Health, so it maps to a real team and budget.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Animal is easier to 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four-week flea and tick test for Animal Health with a 10% holdout, timed to fall adult-tick season.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and performance want use cases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 core audiences built from app ownership, plus an App Science® insights readout at the end.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– 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Pharma needs guardrails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HCP and pet-owner signals only. No condition-level targeting unless Merck MLR signs off.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E C T I O N   0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AUDIENCE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owners in tick country, the clinicians who prescribe, and the households who manage care.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5 – 8 · Signals, the signal ladder, the app list, core audiences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 SIGNALS FOR MERCK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APPS ON A PHONE BEST IDENTIFY THE HOUSEHOLD BEHIND THE TV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come from apps opened in the last 30 days, matched to the CTV on the same home IP. Source: App Science® household graph methodology, 2026.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92024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4447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CARE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78308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Chewy, Rover, Petco, PetSmart, BarkBox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606040"/>
            <a:ext cx="1591056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dog or cat lives here. The base signal for every Animal Health deal.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0" y="1280160"/>
            <a:ext cx="192024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24912" y="14447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 &amp; PET HEALTH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24912" y="178308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Vetster, Pawp, clinic and pet-insurance apps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724912" y="2606040"/>
            <a:ext cx="1591056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home already pays attention to pet health. The strongest flea and tick prospects.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280160"/>
            <a:ext cx="192024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28032" y="14447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CLINICIAN TOOLS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28032" y="178308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Doximity, Epocrates, Medscape, UpToDate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28032" y="2606040"/>
            <a:ext cx="1591056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in the home practises medicine. The precision signal for Human Health HCP deals.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280160"/>
            <a:ext cx="192024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31152" y="14447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 MANAGERS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931152" y="178308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MyChart, GoodRx, CVS, Medisafe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931152" y="2606040"/>
            <a:ext cx="1591056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household that manages appointments and prescriptions. Scale for Human Health awareness.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PET-CURIOUS TO PET CARE ON THE PHONE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SIGNAL LADDER · EACH STEP DOWN IS A STRONGER REASON TO TALK FLEA AND TICK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 counts are illustrative until the build. [CONFIRM before sending] Every segment is built to the brief from the 2026 App Science® taxonomy.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975104" cy="1600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417320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CATEGORY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69164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 lover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37744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from content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42032" y="1280160"/>
            <a:ext cx="1975104" cy="1600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79192" y="1417320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SEGMENT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79192" y="169164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Probable pet owner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79192" y="237744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from purchase data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26864" y="1280160"/>
            <a:ext cx="1975104" cy="16002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64024" y="1417320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BEHAVIOR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764024" y="169164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a pet-care app regularly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764024" y="237744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Opened in the last 30 days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11696" y="1280160"/>
            <a:ext cx="1975104" cy="16002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48856" y="1417320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ON THE DEVICE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848856" y="169164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care + vet apps in high tick-risk states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48856" y="237744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on the phone, matched to the TV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1546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35MM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2240280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homes with a pet-care app in use [CONFIRM]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31546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9MM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homes with pet care and vet apps in tick-risk states [CONFIRM]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APPS WE CAN BUILD FROM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OF EACH APP IS A TARGETING INPUT, ALONE OR COMBINED WITH LOCATION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US mobile devices per app. Final counts come from the build. [CONFIRM before sending] Source: Sabio healthcare and pharma targeting builds, 2025 – 2026.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59080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417320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 HEALTH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691640"/>
            <a:ext cx="2261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owners and pet-health engaged homes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94560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Chewy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179320" y="2194560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18MM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505456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Rover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79320" y="2505456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6MM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816352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Petco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79320" y="281635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9MM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3127248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PetSmart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179320" y="3127248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8MM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3438144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Vetster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179320" y="3438144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0.8MM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3749040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Pawp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179320" y="3749040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0.5MM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76600" y="1280160"/>
            <a:ext cx="259080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41192" y="1417320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HEALTH · HCP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441192" y="1691640"/>
            <a:ext cx="2261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reference and professional network apps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441192" y="2194560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Doximity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98720" y="2194560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1.4MM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441192" y="2505456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Epocrates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98720" y="2505456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0.9MM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441192" y="2816352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Medscape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998720" y="281635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1.1MM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441192" y="3127248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UpToDate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998720" y="3127248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0.7MM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441192" y="3438144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AMION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998720" y="3438144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0.4MM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096000" y="1280160"/>
            <a:ext cx="259080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60592" y="1417320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HEALTH · CARE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260592" y="1691640"/>
            <a:ext cx="2261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Households managing care and prescriptions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260592" y="2194560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MyChart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7818120" y="2194560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30MM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260592" y="2505456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GoodRx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818120" y="2505456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14MM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260592" y="2816352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CVS Health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7818120" y="281635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22MM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260592" y="3127248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Medisafe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7818120" y="3127248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3MM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6260592" y="3438144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Healow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7818120" y="3438144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4MM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CORE AUDIENCES, THREE DEALS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IS AN APP ECOSYSTEM, NOT A DEMOGRAPHIC · SIZED ON THE FINAL BUILD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Care-manager reach reflects Sabio's caretaker build for a healthcare client (2025). Other reach is illustrative until the build.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21280" cy="33421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2621280" cy="603504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07592"/>
            <a:ext cx="234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 HEALTH · PRIME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08760"/>
            <a:ext cx="234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TICK-SEASON PET 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89280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dog or cat at home, pet apps in use, in a state where ticks are active this fall.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39572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ECOSYSTEM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578608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Chewy · Rover · Petco · Vetster · Pawp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108960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vet about flea and tick protection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74720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REACH  [CONFIRM]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65760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24MM | OTT 16MM | Mobile 35MM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61360" y="1234440"/>
            <a:ext cx="2621280" cy="33421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61360" y="1234440"/>
            <a:ext cx="2621280" cy="603504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98520" y="1307592"/>
            <a:ext cx="234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HEALTH · PRECISION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398520" y="1508760"/>
            <a:ext cx="234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PRESCRIBING CLINICIAN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398520" y="189280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reference and professional apps on the phone. Small, and very precise.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398520" y="239572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ECOSYSTEM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3398520" y="2578608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Doximity · Epocrates · Medscape · UpToDate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3398520" y="3108960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HCP awareness at home, on the big screen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398520" y="3474720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REACH  [CONFIRM]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398520" y="365760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1.2MM | OTT 0.9MM | Mobile 2.1MM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65520" y="1234440"/>
            <a:ext cx="2621280" cy="33421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65520" y="1234440"/>
            <a:ext cx="2621280" cy="603504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02680" y="1307592"/>
            <a:ext cx="234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HEALTH · SCALE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02680" y="1508760"/>
            <a:ext cx="234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CARE-MANAGER HOUSEHOLD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02680" y="189280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appointments and prescriptions for themselves or someone they care for.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202680" y="239572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ECOSYSTEM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202680" y="2578608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MyChart · GoodRx · CVS · Medisafe · Healow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6202680" y="3108960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awareness and trust at scale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202680" y="3474720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REACH  [CONFIRM]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202680" y="365760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18MM | OTT 30MM | Mobile 46MM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E C T I O N   0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 AND SCALE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deals that build to scale, run through Omnicom's own seats, with a path from the TV to the vet.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10 – 12 · How reach builds, how the deals run, the path to action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DEALS BUILD TO 37MM HOUSEHOLDS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CTV REACH GROWS AS EACH MERCK AUDIENCE IS LAYERED IN · DEDUPLICATED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Illustrative. Net-new counts remove homes already in an earlier audience. [CONFIRM before sending] Source: App Science® household graph methodology, 2025 – 2026.</a:t>
            </a:r>
            <a:endParaRPr lang="en-US" sz="7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4937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0" y="1280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37MM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CTV households across the three deals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clinician deal adds few homes, and that's the point. It's precision, not scale.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see which apps sit on a phone, find the home IP it returns to, and connect it to the CTV on that same IP.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DEALS ON OMNICOM'S OWN SEATS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SCIENCE® RUNS ON SABIO MEDIA · NO DATA CPM, LICENSE OR MATCH FEE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Magnite activation access confirmed for Sabio week of 9/28; curation access expected early October. [CONFIRM seat IDs with Omnicom]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331720" cy="1325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41732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MAGNITE PMP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73736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Curated deals per Merck audience, created on Omnicom's seat IDs from the deal form.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26080" y="1280160"/>
            <a:ext cx="2331720" cy="1325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63240" y="141732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173736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major TV OEM and streaming device. Non-skippable video with QR to a vet or brand page.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2331720" cy="1325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803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004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video and display on the same households, after CTV exposure.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26080" y="2743200"/>
            <a:ext cx="2331720" cy="1325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63240" y="28803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IO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63240" y="32004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service with fixed rates and custom creative, if a team prefers it.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532120" y="1280160"/>
            <a:ext cx="3154680" cy="278892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15000" y="14630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MERCK GETS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0" y="1828800"/>
            <a:ext cx="2788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named deal per Merck team, so spend maps to a budget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 included in the media CPM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DoubleVerify on all supply, TAG registered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 frequency managed across screens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Science® insights readout on who converted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SCREEN TO THE VET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HOUSEHOLD, THREE MOMENTS · THE TV BUILDS THE IDEA, THE PHONE CLOSES IT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CTV video with QR code, 96% VCR. Flow shown for the Animal Health test. Human Health follows the same path to a Merck HCP or brand page.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468880" cy="265176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087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video with QR code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Tick-season pet homes see flea and tick messaging on the big screen. The QR code goes to a vet finder or the brand page.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237744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337560" y="1325880"/>
            <a:ext cx="2468880" cy="265176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20440" y="15087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video and display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23774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households are retargeted on their phones after CTV exposure, one tap from the page.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237744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6217920" y="1325880"/>
            <a:ext cx="2468880" cy="265176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15087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vet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3774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page drives a vet visit or a question at the next appointment. We read site visits and, where Merck allows, vet visits by household.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E C T I O N   0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AND PRIVACY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against a holdout, proven on live campaigns, and built inside pharma guardrails.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14 – 16 · Attribution, proof, data considerations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READ THE TEST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AND AWARENESS, READ AGAINST THE SAME HOLDOUT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Sabio Performance attribution and App Science® brand-lift materials, 2025 – 2026. Crossix available as an alternative for pharma measurement.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· CTV VIEW-THROUGH AND MOBILE CLICK-THROUGH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645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947672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plays on the TV or phone. Household IP or device ID is logged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48890" y="1554480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8618" y="1645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658618" y="1947672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in the home visits the vet finder or brand page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40580" y="1554480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0308" y="1645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750308" y="1947672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Sabio pixel records the visit, with no personal data passed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32270" y="1554480"/>
            <a:ext cx="1954530" cy="109728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41998" y="1645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841998" y="1947672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Visits matched to exposure and compared with the 10% holdout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8072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 · APP SCIENCE® BRAND-LIFT STUDY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127248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218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3520440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Exposed households are connected to the household graph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548890" y="3127248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658618" y="3218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658618" y="3520440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survey served to exposed homes and a matched control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40580" y="3127248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50308" y="3218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750308" y="3520440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 and intent to ask the vet, by audience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732270" y="3127248"/>
            <a:ext cx="1954530" cy="109728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41998" y="3218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841998" y="3520440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read by audience and demo, feeding the next flight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AUDIENCES, PROVEN LIVE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ANONYMIZED READOUTS AND CLEARED CASE STUDIES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Sabio public health and government health case studies; App Science® QSR brand-lift study, Q3 2025. Client names withheld.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84632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234440"/>
            <a:ext cx="1600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+250%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13258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scan rate over benchmark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16276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 health agency, CTV with QR code plus mobile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484632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194560"/>
            <a:ext cx="1600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228600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CTR over benchmark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258775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health agency, CTV, mobile video and interstitial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484632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154680"/>
            <a:ext cx="1600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+249%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2240280" y="32461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download intent lift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354787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QSR brand, App Science® brand-lift, 99% confidence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32120" y="1234440"/>
            <a:ext cx="3154680" cy="278892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1500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THIS, WHY NOW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0" y="1783080"/>
            <a:ext cx="2743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Adult ticks are active through the fall, so pet owners are in market right now.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think the fastest way to prove the graph to Merck is a clean Animal Health read. Then the Human Health deals follow on the same seats.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 GUARDRAILS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SEE, WHAT WE DON'T, AND WHAT WE WON'T DO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Sabio Internal FAQ and CTV FAQ, 2026. Data management documentation available on request. All Human Health targeting subject to Merck MLR review.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3441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OBSERVE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618488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apps are installed and how recently they're used. Never what anyone reads or types inside a health app.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55264" y="1234440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92424" y="13441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CONDITION INFERENCE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392424" y="1618488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don't build audiences that imply a person's diagnosis. HCP and care-manager signals only, unless Merck MLR approves more.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53328" y="1234440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90488" y="13441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LEAVES SABIO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1618488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device IDs. Reporting is aggregated by age, demo and geo. CCPA compliant, and every opt-out is honored.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996946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06674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IOS SIGNAL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380994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Apple's restrictions mean most app data comes from Android. We show the iOS share on each build.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55264" y="2996946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92424" y="3106674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MERCK 1P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392424" y="3380994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HCP lists or NPI files can be layered in through a clean room, on Merck's terms.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53328" y="2996946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90488" y="3106674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SAFETY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190488" y="3380994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DoubleVerify on all supply, TAG registered, US only. Block and allow lists accepted.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E C T I O N   0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AND NEXT STEPS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Animal Health test with a holdout, and three things we need to switch the deals 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18 – 19 · Test design, next steps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WEEKS LIVE, ONE CLEAN READ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SIMPLE US TEST TO START · ILLUSTRATIVE, BUDGET AND FLIGHT TO BE SET WITH OMNICOM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sized and priced on request from the Sabio rate card. No other client's pricing is referenced here.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103120" cy="14173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3441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WK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572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8470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Deals created on Omnicom seat IDs. Audiences built and sized. Pixel and holdout in place.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0" y="1234440"/>
            <a:ext cx="3657600" cy="141732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80360" y="134416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2 – 5 · LIVE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157276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4708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with QR, mobile retargeting, weekly delivery and visit reporting to the account team.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83680" y="1234440"/>
            <a:ext cx="2103120" cy="14173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20840" y="13441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WK 6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572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READOUT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8470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Visits and lift by audience against the holdout, plus App Science® insights on who responded.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2788920"/>
          <a:ext cx="173736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2240280" y="2971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of matched households see nothing, so visits and lift are read against no exposure.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72000" y="2834640"/>
            <a:ext cx="4114800" cy="16459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709160" y="29260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 TO START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4709160" y="3200400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seats. 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deal form and Omnicom seat IDs, as Marga offered.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owner. 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Katie Sullivan or the Animal Health lead to own the test.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date. 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start date. Sized deals within 48 hours.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04394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97280"/>
            <a:ext cx="1463040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SEATS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123520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the deal form and seat IDs.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160096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set up one Magnite deal per Merck audience, named so each team can find its own.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324100"/>
            <a:ext cx="8229600" cy="104394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324100"/>
            <a:ext cx="1463040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46202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an owner for the Animal Health read.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82778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Katie Sullivan, or whoever Scott suggests. We'll size it and share a one-page test plan.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550920"/>
            <a:ext cx="8229600" cy="104394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550920"/>
            <a:ext cx="1463040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INTROS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368884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Health, when it's right.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405460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Raman Khanna and Greg Pratt, plus Gwynne Rowe and Charlie Cebuhar at L-Omni. Happy to build HCP deals in advance.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822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91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Happy to build any of this out further. Please let us know what else might be helpful.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51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 Bring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9260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VP, Agency and Client Partnerships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54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bbring@sabio.inc · 347-249-5838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2651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Shae Mackey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29260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 of Sales, East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3154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shae@sabio.inc · 516-849-8356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7320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Sabio Holdings · TSXV: SBIO | OTCQB: SABOF    CREATOR TV®  |  APP SCIENCE®  |  SABIO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Sabio Holdings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Sabio x Merck: Deals Ready for Omnicom</dc:title>
  <dc:subject>PptxGenJS Presentation</dc:subject>
  <dc:creator>Ben Bring, Sabio</dc:creator>
  <cp:lastModifiedBy>Ben Bring, Sabio</cp:lastModifiedBy>
  <cp:revision>1</cp:revision>
  <dcterms:created xsi:type="dcterms:W3CDTF">2026-09-30T23:34:22Z</dcterms:created>
  <dcterms:modified xsi:type="dcterms:W3CDTF">2026-09-30T23:34:22Z</dcterms:modified>
</cp:coreProperties>
</file>